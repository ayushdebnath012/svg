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69" r:id="rId2"/>
  </p:sldMasterIdLst>
  <p:notesMasterIdLst>
    <p:notesMasterId r:id="rId13"/>
  </p:notesMasterIdLst>
  <p:handoutMasterIdLst>
    <p:handoutMasterId r:id="rId14"/>
  </p:handoutMasterIdLst>
  <p:sldIdLst>
    <p:sldId id="617" r:id="rId3"/>
    <p:sldId id="633" r:id="rId4"/>
    <p:sldId id="619" r:id="rId5"/>
    <p:sldId id="628" r:id="rId6"/>
    <p:sldId id="629" r:id="rId7"/>
    <p:sldId id="630" r:id="rId8"/>
    <p:sldId id="631" r:id="rId9"/>
    <p:sldId id="634" r:id="rId10"/>
    <p:sldId id="632" r:id="rId11"/>
    <p:sldId id="635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255"/>
    <a:srgbClr val="96D6E4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7" autoAdjust="0"/>
    <p:restoredTop sz="92007" autoAdjust="0"/>
  </p:normalViewPr>
  <p:slideViewPr>
    <p:cSldViewPr>
      <p:cViewPr varScale="1">
        <p:scale>
          <a:sx n="107" d="100"/>
          <a:sy n="107" d="100"/>
        </p:scale>
        <p:origin x="-1734" y="-96"/>
      </p:cViewPr>
      <p:guideLst>
        <p:guide orient="horz" pos="4319"/>
        <p:guide pos="23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13D91-294E-5046-A276-1DCA97AF3DD7}" type="datetimeFigureOut">
              <a:rPr lang="en-US" smtClean="0"/>
              <a:pPr/>
              <a:t>3/4/2015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4BA78-D350-F540-BEBB-04E87C243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139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033F2BB-7924-4062-BC49-0D9DCC833DE9}" type="datetimeFigureOut">
              <a:rPr lang="en-US"/>
              <a:pPr>
                <a:defRPr/>
              </a:pPr>
              <a:t>3/4/2015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0C75039-B55F-40E9-9DEE-3B77118247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311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72ACB68-AD3E-CF48-ACF5-F5C1A4AA4C07}" type="slidenum">
              <a:rPr lang="nb-NO" smtClean="0"/>
              <a:pPr/>
              <a:t>0</a:t>
            </a:fld>
            <a:endParaRPr lang="nb-NO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BEA42-5D1A-477A-BA23-91397493EA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73612-3D73-4FA3-9DCD-C03024AC5F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5AA8C-C47F-4701-9720-86AEBDCD39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F4B21-922A-48BD-9820-20DAEB529E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862016-2E06-4886-93E5-5DD18FB40A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02386C-4750-46D6-96F1-B7A1ABD645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4EBF7-4243-41B1-9755-D95E19C01A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EC826-EF6C-46AA-889C-C0A00AD374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8EDED-56E7-4509-AA19-C12369629D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CAE67-43FD-46A5-A828-FFBCCA41C5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82791-8465-4006-B819-071C136305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98700"/>
            <a:ext cx="8229600" cy="3827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Calibri"/>
              </a:defRPr>
            </a:lvl1pPr>
            <a:lvl2pPr>
              <a:defRPr>
                <a:solidFill>
                  <a:srgbClr val="000000"/>
                </a:solidFill>
                <a:latin typeface="Calibri"/>
              </a:defRPr>
            </a:lvl2pPr>
            <a:lvl3pPr>
              <a:defRPr>
                <a:solidFill>
                  <a:srgbClr val="000000"/>
                </a:solidFill>
                <a:latin typeface="Calibri"/>
              </a:defRPr>
            </a:lvl3pPr>
            <a:lvl4pPr>
              <a:defRPr>
                <a:solidFill>
                  <a:srgbClr val="000000"/>
                </a:solidFill>
                <a:latin typeface="Calibri"/>
              </a:defRPr>
            </a:lvl4pPr>
            <a:lvl5pPr>
              <a:defRPr>
                <a:solidFill>
                  <a:srgbClr val="000000"/>
                </a:solidFill>
                <a:latin typeface="Calibri"/>
              </a:defRPr>
            </a:lvl5pPr>
          </a:lstStyle>
          <a:p>
            <a:pPr lvl="0"/>
            <a:r>
              <a:rPr lang="da-DK" dirty="0" smtClean="0"/>
              <a:t>Klik for at redigere teksttypografierne i masteren</a:t>
            </a:r>
          </a:p>
          <a:p>
            <a:pPr lvl="1"/>
            <a:r>
              <a:rPr lang="da-DK" dirty="0" smtClean="0"/>
              <a:t>Andet niveau</a:t>
            </a:r>
          </a:p>
          <a:p>
            <a:pPr lvl="2"/>
            <a:r>
              <a:rPr lang="da-DK" dirty="0" smtClean="0"/>
              <a:t>Tredje niveau</a:t>
            </a:r>
          </a:p>
          <a:p>
            <a:pPr lvl="3"/>
            <a:r>
              <a:rPr lang="da-DK" dirty="0" smtClean="0"/>
              <a:t>Fjerde niveau</a:t>
            </a:r>
          </a:p>
          <a:p>
            <a:pPr lvl="4"/>
            <a:r>
              <a:rPr lang="da-DK" dirty="0" smtClean="0"/>
              <a:t>Femte niveau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 userDrawn="1"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Calibri" charset="0"/>
              </a:defRPr>
            </a:lvl1pPr>
          </a:lstStyle>
          <a:p>
            <a:pPr>
              <a:defRPr/>
            </a:pPr>
            <a:r>
              <a:rPr lang="en-US" smtClean="0"/>
              <a:t>Confidential and Proprietary</a:t>
            </a:r>
            <a:endParaRPr lang="da-DK" dirty="0"/>
          </a:p>
        </p:txBody>
      </p:sp>
      <p:sp>
        <p:nvSpPr>
          <p:cNvPr id="5" name="Pladsholder til diasnummer 5"/>
          <p:cNvSpPr>
            <a:spLocks noGrp="1"/>
          </p:cNvSpPr>
          <p:nvPr userDrawn="1"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Calibri" charset="0"/>
              </a:defRPr>
            </a:lvl1pPr>
          </a:lstStyle>
          <a:p>
            <a:pPr>
              <a:defRPr/>
            </a:pPr>
            <a:r>
              <a:rPr lang="da-DK" dirty="0" err="1"/>
              <a:t>Your</a:t>
            </a:r>
            <a:r>
              <a:rPr lang="da-DK" dirty="0"/>
              <a:t> Logo</a:t>
            </a:r>
          </a:p>
        </p:txBody>
      </p:sp>
    </p:spTree>
    <p:extLst>
      <p:ext uri="{BB962C8B-B14F-4D97-AF65-F5344CB8AC3E}">
        <p14:creationId xmlns:p14="http://schemas.microsoft.com/office/powerpoint/2010/main" val="565889734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4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62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07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25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43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00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38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755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48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70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7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629400"/>
            <a:ext cx="9153144" cy="247650"/>
          </a:xfrm>
          <a:prstGeom prst="rect">
            <a:avLst/>
          </a:prstGeom>
          <a:solidFill>
            <a:srgbClr val="272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7" name="Rectangle 67"/>
          <p:cNvSpPr>
            <a:spLocks noChangeArrowheads="1"/>
          </p:cNvSpPr>
          <p:nvPr userDrawn="1"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27225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8458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grpSp>
        <p:nvGrpSpPr>
          <p:cNvPr id="8" name="Group 20"/>
          <p:cNvGrpSpPr>
            <a:grpSpLocks/>
          </p:cNvGrpSpPr>
          <p:nvPr userDrawn="1"/>
        </p:nvGrpSpPr>
        <p:grpSpPr bwMode="auto">
          <a:xfrm flipH="1" flipV="1">
            <a:off x="0" y="914400"/>
            <a:ext cx="9144000" cy="55563"/>
            <a:chOff x="0" y="832104"/>
            <a:chExt cx="9144000" cy="54864"/>
          </a:xfrm>
        </p:grpSpPr>
        <p:sp>
          <p:nvSpPr>
            <p:cNvPr id="9" name="Rectangle 8"/>
            <p:cNvSpPr/>
            <p:nvPr/>
          </p:nvSpPr>
          <p:spPr>
            <a:xfrm>
              <a:off x="4572000" y="832104"/>
              <a:ext cx="4572000" cy="548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06" charset="-128"/>
                <a:cs typeface="ＭＳ Ｐゴシック" pitchFamily="-106" charset="-128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09937" y="832104"/>
              <a:ext cx="1262063" cy="54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06" charset="-128"/>
                <a:cs typeface="ＭＳ Ｐゴシック" pitchFamily="-106" charset="-128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832104"/>
              <a:ext cx="3309937" cy="5486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06" charset="-128"/>
                <a:cs typeface="ＭＳ Ｐゴシック" pitchFamily="-106" charset="-128"/>
              </a:endParaRPr>
            </a:p>
          </p:txBody>
        </p:sp>
      </p:grpSp>
      <p:sp>
        <p:nvSpPr>
          <p:cNvPr id="13" name="TextBox 12"/>
          <p:cNvSpPr txBox="1"/>
          <p:nvPr userDrawn="1"/>
        </p:nvSpPr>
        <p:spPr>
          <a:xfrm>
            <a:off x="152400" y="6629400"/>
            <a:ext cx="4038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rgbClr val="FFFFFF"/>
                </a:solidFill>
                <a:latin typeface="Century Gothic"/>
                <a:cs typeface="Century Gothic"/>
              </a:rPr>
              <a:t>Company Confidential and Proprietary – October 18-19, 2011</a:t>
            </a:r>
            <a:endParaRPr lang="en-US" sz="900" dirty="0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  <p:pic>
        <p:nvPicPr>
          <p:cNvPr id="15" name="Picture 14" descr="aquantis white logo.pn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800" y="132842"/>
            <a:ext cx="1122582" cy="7053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81" r:id="rId12"/>
  </p:sldLayoutIdLst>
  <p:transition advClick="0"/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6699"/>
        </a:buClr>
        <a:buFont typeface="Arial" charset="0"/>
        <a:buChar char="•"/>
        <a:defRPr sz="3200" kern="1200">
          <a:solidFill>
            <a:srgbClr val="3366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336699"/>
        </a:buClr>
        <a:buFont typeface="Arial" charset="0"/>
        <a:buChar char="•"/>
        <a:defRPr sz="2800" kern="1200">
          <a:solidFill>
            <a:srgbClr val="336699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6699"/>
        </a:buClr>
        <a:buFont typeface="Arial" charset="0"/>
        <a:buChar char="•"/>
        <a:defRPr sz="2400" kern="1200">
          <a:solidFill>
            <a:srgbClr val="336699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336699"/>
        </a:buClr>
        <a:buFont typeface="Arial" charset="0"/>
        <a:buChar char="•"/>
        <a:defRPr sz="2000" kern="1200">
          <a:solidFill>
            <a:srgbClr val="336699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6699"/>
        </a:buClr>
        <a:buFont typeface="Arial" charset="0"/>
        <a:buChar char="•"/>
        <a:defRPr sz="2000" kern="1200">
          <a:solidFill>
            <a:srgbClr val="3366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AD417-C8F8-E546-8715-1A524D9566F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31D70-A0C7-BA46-90AA-351D96F80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1.xlsx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Billede 31" descr="dreamstime_Blue Ocea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77338" cy="688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extBox 23"/>
          <p:cNvSpPr txBox="1">
            <a:spLocks noChangeArrowheads="1"/>
          </p:cNvSpPr>
          <p:nvPr/>
        </p:nvSpPr>
        <p:spPr bwMode="auto">
          <a:xfrm>
            <a:off x="3238500" y="4419600"/>
            <a:ext cx="2667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nb-NO" sz="1400" dirty="0" smtClean="0">
                <a:solidFill>
                  <a:schemeClr val="bg1"/>
                </a:solidFill>
                <a:latin typeface="Century Gothic"/>
                <a:cs typeface="Century Gothic"/>
              </a:rPr>
              <a:t>Ole Kils</a:t>
            </a:r>
            <a:endParaRPr lang="nb-NO" sz="1400" dirty="0">
              <a:solidFill>
                <a:schemeClr val="bg1"/>
              </a:solidFill>
              <a:latin typeface="Century Gothic"/>
              <a:cs typeface="Century Gothic"/>
            </a:endParaRPr>
          </a:p>
          <a:p>
            <a:pPr algn="ctr"/>
            <a:r>
              <a:rPr lang="nb-NO" sz="1400" i="1" dirty="0" smtClean="0">
                <a:solidFill>
                  <a:schemeClr val="bg1"/>
                </a:solidFill>
                <a:latin typeface="Century Gothic"/>
                <a:cs typeface="Century Gothic"/>
              </a:rPr>
              <a:t>Aquantis Inc.</a:t>
            </a:r>
            <a:endParaRPr lang="nb-NO" sz="1400" i="1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16388" name="TextBox 10"/>
          <p:cNvSpPr txBox="1">
            <a:spLocks noChangeArrowheads="1"/>
          </p:cNvSpPr>
          <p:nvPr/>
        </p:nvSpPr>
        <p:spPr bwMode="auto">
          <a:xfrm>
            <a:off x="406400" y="423863"/>
            <a:ext cx="7383463" cy="217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nb-NO" sz="13500" b="1" dirty="0">
              <a:solidFill>
                <a:srgbClr val="151616"/>
              </a:solidFill>
              <a:latin typeface="Calibri" charset="0"/>
            </a:endParaRPr>
          </a:p>
        </p:txBody>
      </p:sp>
      <p:sp>
        <p:nvSpPr>
          <p:cNvPr id="16392" name="Rectangle 12"/>
          <p:cNvSpPr>
            <a:spLocks noChangeArrowheads="1"/>
          </p:cNvSpPr>
          <p:nvPr/>
        </p:nvSpPr>
        <p:spPr bwMode="auto">
          <a:xfrm>
            <a:off x="1066800" y="540365"/>
            <a:ext cx="68580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dirty="0" smtClean="0">
                <a:solidFill>
                  <a:srgbClr val="272255"/>
                </a:solidFill>
                <a:latin typeface="Century Gothic"/>
                <a:cs typeface="Century Gothic"/>
              </a:rPr>
              <a:t>THE AQUANTIS OCEAN-CURRENT TURBINE </a:t>
            </a:r>
          </a:p>
          <a:p>
            <a:pPr algn="ctr"/>
            <a:r>
              <a:rPr lang="en-US" dirty="0" smtClean="0">
                <a:solidFill>
                  <a:srgbClr val="272255"/>
                </a:solidFill>
                <a:latin typeface="Century Gothic"/>
                <a:cs typeface="Century Gothic"/>
              </a:rPr>
              <a:t>RENEWABLE ENERGY FROM MARINE CURRENTS</a:t>
            </a:r>
          </a:p>
          <a:p>
            <a:pPr algn="ctr"/>
            <a:endParaRPr lang="en-US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algn="ctr"/>
            <a:r>
              <a:rPr lang="en-US" sz="2000" dirty="0" smtClean="0">
                <a:solidFill>
                  <a:srgbClr val="272255"/>
                </a:solidFill>
                <a:latin typeface="Century Gothic"/>
                <a:cs typeface="Century Gothic"/>
              </a:rPr>
              <a:t>Blade Count Trade Study Update</a:t>
            </a:r>
          </a:p>
          <a:p>
            <a:pPr algn="ctr"/>
            <a:r>
              <a:rPr lang="en-US" dirty="0" smtClean="0">
                <a:solidFill>
                  <a:srgbClr val="272255"/>
                </a:solidFill>
                <a:latin typeface="Century Gothic"/>
                <a:cs typeface="Century Gothic"/>
              </a:rPr>
              <a:t>11/29/2012</a:t>
            </a:r>
            <a:endParaRPr lang="en-US" sz="900" dirty="0" smtClean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400" y="6566356"/>
            <a:ext cx="213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/>
                <a:cs typeface="Century Gothic"/>
              </a:rPr>
              <a:t>Company Confidential and Proprietary  </a:t>
            </a:r>
            <a:endParaRPr lang="en-US" sz="800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pic>
        <p:nvPicPr>
          <p:cNvPr id="13" name="Picture 12" descr="aquantis white 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7600" y="5791200"/>
            <a:ext cx="1295400" cy="813946"/>
          </a:xfrm>
          <a:prstGeom prst="rect">
            <a:avLst/>
          </a:prstGeom>
        </p:spPr>
      </p:pic>
      <p:pic>
        <p:nvPicPr>
          <p:cNvPr id="14" name="Picture 15" descr="ecomerit logo.pdf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5819937"/>
            <a:ext cx="1447800" cy="73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604539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Idealized Hydrodynamic Model</a:t>
            </a:r>
            <a:endParaRPr lang="en-US" sz="2800" dirty="0"/>
          </a:p>
        </p:txBody>
      </p:sp>
      <p:pic>
        <p:nvPicPr>
          <p:cNvPr id="8194" name="Picture 1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719" y="3962400"/>
            <a:ext cx="4357688" cy="223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575" y="967442"/>
            <a:ext cx="911542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Basic hydrodynamic assumptions of 2- and 3-bladed rotors:</a:t>
            </a:r>
          </a:p>
          <a:p>
            <a:pPr lvl="1"/>
            <a:endParaRPr lang="en-US" sz="1600" b="1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Equal TSR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Equal rotor diameter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Equal solidity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Equal thickness distribution (thickness as % chord)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Equal rated power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Equal torque</a:t>
            </a:r>
          </a:p>
          <a:p>
            <a:pPr lvl="1"/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This is assumed to give the following blade properties for a three-blade rotor vs. a two-blade-rotor: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2/3 sectional chord 	</a:t>
            </a:r>
            <a:r>
              <a:rPr lang="en-US" sz="1600" i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along with equal thickness</a:t>
            </a: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	=	2/3 thickness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2/3 sectional loading </a:t>
            </a:r>
            <a:r>
              <a:rPr lang="en-US" sz="1600" i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along with equal diameter </a:t>
            </a: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=	2/3 sectional moment</a:t>
            </a:r>
          </a:p>
          <a:p>
            <a:pPr lvl="1"/>
            <a:endParaRPr lang="en-US" sz="1600" dirty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851" y="6095999"/>
            <a:ext cx="91154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Volume ratio of this type of 2-bladed rotor is 1.5 times the three-bladed rotor</a:t>
            </a:r>
            <a:endParaRPr lang="en-US" sz="1600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lvl="1" algn="ctr"/>
            <a:endParaRPr lang="en-US" sz="1600" dirty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77842198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Idealized Parametric Structural Model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5" y="967442"/>
            <a:ext cx="698182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Idealize blade section as simple sandwich beam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UD spars as facings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Syntactic foam as core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Assume relationship between airfoil and ideal beam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Beam height ~ .85 AF thickness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Beam width ~ .6 AF chord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Approximate loading/sizing relevant to 2-bladed rotor configuration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At ~10m span, ~2.35m chord.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Assume baseline of 25% thick airfoil at 10m span.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Assume 1m segment length for weight/displacement estimates.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My at 10m span ~5450 </a:t>
            </a:r>
            <a:r>
              <a:rPr lang="en-US" sz="1600" dirty="0" err="1" smtClean="0">
                <a:solidFill>
                  <a:srgbClr val="272255"/>
                </a:solidFill>
                <a:latin typeface="Century Gothic"/>
                <a:cs typeface="Century Gothic"/>
              </a:rPr>
              <a:t>kN</a:t>
            </a: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-m.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Apply hydrodynamic scaling factors with constant solidity assumption for 3 bladed configuration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2/3 chord with equal t/c yields 2/3 thickness.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2/3 pressure yields 2/3 moment.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Assume other relevant material properties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Modulus of UD glass and foam.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Densities of UD glass, foam and saltwater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Maximum allowable stress of UD glass (based on ARL strain limit).</a:t>
            </a:r>
          </a:p>
          <a:p>
            <a:pPr lvl="1"/>
            <a:endParaRPr lang="en-US" sz="1600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marL="914400" lvl="1" indent="-457200">
              <a:buFont typeface="Arial" pitchFamily="34" charset="0"/>
              <a:buChar char="•"/>
            </a:pPr>
            <a:endParaRPr lang="en-US" sz="1600" dirty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" r="6224" b="12013"/>
          <a:stretch/>
        </p:blipFill>
        <p:spPr bwMode="auto">
          <a:xfrm>
            <a:off x="5908829" y="4495800"/>
            <a:ext cx="3064547" cy="1295400"/>
          </a:xfrm>
          <a:prstGeom prst="rect">
            <a:avLst/>
          </a:prstGeom>
          <a:blipFill dpi="0" rotWithShape="1">
            <a:blip r:embed="rId3">
              <a:alphaModFix amt="30000"/>
            </a:blip>
            <a:srcRect/>
            <a:tile tx="0" ty="0" sx="100000" sy="100000" flip="none" algn="tl"/>
          </a:blipFill>
          <a:ln>
            <a:noFill/>
          </a:ln>
          <a:effectLst>
            <a:glow rad="127000">
              <a:schemeClr val="accent1">
                <a:alpha val="0"/>
              </a:schemeClr>
            </a:glow>
            <a:outerShdw dist="35921" dir="2700000" algn="ctr" rotWithShape="0">
              <a:schemeClr val="bg2"/>
            </a:outerShdw>
            <a:reflection stA="0" endPos="65000" dist="50800" dir="5400000" sy="-100000" algn="bl" rotWithShape="0"/>
          </a:effectLst>
          <a:extLst/>
        </p:spPr>
      </p:pic>
      <p:grpSp>
        <p:nvGrpSpPr>
          <p:cNvPr id="9" name="Group 8"/>
          <p:cNvGrpSpPr/>
          <p:nvPr/>
        </p:nvGrpSpPr>
        <p:grpSpPr>
          <a:xfrm>
            <a:off x="6127320" y="1412692"/>
            <a:ext cx="2627564" cy="1261914"/>
            <a:chOff x="5865378" y="3962400"/>
            <a:chExt cx="2903541" cy="1526953"/>
          </a:xfrm>
        </p:grpSpPr>
        <p:grpSp>
          <p:nvGrpSpPr>
            <p:cNvPr id="4" name="Group 3"/>
            <p:cNvGrpSpPr/>
            <p:nvPr/>
          </p:nvGrpSpPr>
          <p:grpSpPr>
            <a:xfrm>
              <a:off x="6156159" y="3962400"/>
              <a:ext cx="2149641" cy="1407754"/>
              <a:chOff x="6438899" y="2170775"/>
              <a:chExt cx="1533526" cy="1733552"/>
            </a:xfrm>
          </p:grpSpPr>
          <p:sp>
            <p:nvSpPr>
              <p:cNvPr id="8" name="Cube 7"/>
              <p:cNvSpPr/>
              <p:nvPr/>
            </p:nvSpPr>
            <p:spPr>
              <a:xfrm>
                <a:off x="6438900" y="3200400"/>
                <a:ext cx="1533525" cy="703927"/>
              </a:xfrm>
              <a:prstGeom prst="cube">
                <a:avLst>
                  <a:gd name="adj" fmla="val 73673"/>
                </a:avLst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Cube 1"/>
              <p:cNvSpPr/>
              <p:nvPr/>
            </p:nvSpPr>
            <p:spPr>
              <a:xfrm>
                <a:off x="6438900" y="2335008"/>
                <a:ext cx="1533525" cy="1389727"/>
              </a:xfrm>
              <a:prstGeom prst="cube">
                <a:avLst>
                  <a:gd name="adj" fmla="val 37689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Cube 4"/>
              <p:cNvSpPr/>
              <p:nvPr/>
            </p:nvSpPr>
            <p:spPr>
              <a:xfrm>
                <a:off x="6438899" y="2170775"/>
                <a:ext cx="1533525" cy="703927"/>
              </a:xfrm>
              <a:prstGeom prst="cube">
                <a:avLst>
                  <a:gd name="adj" fmla="val 73673"/>
                </a:avLst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 rot="182267">
              <a:off x="5865378" y="4267078"/>
              <a:ext cx="2903541" cy="1222275"/>
            </a:xfrm>
            <a:custGeom>
              <a:avLst/>
              <a:gdLst>
                <a:gd name="connsiteX0" fmla="*/ 2894663 w 2903541"/>
                <a:gd name="connsiteY0" fmla="*/ 411069 h 1222275"/>
                <a:gd name="connsiteX1" fmla="*/ 1065863 w 2903541"/>
                <a:gd name="connsiteY1" fmla="*/ 2697 h 1222275"/>
                <a:gd name="connsiteX2" fmla="*/ 543 w 2903541"/>
                <a:gd name="connsiteY2" fmla="*/ 588623 h 1222275"/>
                <a:gd name="connsiteX3" fmla="*/ 941576 w 2903541"/>
                <a:gd name="connsiteY3" fmla="*/ 1218937 h 1222275"/>
                <a:gd name="connsiteX4" fmla="*/ 2317615 w 2903541"/>
                <a:gd name="connsiteY4" fmla="*/ 837198 h 1222275"/>
                <a:gd name="connsiteX5" fmla="*/ 2903541 w 2903541"/>
                <a:gd name="connsiteY5" fmla="*/ 819442 h 122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3541" h="1222275">
                  <a:moveTo>
                    <a:pt x="2894663" y="411069"/>
                  </a:moveTo>
                  <a:cubicBezTo>
                    <a:pt x="2221439" y="192087"/>
                    <a:pt x="1548216" y="-26895"/>
                    <a:pt x="1065863" y="2697"/>
                  </a:cubicBezTo>
                  <a:cubicBezTo>
                    <a:pt x="583510" y="32289"/>
                    <a:pt x="21257" y="385916"/>
                    <a:pt x="543" y="588623"/>
                  </a:cubicBezTo>
                  <a:cubicBezTo>
                    <a:pt x="-20171" y="791330"/>
                    <a:pt x="555397" y="1177508"/>
                    <a:pt x="941576" y="1218937"/>
                  </a:cubicBezTo>
                  <a:cubicBezTo>
                    <a:pt x="1327755" y="1260366"/>
                    <a:pt x="1990621" y="903781"/>
                    <a:pt x="2317615" y="837198"/>
                  </a:cubicBezTo>
                  <a:cubicBezTo>
                    <a:pt x="2644609" y="770616"/>
                    <a:pt x="2774075" y="795029"/>
                    <a:pt x="2903541" y="819442"/>
                  </a:cubicBez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2352545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Calculation approach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5" y="967442"/>
            <a:ext cx="896302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Two variables were investigated: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dirty="0" smtClean="0">
                <a:solidFill>
                  <a:srgbClr val="272255"/>
                </a:solidFill>
                <a:latin typeface="Century Gothic"/>
                <a:cs typeface="Century Gothic"/>
              </a:rPr>
              <a:t>% thickness at given chord and moment vs. rotor section wet weight and spar thickness.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dirty="0" smtClean="0">
                <a:solidFill>
                  <a:srgbClr val="272255"/>
                </a:solidFill>
                <a:latin typeface="Century Gothic"/>
                <a:cs typeface="Century Gothic"/>
              </a:rPr>
              <a:t>Loading intensity at given 35% t/c vs. rotor section wet weight and spar thickness.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Each configuration sets geometric or loading parameters and solves for spar cap thickness at design stress in the spars.</a:t>
            </a:r>
          </a:p>
          <a:p>
            <a:endParaRPr lang="en-US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lvl="1"/>
            <a:endParaRPr lang="en-US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marL="914400" lvl="1" indent="-457200">
              <a:buFont typeface="Arial" pitchFamily="34" charset="0"/>
              <a:buChar char="•"/>
            </a:pPr>
            <a:endParaRPr lang="en-US" dirty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56833269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Preliminary Results – Effect of T/C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63" y="1374577"/>
            <a:ext cx="6953250" cy="4080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-152400" y="1066800"/>
            <a:ext cx="9296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400" b="1" dirty="0">
                <a:solidFill>
                  <a:srgbClr val="272255"/>
                </a:solidFill>
                <a:latin typeface="Century Gothic"/>
                <a:cs typeface="Century Gothic"/>
              </a:rPr>
              <a:t>% </a:t>
            </a:r>
            <a:r>
              <a:rPr lang="en-US" sz="14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Thickness </a:t>
            </a:r>
            <a:r>
              <a:rPr lang="en-US" sz="1400" b="1" dirty="0">
                <a:solidFill>
                  <a:srgbClr val="272255"/>
                </a:solidFill>
                <a:latin typeface="Century Gothic"/>
                <a:cs typeface="Century Gothic"/>
              </a:rPr>
              <a:t>at given chord and moment vs. rotor section wet weight and spar </a:t>
            </a:r>
            <a:r>
              <a:rPr lang="en-US" sz="14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thickness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-381000" y="5456262"/>
            <a:ext cx="9067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272255"/>
                </a:solidFill>
                <a:latin typeface="Century Gothic"/>
                <a:cs typeface="Century Gothic"/>
              </a:rPr>
              <a:t>Two blade rotor is more buoyant at all section thicknesses.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C00000"/>
                </a:solidFill>
                <a:latin typeface="Century Gothic"/>
                <a:cs typeface="Century Gothic"/>
              </a:rPr>
              <a:t>Three bladed configuration will not be possible to build at foils below 35% T/C for given moment</a:t>
            </a:r>
            <a:r>
              <a:rPr lang="en-US" sz="1400" dirty="0" smtClean="0">
                <a:solidFill>
                  <a:srgbClr val="272255"/>
                </a:solidFill>
                <a:latin typeface="Century Gothic"/>
                <a:cs typeface="Century Gothic"/>
              </a:rPr>
              <a:t>.  Spars intersect which is consistent with FEA results of 3-bladed rotor (25% thick foil)</a:t>
            </a:r>
            <a:endParaRPr lang="en-US" sz="1400" dirty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438400" y="4665766"/>
            <a:ext cx="914400" cy="36139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0419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Preliminary Results – Effect of T/C cont.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81001" y="1066800"/>
            <a:ext cx="95375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400" b="1" dirty="0">
                <a:solidFill>
                  <a:srgbClr val="272255"/>
                </a:solidFill>
                <a:latin typeface="Century Gothic"/>
                <a:cs typeface="Century Gothic"/>
              </a:rPr>
              <a:t>Three bladed </a:t>
            </a:r>
            <a:r>
              <a:rPr lang="en-US" sz="1400" b="1" dirty="0" err="1" smtClean="0">
                <a:solidFill>
                  <a:srgbClr val="272255"/>
                </a:solidFill>
                <a:latin typeface="Century Gothic"/>
                <a:cs typeface="Century Gothic"/>
              </a:rPr>
              <a:t>config</a:t>
            </a:r>
            <a:r>
              <a:rPr lang="en-US" sz="14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. </a:t>
            </a:r>
            <a:r>
              <a:rPr lang="en-US" sz="1400" b="1" dirty="0">
                <a:solidFill>
                  <a:srgbClr val="272255"/>
                </a:solidFill>
                <a:latin typeface="Century Gothic"/>
                <a:cs typeface="Century Gothic"/>
              </a:rPr>
              <a:t>will not be possible to build at foils below 35% T/C for given </a:t>
            </a:r>
            <a:r>
              <a:rPr lang="en-US" sz="14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moment</a:t>
            </a:r>
            <a:r>
              <a:rPr lang="en-US" sz="1400" b="1" dirty="0">
                <a:solidFill>
                  <a:srgbClr val="272255"/>
                </a:solidFill>
                <a:latin typeface="Century Gothic"/>
                <a:cs typeface="Century Gothic"/>
              </a:rPr>
              <a:t> </a:t>
            </a:r>
            <a:r>
              <a:rPr lang="en-US" sz="14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as spars intersect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76199" y="4513185"/>
            <a:ext cx="4103481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7" descr="C:\Users\Ole\AppData\Local\Microsoft\Windows\Temporary Internet Files\Content.Outlook\T420M3OC\3-Blade-Section-Cut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2" t="11904" r="38132" b="59765"/>
          <a:stretch/>
        </p:blipFill>
        <p:spPr bwMode="auto">
          <a:xfrm>
            <a:off x="87669" y="5105400"/>
            <a:ext cx="4093436" cy="144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03398"/>
              </p:ext>
            </p:extLst>
          </p:nvPr>
        </p:nvGraphicFramePr>
        <p:xfrm>
          <a:off x="4491360" y="1905000"/>
          <a:ext cx="4569570" cy="4442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Worksheet" r:id="rId6" imgW="5391043" imgH="4648320" progId="Excel.Sheet.12">
                  <p:embed/>
                </p:oleObj>
              </mc:Choice>
              <mc:Fallback>
                <p:oleObj name="Worksheet" r:id="rId6" imgW="5391043" imgH="4648320" progId="Excel.Sheet.1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360" y="1905000"/>
                        <a:ext cx="4569570" cy="4442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4736977" y="3733800"/>
            <a:ext cx="4419600" cy="685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147150" y="1571919"/>
            <a:ext cx="45501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272255"/>
                </a:solidFill>
                <a:latin typeface="Century Gothic"/>
                <a:cs typeface="Century Gothic"/>
              </a:rPr>
              <a:t>Preliminary FEA showed extremely heavy blade for 3-bladed configuration.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272255"/>
                </a:solidFill>
                <a:latin typeface="Century Gothic"/>
                <a:cs typeface="Century Gothic"/>
              </a:rPr>
              <a:t>10m span blade has 25% thick airfoil.</a:t>
            </a:r>
          </a:p>
        </p:txBody>
      </p:sp>
    </p:spTree>
    <p:extLst>
      <p:ext uri="{BB962C8B-B14F-4D97-AF65-F5344CB8AC3E}">
        <p14:creationId xmlns:p14="http://schemas.microsoft.com/office/powerpoint/2010/main" val="141953568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Preliminary Results – Effect of Loading Intensity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52400" y="1066800"/>
            <a:ext cx="9296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1400" b="1" dirty="0">
                <a:solidFill>
                  <a:srgbClr val="272255"/>
                </a:solidFill>
                <a:latin typeface="Century Gothic"/>
                <a:cs typeface="Century Gothic"/>
              </a:rPr>
              <a:t>Loading intensity at given 35% t/c vs. rotor section wet weight and spar </a:t>
            </a:r>
            <a:r>
              <a:rPr lang="en-US" sz="1400" b="1" dirty="0" smtClean="0">
                <a:solidFill>
                  <a:srgbClr val="272255"/>
                </a:solidFill>
                <a:latin typeface="Century Gothic"/>
                <a:cs typeface="Century Gothic"/>
              </a:rPr>
              <a:t>thickness</a:t>
            </a:r>
            <a:endParaRPr lang="en-US" sz="1400" dirty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74577"/>
            <a:ext cx="6918927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-45738" y="5410200"/>
            <a:ext cx="92963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272255"/>
                </a:solidFill>
                <a:latin typeface="Century Gothic"/>
                <a:cs typeface="Century Gothic"/>
              </a:rPr>
              <a:t>To evaluate effect on loading intensity, a constant 35% T/C was assumed and the assumed moment was reduced incrementally.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u="sng" dirty="0" smtClean="0">
                <a:solidFill>
                  <a:srgbClr val="272255"/>
                </a:solidFill>
                <a:latin typeface="Century Gothic"/>
                <a:cs typeface="Century Gothic"/>
              </a:rPr>
              <a:t>Two bladed rotor is more buoyant at all loading intensities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C00000"/>
                </a:solidFill>
                <a:latin typeface="Century Gothic"/>
                <a:cs typeface="Century Gothic"/>
              </a:rPr>
              <a:t>At very low moments, the model does not converge since all of the load is carried by the foam alone.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sz="1400" dirty="0" smtClean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828800" y="4670755"/>
            <a:ext cx="762000" cy="361395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3069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Take-Away &amp; Next Steps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8007" y="990600"/>
            <a:ext cx="8999608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600" u="sng" dirty="0" smtClean="0">
                <a:solidFill>
                  <a:srgbClr val="272255"/>
                </a:solidFill>
                <a:latin typeface="Century Gothic"/>
                <a:cs typeface="Century Gothic"/>
              </a:rPr>
              <a:t>For the given assumptions, a two-bladed rotor is more buoyant in all conditions investigated.</a:t>
            </a:r>
          </a:p>
          <a:p>
            <a:pPr lvl="1"/>
            <a:endParaRPr lang="en-US" sz="1600" dirty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lvl="1"/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Next Steps:</a:t>
            </a:r>
          </a:p>
          <a:p>
            <a:pPr lvl="1"/>
            <a:endParaRPr lang="en-US" sz="1600" dirty="0" smtClean="0">
              <a:solidFill>
                <a:srgbClr val="272255"/>
              </a:solidFill>
              <a:latin typeface="Century Gothic"/>
              <a:cs typeface="Century Gothic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Evaluate impact of sectional cost along with wet weight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Cross-check hydrodynamic assumptions and their effect on system efficiency/power production.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Check stress on foam.  Assumed to be non-issue since modulus is dominated by spar.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272255"/>
                </a:solidFill>
                <a:latin typeface="Century Gothic"/>
                <a:cs typeface="Century Gothic"/>
              </a:rPr>
              <a:t>Expand model to include more accurate section calculator and be able to include multiple sections to begin thickness optimization studies</a:t>
            </a:r>
            <a:endParaRPr lang="en-US" sz="1600" dirty="0" smtClean="0">
              <a:solidFill>
                <a:srgbClr val="C00000"/>
              </a:solidFill>
              <a:latin typeface="Century Gothic"/>
              <a:cs typeface="Century Gothic"/>
            </a:endParaRPr>
          </a:p>
          <a:p>
            <a:pPr marL="742950" lvl="1" indent="-285750">
              <a:buFont typeface="Arial" pitchFamily="34" charset="0"/>
              <a:buChar char="•"/>
            </a:pPr>
            <a:endParaRPr lang="en-US" sz="1400" dirty="0" smtClean="0">
              <a:solidFill>
                <a:srgbClr val="272255"/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8611681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Calculation Assumptions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019175"/>
            <a:ext cx="3285352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/>
              <p:cNvSpPr txBox="1"/>
              <p:nvPr/>
            </p:nvSpPr>
            <p:spPr>
              <a:xfrm>
                <a:off x="5869394" y="3853673"/>
                <a:ext cx="2976563" cy="55823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>
                              <a:latin typeface="Cambria Math"/>
                            </a:rPr>
                            <m:t>𝑠𝑝𝑎𝑟</m:t>
                          </m:r>
                        </m:sub>
                      </m:sSub>
                      <m:r>
                        <a:rPr lang="en-US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600" b="0" i="1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US" sz="1600" b="0" i="1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600" b="0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1600" b="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16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394" y="3853673"/>
                <a:ext cx="2976563" cy="5582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/>
              <p:cNvSpPr txBox="1"/>
              <p:nvPr/>
            </p:nvSpPr>
            <p:spPr>
              <a:xfrm>
                <a:off x="5762624" y="4526742"/>
                <a:ext cx="2976563" cy="55823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>
                              <a:latin typeface="Cambria Math"/>
                            </a:rPr>
                            <m:t>𝑐𝑜𝑟𝑒</m:t>
                          </m:r>
                        </m:sub>
                      </m:sSub>
                      <m:r>
                        <a:rPr lang="en-US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600" b="0" i="1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US" sz="1600" b="0" i="1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600" b="0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16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624" y="4526742"/>
                <a:ext cx="2976563" cy="5582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3"/>
              <p:cNvSpPr txBox="1"/>
              <p:nvPr/>
            </p:nvSpPr>
            <p:spPr>
              <a:xfrm>
                <a:off x="5471726" y="5095875"/>
                <a:ext cx="3790950" cy="762901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>
                              <a:latin typeface="Cambria Math"/>
                            </a:rPr>
                            <m:t>𝑠𝑝𝑎𝑟</m:t>
                          </m:r>
                          <m:r>
                            <a:rPr lang="en-US" sz="1600" b="0" i="1">
                              <a:latin typeface="Cambria Math"/>
                            </a:rPr>
                            <m:t> (</m:t>
                          </m:r>
                          <m:r>
                            <a:rPr lang="en-US" sz="1600" b="0" i="1">
                              <a:latin typeface="Cambria Math"/>
                            </a:rPr>
                            <m:t>𝑚𝑎𝑥</m:t>
                          </m:r>
                          <m:r>
                            <a:rPr lang="en-US" sz="1600" b="0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n-US" sz="1600" b="0" i="1">
                          <a:latin typeface="Cambria Math"/>
                        </a:rPr>
                        <m:t>=</m:t>
                      </m:r>
                      <m:r>
                        <a:rPr lang="en-US" sz="1600" b="0" i="1">
                          <a:latin typeface="Cambria Math"/>
                          <a:ea typeface="Cambria Math"/>
                        </a:rPr>
                        <m:t>±</m:t>
                      </m:r>
                      <m:f>
                        <m:fPr>
                          <m:ctrlPr>
                            <a:rPr lang="en-US" sz="1600" b="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𝑀</m:t>
                          </m:r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b="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/>
                                      <a:ea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𝑈𝐷</m:t>
                              </m:r>
                            </m:sub>
                          </m:sSub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𝑈𝐷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726" y="5095875"/>
                <a:ext cx="3790950" cy="76290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4"/>
              <p:cNvSpPr txBox="1"/>
              <p:nvPr/>
            </p:nvSpPr>
            <p:spPr>
              <a:xfrm>
                <a:off x="5307805" y="6036104"/>
                <a:ext cx="3886200" cy="36227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>
                              <a:latin typeface="Cambria Math"/>
                            </a:rPr>
                            <m:t>𝑠𝑝𝑎𝑟</m:t>
                          </m:r>
                          <m:r>
                            <a:rPr lang="en-US" sz="1600" b="0" i="1">
                              <a:latin typeface="Cambria Math"/>
                            </a:rPr>
                            <m:t> (</m:t>
                          </m:r>
                          <m:r>
                            <a:rPr lang="en-US" sz="1600" b="0" i="1">
                              <a:latin typeface="Cambria Math"/>
                            </a:rPr>
                            <m:t>𝑎𝑙𝑙𝑜𝑤</m:t>
                          </m:r>
                          <m:r>
                            <a:rPr lang="en-US" sz="1600" b="0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n-US" sz="1600" b="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sz="1600" b="0" i="1">
                              <a:latin typeface="Cambria Math"/>
                            </a:rPr>
                            <m:t>𝑈𝐷</m:t>
                          </m:r>
                        </m:sub>
                      </m:sSub>
                      <m:sSub>
                        <m:sSubPr>
                          <m:ctrlPr>
                            <a:rPr lang="en-US" sz="1600" b="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/>
                              <a:ea typeface="Cambria Math"/>
                            </a:rPr>
                            <m:t>∈</m:t>
                          </m:r>
                        </m:e>
                        <m:sub>
                          <m:r>
                            <a:rPr lang="en-US" sz="1600" b="0" i="1">
                              <a:latin typeface="Cambria Math"/>
                            </a:rPr>
                            <m:t>𝑑𝑒𝑠𝑖𝑔𝑛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805" y="6036104"/>
                <a:ext cx="3886200" cy="362279"/>
              </a:xfrm>
              <a:prstGeom prst="rect">
                <a:avLst/>
              </a:prstGeom>
              <a:blipFill rotWithShape="1"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882"/>
              </p:ext>
            </p:extLst>
          </p:nvPr>
        </p:nvGraphicFramePr>
        <p:xfrm>
          <a:off x="1143000" y="1828800"/>
          <a:ext cx="3505200" cy="2771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16764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Chord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[m]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Spar Cap Width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[m]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[n-m]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5.45E+06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r>
                        <a:rPr lang="en-US" sz="1100" u="none" strike="noStrike" baseline="-25000">
                          <a:effectLst/>
                        </a:rPr>
                        <a:t>UD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Modulus of Sparcap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[Pa]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3.98E+10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</a:t>
                      </a:r>
                      <a:r>
                        <a:rPr lang="en-US" sz="1100" u="none" strike="noStrike" baseline="-25000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Modulus of Core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[Pa]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3.79E+09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u="none" strike="noStrike">
                          <a:effectLst/>
                        </a:rPr>
                        <a:t>σ</a:t>
                      </a:r>
                      <a:r>
                        <a:rPr lang="en-US" sz="1100" u="none" strike="noStrike" baseline="-25000">
                          <a:effectLst/>
                        </a:rPr>
                        <a:t>s(max)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Stress in Sparcap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[Pa]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1.15E+08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Section Length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[m]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u="none" strike="noStrike">
                          <a:effectLst/>
                        </a:rPr>
                        <a:t>ρ</a:t>
                      </a:r>
                      <a:r>
                        <a:rPr lang="en-US" sz="1100" u="none" strike="noStrike" baseline="-25000">
                          <a:effectLst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Density of sparcap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[kg/m</a:t>
                      </a:r>
                      <a:r>
                        <a:rPr lang="en-US" sz="1100" u="none" strike="noStrike" baseline="30000">
                          <a:effectLst/>
                        </a:rPr>
                        <a:t>3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u="none" strike="noStrike">
                          <a:effectLst/>
                        </a:rPr>
                        <a:t>ρ</a:t>
                      </a:r>
                      <a:r>
                        <a:rPr lang="en-US" sz="1100" u="none" strike="noStrike" baseline="-25000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Density of core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[kg/m</a:t>
                      </a:r>
                      <a:r>
                        <a:rPr lang="en-US" sz="1100" u="none" strike="noStrike" baseline="30000">
                          <a:effectLst/>
                        </a:rPr>
                        <a:t>3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u="none" strike="noStrike">
                          <a:effectLst/>
                        </a:rPr>
                        <a:t>ρ</a:t>
                      </a:r>
                      <a:r>
                        <a:rPr lang="en-US" sz="1100" u="none" strike="noStrike" baseline="-25000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Density of Seawater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[kg/m</a:t>
                      </a:r>
                      <a:r>
                        <a:rPr lang="en-US" sz="1100" u="none" strike="noStrike" baseline="30000">
                          <a:effectLst/>
                        </a:rPr>
                        <a:t>3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u="none" strike="noStrike">
                          <a:effectLst/>
                        </a:rPr>
                        <a:t>ϵ</a:t>
                      </a:r>
                      <a:r>
                        <a:rPr lang="en-US" sz="1100" u="none" strike="noStrike" baseline="-25000">
                          <a:effectLst/>
                        </a:rPr>
                        <a:t>UD(max)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allow design strain UD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[-]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2.90E-03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u="none" strike="noStrike">
                          <a:effectLst/>
                        </a:rPr>
                        <a:t>σ</a:t>
                      </a:r>
                      <a:r>
                        <a:rPr lang="en-US" sz="1100" u="none" strike="noStrike">
                          <a:effectLst/>
                        </a:rPr>
                        <a:t>s(allow)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Allowable stress in UD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[Pa]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1.15E+08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Moment/Chord Ratio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2.32E+06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64002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458200" cy="762000"/>
          </a:xfrm>
        </p:spPr>
        <p:txBody>
          <a:bodyPr/>
          <a:lstStyle/>
          <a:p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Blade Element Calculation</a:t>
            </a:r>
            <a:endParaRPr lang="en-US" sz="2400" dirty="0">
              <a:latin typeface="Century Gothic"/>
              <a:ea typeface="ＭＳ Ｐゴシック" charset="0"/>
              <a:cs typeface="Century Gothic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7850188" cy="3916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289831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25668</TotalTime>
  <Words>769</Words>
  <Application>Microsoft Office PowerPoint</Application>
  <PresentationFormat>On-screen Show (4:3)</PresentationFormat>
  <Paragraphs>125</Paragraphs>
  <Slides>10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Office Theme</vt:lpstr>
      <vt:lpstr>Custom Design</vt:lpstr>
      <vt:lpstr>Worksheet</vt:lpstr>
      <vt:lpstr>PowerPoint Presentation</vt:lpstr>
      <vt:lpstr>Idealized Hydrodynamic Model</vt:lpstr>
      <vt:lpstr>Idealized Parametric Structural Model</vt:lpstr>
      <vt:lpstr>Calculation approach</vt:lpstr>
      <vt:lpstr>Preliminary Results – Effect of T/C</vt:lpstr>
      <vt:lpstr>Preliminary Results – Effect of T/C cont.</vt:lpstr>
      <vt:lpstr>Preliminary Results – Effect of Loading Intensity</vt:lpstr>
      <vt:lpstr>Take-Away &amp; Next Steps</vt:lpstr>
      <vt:lpstr>Calculation Assumptions</vt:lpstr>
      <vt:lpstr>Blade Element Calculation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Alexander J Fleming</dc:creator>
  <cp:lastModifiedBy>Ole Kils</cp:lastModifiedBy>
  <cp:revision>357</cp:revision>
  <cp:lastPrinted>2011-09-28T18:17:29Z</cp:lastPrinted>
  <dcterms:created xsi:type="dcterms:W3CDTF">2011-09-16T18:11:43Z</dcterms:created>
  <dcterms:modified xsi:type="dcterms:W3CDTF">2015-03-04T22:15:54Z</dcterms:modified>
</cp:coreProperties>
</file>
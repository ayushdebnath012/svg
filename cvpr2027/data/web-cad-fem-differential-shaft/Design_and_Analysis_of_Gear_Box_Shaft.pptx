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9" r:id="rId9"/>
    <p:sldId id="270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x="9144000" cy="6858000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0" i="0" u="sng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0" i="0" u="sng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0" i="0" u="sng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0" i="0" u="sng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552450" y="1009650"/>
            <a:ext cx="3276600" cy="4371975"/>
          </a:xfrm>
          <a:custGeom>
            <a:avLst/>
            <a:gdLst/>
            <a:ahLst/>
            <a:cxnLst/>
            <a:rect l="l" t="t" r="r" b="b"/>
            <a:pathLst>
              <a:path w="3276600" h="4371975">
                <a:moveTo>
                  <a:pt x="3186303" y="0"/>
                </a:moveTo>
                <a:lnTo>
                  <a:pt x="90335" y="0"/>
                </a:lnTo>
                <a:lnTo>
                  <a:pt x="55174" y="7090"/>
                </a:lnTo>
                <a:lnTo>
                  <a:pt x="26460" y="26431"/>
                </a:lnTo>
                <a:lnTo>
                  <a:pt x="7099" y="55131"/>
                </a:lnTo>
                <a:lnTo>
                  <a:pt x="0" y="90297"/>
                </a:lnTo>
                <a:lnTo>
                  <a:pt x="0" y="4281678"/>
                </a:lnTo>
                <a:lnTo>
                  <a:pt x="7099" y="4316843"/>
                </a:lnTo>
                <a:lnTo>
                  <a:pt x="26460" y="4345543"/>
                </a:lnTo>
                <a:lnTo>
                  <a:pt x="55174" y="4364884"/>
                </a:lnTo>
                <a:lnTo>
                  <a:pt x="90335" y="4371975"/>
                </a:lnTo>
                <a:lnTo>
                  <a:pt x="3186303" y="4371975"/>
                </a:lnTo>
                <a:lnTo>
                  <a:pt x="3221468" y="4364884"/>
                </a:lnTo>
                <a:lnTo>
                  <a:pt x="3250168" y="4345543"/>
                </a:lnTo>
                <a:lnTo>
                  <a:pt x="3269509" y="4316843"/>
                </a:lnTo>
                <a:lnTo>
                  <a:pt x="3276600" y="4281678"/>
                </a:lnTo>
                <a:lnTo>
                  <a:pt x="3276600" y="90297"/>
                </a:lnTo>
                <a:lnTo>
                  <a:pt x="3269509" y="55131"/>
                </a:lnTo>
                <a:lnTo>
                  <a:pt x="3250168" y="26431"/>
                </a:lnTo>
                <a:lnTo>
                  <a:pt x="3221468" y="7090"/>
                </a:lnTo>
                <a:lnTo>
                  <a:pt x="3186303" y="0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47419" y="544512"/>
            <a:ext cx="7722615" cy="8979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0" i="0" u="sng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670171" y="3153727"/>
            <a:ext cx="3714750" cy="2652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jpe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jpeg"/><Relationship Id="rId1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.jpeg"/><Relationship Id="rId1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1" Type="http://schemas.openxmlformats.org/officeDocument/2006/relationships/image" Target="../media/image24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1685925"/>
          </a:xfrm>
          <a:custGeom>
            <a:avLst/>
            <a:gdLst/>
            <a:ahLst/>
            <a:cxnLst/>
            <a:rect l="l" t="t" r="r" b="b"/>
            <a:pathLst>
              <a:path w="9144000" h="1685925">
                <a:moveTo>
                  <a:pt x="0" y="1685925"/>
                </a:moveTo>
                <a:lnTo>
                  <a:pt x="9144000" y="1685925"/>
                </a:lnTo>
                <a:lnTo>
                  <a:pt x="9144000" y="0"/>
                </a:lnTo>
                <a:lnTo>
                  <a:pt x="0" y="0"/>
                </a:lnTo>
                <a:lnTo>
                  <a:pt x="0" y="1685925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2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u="none" dirty="0">
                <a:solidFill>
                  <a:srgbClr val="FFFFFF"/>
                </a:solidFill>
              </a:rPr>
              <a:t>Design</a:t>
            </a:r>
            <a:r>
              <a:rPr u="none" spc="-90" dirty="0">
                <a:solidFill>
                  <a:srgbClr val="FFFFFF"/>
                </a:solidFill>
              </a:rPr>
              <a:t> </a:t>
            </a:r>
            <a:r>
              <a:rPr u="none" dirty="0">
                <a:solidFill>
                  <a:srgbClr val="FFFFFF"/>
                </a:solidFill>
              </a:rPr>
              <a:t>and</a:t>
            </a:r>
            <a:r>
              <a:rPr u="none" spc="-75" dirty="0">
                <a:solidFill>
                  <a:srgbClr val="FFFFFF"/>
                </a:solidFill>
              </a:rPr>
              <a:t> </a:t>
            </a:r>
            <a:r>
              <a:rPr u="none" dirty="0">
                <a:solidFill>
                  <a:srgbClr val="FFFFFF"/>
                </a:solidFill>
              </a:rPr>
              <a:t>Analysis</a:t>
            </a:r>
            <a:r>
              <a:rPr u="none" spc="-65" dirty="0">
                <a:solidFill>
                  <a:srgbClr val="FFFFFF"/>
                </a:solidFill>
              </a:rPr>
              <a:t> </a:t>
            </a:r>
            <a:r>
              <a:rPr u="none" dirty="0">
                <a:solidFill>
                  <a:srgbClr val="FFFFFF"/>
                </a:solidFill>
              </a:rPr>
              <a:t>of</a:t>
            </a:r>
            <a:r>
              <a:rPr u="none" spc="-55" dirty="0">
                <a:solidFill>
                  <a:srgbClr val="FFFFFF"/>
                </a:solidFill>
              </a:rPr>
              <a:t> </a:t>
            </a:r>
            <a:r>
              <a:rPr u="none" dirty="0">
                <a:solidFill>
                  <a:srgbClr val="FFFFFF"/>
                </a:solidFill>
              </a:rPr>
              <a:t>Gear</a:t>
            </a:r>
            <a:r>
              <a:rPr u="none" spc="-55" dirty="0">
                <a:solidFill>
                  <a:srgbClr val="FFFFFF"/>
                </a:solidFill>
              </a:rPr>
              <a:t> </a:t>
            </a:r>
            <a:r>
              <a:rPr u="none" dirty="0">
                <a:solidFill>
                  <a:srgbClr val="FFFFFF"/>
                </a:solidFill>
              </a:rPr>
              <a:t>Box</a:t>
            </a:r>
            <a:r>
              <a:rPr u="none" spc="-55" dirty="0">
                <a:solidFill>
                  <a:srgbClr val="FFFFFF"/>
                </a:solidFill>
              </a:rPr>
              <a:t> </a:t>
            </a:r>
            <a:r>
              <a:rPr u="none" spc="-10" dirty="0">
                <a:solidFill>
                  <a:srgbClr val="FFFFFF"/>
                </a:solidFill>
              </a:rPr>
              <a:t>Shaft</a:t>
            </a:r>
            <a:endParaRPr u="none" spc="-10" dirty="0">
              <a:solidFill>
                <a:srgbClr val="FFFFFF"/>
              </a:solidFill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1685925"/>
            <a:ext cx="9144000" cy="5172075"/>
            <a:chOff x="0" y="1685925"/>
            <a:chExt cx="9144000" cy="5172075"/>
          </a:xfrm>
        </p:grpSpPr>
        <p:sp>
          <p:nvSpPr>
            <p:cNvPr id="5" name="object 5"/>
            <p:cNvSpPr/>
            <p:nvPr/>
          </p:nvSpPr>
          <p:spPr>
            <a:xfrm>
              <a:off x="0" y="1685925"/>
              <a:ext cx="9144000" cy="5172075"/>
            </a:xfrm>
            <a:custGeom>
              <a:avLst/>
              <a:gdLst/>
              <a:ahLst/>
              <a:cxnLst/>
              <a:rect l="l" t="t" r="r" b="b"/>
              <a:pathLst>
                <a:path w="9144000" h="5172075">
                  <a:moveTo>
                    <a:pt x="9144000" y="0"/>
                  </a:moveTo>
                  <a:lnTo>
                    <a:pt x="0" y="0"/>
                  </a:lnTo>
                  <a:lnTo>
                    <a:pt x="0" y="5172075"/>
                  </a:lnTo>
                  <a:lnTo>
                    <a:pt x="9144000" y="5172075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866775" y="2009775"/>
              <a:ext cx="342900" cy="47625"/>
            </a:xfrm>
            <a:custGeom>
              <a:avLst/>
              <a:gdLst/>
              <a:ahLst/>
              <a:cxnLst/>
              <a:rect l="l" t="t" r="r" b="b"/>
              <a:pathLst>
                <a:path w="342900" h="47625">
                  <a:moveTo>
                    <a:pt x="342900" y="0"/>
                  </a:moveTo>
                  <a:lnTo>
                    <a:pt x="0" y="0"/>
                  </a:lnTo>
                  <a:lnTo>
                    <a:pt x="0" y="47625"/>
                  </a:lnTo>
                  <a:lnTo>
                    <a:pt x="342900" y="47625"/>
                  </a:lnTo>
                  <a:lnTo>
                    <a:pt x="3429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946467" y="2173795"/>
            <a:ext cx="6644005" cy="3544570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355"/>
              </a:spcBef>
              <a:buFont typeface="Arial MT"/>
              <a:buChar char="•"/>
              <a:tabLst>
                <a:tab pos="355600" algn="l"/>
              </a:tabLst>
            </a:pPr>
            <a:r>
              <a:rPr sz="2100" dirty="0">
                <a:latin typeface="Calibri" panose="020F0502020204030204"/>
                <a:cs typeface="Calibri" panose="020F0502020204030204"/>
              </a:rPr>
              <a:t>Course:</a:t>
            </a:r>
            <a:r>
              <a:rPr sz="21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Strength</a:t>
            </a:r>
            <a:r>
              <a:rPr sz="21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of</a:t>
            </a:r>
            <a:r>
              <a:rPr sz="21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Materials</a:t>
            </a:r>
            <a:r>
              <a:rPr sz="21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(ME2303)</a:t>
            </a:r>
            <a:endParaRPr sz="2100">
              <a:latin typeface="Calibri" panose="020F0502020204030204"/>
              <a:cs typeface="Calibri" panose="020F0502020204030204"/>
            </a:endParaRPr>
          </a:p>
          <a:p>
            <a:pPr marL="355600" indent="-342900">
              <a:lnSpc>
                <a:spcPct val="100000"/>
              </a:lnSpc>
              <a:spcBef>
                <a:spcPts val="255"/>
              </a:spcBef>
              <a:buFont typeface="Arial MT"/>
              <a:buChar char="•"/>
              <a:tabLst>
                <a:tab pos="355600" algn="l"/>
              </a:tabLst>
            </a:pPr>
            <a:r>
              <a:rPr sz="2100" dirty="0">
                <a:latin typeface="Calibri" panose="020F0502020204030204"/>
                <a:cs typeface="Calibri" panose="020F0502020204030204"/>
              </a:rPr>
              <a:t>Batch:</a:t>
            </a:r>
            <a:r>
              <a:rPr sz="21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25" dirty="0">
                <a:latin typeface="Calibri" panose="020F0502020204030204"/>
                <a:cs typeface="Calibri" panose="020F0502020204030204"/>
              </a:rPr>
              <a:t>E-</a:t>
            </a:r>
            <a:r>
              <a:rPr sz="2100" dirty="0">
                <a:latin typeface="Calibri" panose="020F0502020204030204"/>
                <a:cs typeface="Calibri" panose="020F0502020204030204"/>
              </a:rPr>
              <a:t>3Guide:</a:t>
            </a:r>
            <a:r>
              <a:rPr sz="21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80" dirty="0">
                <a:latin typeface="Calibri" panose="020F0502020204030204"/>
                <a:cs typeface="Calibri" panose="020F0502020204030204"/>
              </a:rPr>
              <a:t>Dr.</a:t>
            </a:r>
            <a:r>
              <a:rPr sz="21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Dinesh</a:t>
            </a:r>
            <a:r>
              <a:rPr sz="21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Washimkar</a:t>
            </a:r>
            <a:endParaRPr sz="21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475"/>
              </a:spcBef>
              <a:buFont typeface="Arial MT"/>
              <a:buChar char="•"/>
            </a:pPr>
            <a:endParaRPr sz="2100">
              <a:latin typeface="Calibri" panose="020F0502020204030204"/>
              <a:cs typeface="Calibri" panose="020F0502020204030204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sz="2100" dirty="0">
                <a:latin typeface="Calibri" panose="020F0502020204030204"/>
                <a:cs typeface="Calibri" panose="020F0502020204030204"/>
              </a:rPr>
              <a:t>Submitted</a:t>
            </a:r>
            <a:r>
              <a:rPr sz="2100" spc="-11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25" dirty="0">
                <a:latin typeface="Calibri" panose="020F0502020204030204"/>
                <a:cs typeface="Calibri" panose="020F0502020204030204"/>
              </a:rPr>
              <a:t>by:</a:t>
            </a:r>
            <a:endParaRPr sz="2100">
              <a:latin typeface="Calibri" panose="020F0502020204030204"/>
              <a:cs typeface="Calibri" panose="020F0502020204030204"/>
            </a:endParaRPr>
          </a:p>
          <a:p>
            <a:pPr marL="476250" indent="-463550">
              <a:lnSpc>
                <a:spcPct val="100000"/>
              </a:lnSpc>
              <a:spcBef>
                <a:spcPts val="260"/>
              </a:spcBef>
              <a:buFont typeface="Arial MT"/>
              <a:buChar char="•"/>
              <a:tabLst>
                <a:tab pos="476250" algn="l"/>
              </a:tabLst>
            </a:pPr>
            <a:r>
              <a:rPr sz="2100" dirty="0">
                <a:latin typeface="Calibri" panose="020F0502020204030204"/>
                <a:cs typeface="Calibri" panose="020F0502020204030204"/>
              </a:rPr>
              <a:t>54 Shantanu</a:t>
            </a:r>
            <a:r>
              <a:rPr sz="21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Sasane</a:t>
            </a:r>
            <a:r>
              <a:rPr sz="21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|</a:t>
            </a:r>
            <a:r>
              <a:rPr sz="210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59</a:t>
            </a:r>
            <a:r>
              <a:rPr sz="21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Harshal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Shinde</a:t>
            </a:r>
            <a:r>
              <a:rPr sz="21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|</a:t>
            </a:r>
            <a:r>
              <a:rPr sz="21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64 Rahul</a:t>
            </a:r>
            <a:r>
              <a:rPr sz="2100" spc="-8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Patil</a:t>
            </a:r>
            <a:endParaRPr sz="2100">
              <a:latin typeface="Calibri" panose="020F0502020204030204"/>
              <a:cs typeface="Calibri" panose="020F0502020204030204"/>
            </a:endParaRPr>
          </a:p>
          <a:p>
            <a:pPr marL="355600" indent="-342900">
              <a:lnSpc>
                <a:spcPct val="100000"/>
              </a:lnSpc>
              <a:spcBef>
                <a:spcPts val="260"/>
              </a:spcBef>
              <a:buFont typeface="Arial MT"/>
              <a:buChar char="•"/>
              <a:tabLst>
                <a:tab pos="355600" algn="l"/>
              </a:tabLst>
            </a:pPr>
            <a:r>
              <a:rPr sz="2100" dirty="0">
                <a:latin typeface="Calibri" panose="020F0502020204030204"/>
                <a:cs typeface="Calibri" panose="020F0502020204030204"/>
              </a:rPr>
              <a:t>66</a:t>
            </a:r>
            <a:r>
              <a:rPr sz="21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Ahmed</a:t>
            </a:r>
            <a:r>
              <a:rPr sz="21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Shaikh</a:t>
            </a:r>
            <a:r>
              <a:rPr sz="21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|</a:t>
            </a:r>
            <a:r>
              <a:rPr sz="21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67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Shantanu</a:t>
            </a:r>
            <a:r>
              <a:rPr sz="21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Shewale</a:t>
            </a:r>
            <a:r>
              <a:rPr sz="21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|</a:t>
            </a:r>
            <a:r>
              <a:rPr sz="21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68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Vinit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Takate</a:t>
            </a:r>
            <a:endParaRPr sz="21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470"/>
              </a:spcBef>
              <a:buFont typeface="Arial MT"/>
              <a:buChar char="•"/>
            </a:pPr>
            <a:endParaRPr sz="2100">
              <a:latin typeface="Calibri" panose="020F0502020204030204"/>
              <a:cs typeface="Calibri" panose="020F0502020204030204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41300" algn="l"/>
              </a:tabLst>
            </a:pPr>
            <a:r>
              <a:rPr sz="2100" dirty="0">
                <a:latin typeface="Calibri" panose="020F0502020204030204"/>
                <a:cs typeface="Calibri" panose="020F0502020204030204"/>
              </a:rPr>
              <a:t>Department</a:t>
            </a:r>
            <a:r>
              <a:rPr sz="21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of</a:t>
            </a:r>
            <a:r>
              <a:rPr sz="2100" spc="-114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Mechanical</a:t>
            </a:r>
            <a:r>
              <a:rPr sz="21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Engineering</a:t>
            </a:r>
            <a:endParaRPr sz="2100">
              <a:latin typeface="Calibri" panose="020F0502020204030204"/>
              <a:cs typeface="Calibri" panose="020F0502020204030204"/>
            </a:endParaRPr>
          </a:p>
          <a:p>
            <a:pPr marL="241300" indent="-228600">
              <a:lnSpc>
                <a:spcPct val="100000"/>
              </a:lnSpc>
              <a:spcBef>
                <a:spcPts val="260"/>
              </a:spcBef>
              <a:buFont typeface="Arial MT"/>
              <a:buChar char="•"/>
              <a:tabLst>
                <a:tab pos="241300" algn="l"/>
              </a:tabLst>
            </a:pPr>
            <a:r>
              <a:rPr sz="2100" spc="-10" dirty="0">
                <a:latin typeface="Calibri" panose="020F0502020204030204"/>
                <a:cs typeface="Calibri" panose="020F0502020204030204"/>
              </a:rPr>
              <a:t>Vishwakarma</a:t>
            </a:r>
            <a:r>
              <a:rPr sz="2100" spc="-9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Institute</a:t>
            </a:r>
            <a:r>
              <a:rPr sz="21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of</a:t>
            </a:r>
            <a:r>
              <a:rPr sz="2100" spc="-10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35" dirty="0">
                <a:latin typeface="Calibri" panose="020F0502020204030204"/>
                <a:cs typeface="Calibri" panose="020F0502020204030204"/>
              </a:rPr>
              <a:t>Technology,</a:t>
            </a:r>
            <a:r>
              <a:rPr sz="21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20" dirty="0">
                <a:latin typeface="Calibri" panose="020F0502020204030204"/>
                <a:cs typeface="Calibri" panose="020F0502020204030204"/>
              </a:rPr>
              <a:t>Pune</a:t>
            </a:r>
            <a:endParaRPr sz="2100">
              <a:latin typeface="Calibri" panose="020F0502020204030204"/>
              <a:cs typeface="Calibri" panose="020F0502020204030204"/>
            </a:endParaRPr>
          </a:p>
          <a:p>
            <a:pPr marL="241300" indent="-228600">
              <a:lnSpc>
                <a:spcPct val="100000"/>
              </a:lnSpc>
              <a:spcBef>
                <a:spcPts val="180"/>
              </a:spcBef>
              <a:buFont typeface="Arial MT"/>
              <a:buChar char="•"/>
              <a:tabLst>
                <a:tab pos="241300" algn="l"/>
              </a:tabLst>
            </a:pPr>
            <a:r>
              <a:rPr sz="2100" dirty="0">
                <a:latin typeface="Calibri" panose="020F0502020204030204"/>
                <a:cs typeface="Calibri" panose="020F0502020204030204"/>
              </a:rPr>
              <a:t>Sem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III,</a:t>
            </a:r>
            <a:r>
              <a:rPr sz="21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60" dirty="0">
                <a:latin typeface="Calibri" panose="020F0502020204030204"/>
                <a:cs typeface="Calibri" panose="020F0502020204030204"/>
              </a:rPr>
              <a:t>AY</a:t>
            </a:r>
            <a:r>
              <a:rPr sz="21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2025–26</a:t>
            </a:r>
            <a:endParaRPr sz="21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3667125" cy="6858000"/>
          </a:xfrm>
          <a:custGeom>
            <a:avLst/>
            <a:gdLst/>
            <a:ahLst/>
            <a:cxnLst/>
            <a:rect l="l" t="t" r="r" b="b"/>
            <a:pathLst>
              <a:path w="3667125" h="6858000">
                <a:moveTo>
                  <a:pt x="3667125" y="0"/>
                </a:moveTo>
                <a:lnTo>
                  <a:pt x="0" y="0"/>
                </a:lnTo>
                <a:lnTo>
                  <a:pt x="0" y="6858000"/>
                </a:lnTo>
                <a:lnTo>
                  <a:pt x="3667125" y="6858000"/>
                </a:lnTo>
                <a:lnTo>
                  <a:pt x="36671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71537" y="2932493"/>
            <a:ext cx="1920875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4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 panose="020F0502020204030204"/>
                <a:cs typeface="Calibri" panose="020F0502020204030204"/>
              </a:rPr>
              <a:t>Abstract</a:t>
            </a:r>
            <a:endParaRPr sz="44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200025"/>
            <a:ext cx="3810000" cy="6315075"/>
            <a:chOff x="0" y="200025"/>
            <a:chExt cx="3810000" cy="6315075"/>
          </a:xfrm>
        </p:grpSpPr>
        <p:sp>
          <p:nvSpPr>
            <p:cNvPr id="5" name="object 5"/>
            <p:cNvSpPr/>
            <p:nvPr/>
          </p:nvSpPr>
          <p:spPr>
            <a:xfrm>
              <a:off x="0" y="200024"/>
              <a:ext cx="1428750" cy="4919980"/>
            </a:xfrm>
            <a:custGeom>
              <a:avLst/>
              <a:gdLst/>
              <a:ahLst/>
              <a:cxnLst/>
              <a:rect l="l" t="t" r="r" b="b"/>
              <a:pathLst>
                <a:path w="1428750" h="4919980">
                  <a:moveTo>
                    <a:pt x="585787" y="4738751"/>
                  </a:moveTo>
                  <a:lnTo>
                    <a:pt x="578739" y="4681512"/>
                  </a:lnTo>
                  <a:lnTo>
                    <a:pt x="559130" y="4631817"/>
                  </a:lnTo>
                  <a:lnTo>
                    <a:pt x="529234" y="4592663"/>
                  </a:lnTo>
                  <a:lnTo>
                    <a:pt x="491324" y="4566996"/>
                  </a:lnTo>
                  <a:lnTo>
                    <a:pt x="447675" y="4557776"/>
                  </a:lnTo>
                  <a:lnTo>
                    <a:pt x="404012" y="4566996"/>
                  </a:lnTo>
                  <a:lnTo>
                    <a:pt x="366102" y="4592663"/>
                  </a:lnTo>
                  <a:lnTo>
                    <a:pt x="336207" y="4631817"/>
                  </a:lnTo>
                  <a:lnTo>
                    <a:pt x="316598" y="4681512"/>
                  </a:lnTo>
                  <a:lnTo>
                    <a:pt x="309562" y="4738751"/>
                  </a:lnTo>
                  <a:lnTo>
                    <a:pt x="316598" y="4795964"/>
                  </a:lnTo>
                  <a:lnTo>
                    <a:pt x="336207" y="4845634"/>
                  </a:lnTo>
                  <a:lnTo>
                    <a:pt x="366102" y="4884813"/>
                  </a:lnTo>
                  <a:lnTo>
                    <a:pt x="404012" y="4910506"/>
                  </a:lnTo>
                  <a:lnTo>
                    <a:pt x="447675" y="4919726"/>
                  </a:lnTo>
                  <a:lnTo>
                    <a:pt x="491324" y="4910506"/>
                  </a:lnTo>
                  <a:lnTo>
                    <a:pt x="529234" y="4884813"/>
                  </a:lnTo>
                  <a:lnTo>
                    <a:pt x="559130" y="4845634"/>
                  </a:lnTo>
                  <a:lnTo>
                    <a:pt x="578739" y="4795964"/>
                  </a:lnTo>
                  <a:lnTo>
                    <a:pt x="585787" y="4738751"/>
                  </a:lnTo>
                  <a:close/>
                </a:path>
                <a:path w="1428750" h="4919980">
                  <a:moveTo>
                    <a:pt x="1428750" y="687451"/>
                  </a:moveTo>
                  <a:lnTo>
                    <a:pt x="1245158" y="438150"/>
                  </a:lnTo>
                  <a:lnTo>
                    <a:pt x="1068832" y="677672"/>
                  </a:lnTo>
                  <a:lnTo>
                    <a:pt x="892517" y="438150"/>
                  </a:lnTo>
                  <a:lnTo>
                    <a:pt x="714375" y="677672"/>
                  </a:lnTo>
                  <a:lnTo>
                    <a:pt x="538048" y="438150"/>
                  </a:lnTo>
                  <a:lnTo>
                    <a:pt x="361734" y="677672"/>
                  </a:lnTo>
                  <a:lnTo>
                    <a:pt x="183591" y="438150"/>
                  </a:lnTo>
                  <a:lnTo>
                    <a:pt x="0" y="687451"/>
                  </a:lnTo>
                  <a:lnTo>
                    <a:pt x="14541" y="704596"/>
                  </a:lnTo>
                  <a:lnTo>
                    <a:pt x="183591" y="477266"/>
                  </a:lnTo>
                  <a:lnTo>
                    <a:pt x="361734" y="714375"/>
                  </a:lnTo>
                  <a:lnTo>
                    <a:pt x="538048" y="477266"/>
                  </a:lnTo>
                  <a:lnTo>
                    <a:pt x="714375" y="714375"/>
                  </a:lnTo>
                  <a:lnTo>
                    <a:pt x="892517" y="477266"/>
                  </a:lnTo>
                  <a:lnTo>
                    <a:pt x="1068832" y="714375"/>
                  </a:lnTo>
                  <a:lnTo>
                    <a:pt x="1245158" y="477266"/>
                  </a:lnTo>
                  <a:lnTo>
                    <a:pt x="1416050" y="704596"/>
                  </a:lnTo>
                  <a:lnTo>
                    <a:pt x="1428750" y="687451"/>
                  </a:lnTo>
                  <a:close/>
                </a:path>
                <a:path w="1428750" h="4919980">
                  <a:moveTo>
                    <a:pt x="1428750" y="246888"/>
                  </a:moveTo>
                  <a:lnTo>
                    <a:pt x="1245158" y="0"/>
                  </a:lnTo>
                  <a:lnTo>
                    <a:pt x="1068832" y="237109"/>
                  </a:lnTo>
                  <a:lnTo>
                    <a:pt x="892517" y="0"/>
                  </a:lnTo>
                  <a:lnTo>
                    <a:pt x="714375" y="237109"/>
                  </a:lnTo>
                  <a:lnTo>
                    <a:pt x="538048" y="0"/>
                  </a:lnTo>
                  <a:lnTo>
                    <a:pt x="361734" y="237109"/>
                  </a:lnTo>
                  <a:lnTo>
                    <a:pt x="183591" y="0"/>
                  </a:lnTo>
                  <a:lnTo>
                    <a:pt x="0" y="246888"/>
                  </a:lnTo>
                  <a:lnTo>
                    <a:pt x="14541" y="266446"/>
                  </a:lnTo>
                  <a:lnTo>
                    <a:pt x="183591" y="39128"/>
                  </a:lnTo>
                  <a:lnTo>
                    <a:pt x="361734" y="276225"/>
                  </a:lnTo>
                  <a:lnTo>
                    <a:pt x="538048" y="39128"/>
                  </a:lnTo>
                  <a:lnTo>
                    <a:pt x="714375" y="276225"/>
                  </a:lnTo>
                  <a:lnTo>
                    <a:pt x="892517" y="39128"/>
                  </a:lnTo>
                  <a:lnTo>
                    <a:pt x="1068832" y="276225"/>
                  </a:lnTo>
                  <a:lnTo>
                    <a:pt x="1245158" y="39128"/>
                  </a:lnTo>
                  <a:lnTo>
                    <a:pt x="1416050" y="266446"/>
                  </a:lnTo>
                  <a:lnTo>
                    <a:pt x="1428750" y="2468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09562" y="4757801"/>
              <a:ext cx="276225" cy="361950"/>
            </a:xfrm>
            <a:custGeom>
              <a:avLst/>
              <a:gdLst/>
              <a:ahLst/>
              <a:cxnLst/>
              <a:rect l="l" t="t" r="r" b="b"/>
              <a:pathLst>
                <a:path w="276225" h="361950">
                  <a:moveTo>
                    <a:pt x="0" y="180975"/>
                  </a:moveTo>
                  <a:lnTo>
                    <a:pt x="7041" y="123724"/>
                  </a:lnTo>
                  <a:lnTo>
                    <a:pt x="26648" y="74038"/>
                  </a:lnTo>
                  <a:lnTo>
                    <a:pt x="56545" y="34881"/>
                  </a:lnTo>
                  <a:lnTo>
                    <a:pt x="94458" y="9214"/>
                  </a:lnTo>
                  <a:lnTo>
                    <a:pt x="138112" y="0"/>
                  </a:lnTo>
                  <a:lnTo>
                    <a:pt x="181766" y="9214"/>
                  </a:lnTo>
                  <a:lnTo>
                    <a:pt x="219679" y="34881"/>
                  </a:lnTo>
                  <a:lnTo>
                    <a:pt x="249576" y="74038"/>
                  </a:lnTo>
                  <a:lnTo>
                    <a:pt x="269183" y="123724"/>
                  </a:lnTo>
                  <a:lnTo>
                    <a:pt x="276225" y="180975"/>
                  </a:lnTo>
                  <a:lnTo>
                    <a:pt x="269183" y="238176"/>
                  </a:lnTo>
                  <a:lnTo>
                    <a:pt x="249576" y="287856"/>
                  </a:lnTo>
                  <a:lnTo>
                    <a:pt x="219679" y="327032"/>
                  </a:lnTo>
                  <a:lnTo>
                    <a:pt x="181766" y="352723"/>
                  </a:lnTo>
                  <a:lnTo>
                    <a:pt x="138112" y="361950"/>
                  </a:lnTo>
                  <a:lnTo>
                    <a:pt x="94458" y="352723"/>
                  </a:lnTo>
                  <a:lnTo>
                    <a:pt x="56545" y="327032"/>
                  </a:lnTo>
                  <a:lnTo>
                    <a:pt x="26648" y="287856"/>
                  </a:lnTo>
                  <a:lnTo>
                    <a:pt x="7041" y="238176"/>
                  </a:lnTo>
                  <a:lnTo>
                    <a:pt x="0" y="180975"/>
                  </a:lnTo>
                  <a:close/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09562" y="4757801"/>
              <a:ext cx="276225" cy="361950"/>
            </a:xfrm>
            <a:custGeom>
              <a:avLst/>
              <a:gdLst/>
              <a:ahLst/>
              <a:cxnLst/>
              <a:rect l="l" t="t" r="r" b="b"/>
              <a:pathLst>
                <a:path w="276225" h="361950">
                  <a:moveTo>
                    <a:pt x="138112" y="0"/>
                  </a:moveTo>
                  <a:lnTo>
                    <a:pt x="94458" y="9214"/>
                  </a:lnTo>
                  <a:lnTo>
                    <a:pt x="56545" y="34881"/>
                  </a:lnTo>
                  <a:lnTo>
                    <a:pt x="26648" y="74038"/>
                  </a:lnTo>
                  <a:lnTo>
                    <a:pt x="7041" y="123724"/>
                  </a:lnTo>
                  <a:lnTo>
                    <a:pt x="0" y="180975"/>
                  </a:lnTo>
                  <a:lnTo>
                    <a:pt x="7041" y="238176"/>
                  </a:lnTo>
                  <a:lnTo>
                    <a:pt x="26648" y="287856"/>
                  </a:lnTo>
                  <a:lnTo>
                    <a:pt x="56545" y="327032"/>
                  </a:lnTo>
                  <a:lnTo>
                    <a:pt x="94458" y="352723"/>
                  </a:lnTo>
                  <a:lnTo>
                    <a:pt x="138112" y="361950"/>
                  </a:lnTo>
                  <a:lnTo>
                    <a:pt x="181766" y="352723"/>
                  </a:lnTo>
                  <a:lnTo>
                    <a:pt x="219679" y="327032"/>
                  </a:lnTo>
                  <a:lnTo>
                    <a:pt x="249576" y="287856"/>
                  </a:lnTo>
                  <a:lnTo>
                    <a:pt x="269183" y="238176"/>
                  </a:lnTo>
                  <a:lnTo>
                    <a:pt x="276225" y="180975"/>
                  </a:lnTo>
                  <a:lnTo>
                    <a:pt x="269183" y="123724"/>
                  </a:lnTo>
                  <a:lnTo>
                    <a:pt x="249576" y="74038"/>
                  </a:lnTo>
                  <a:lnTo>
                    <a:pt x="219679" y="34881"/>
                  </a:lnTo>
                  <a:lnTo>
                    <a:pt x="181766" y="9214"/>
                  </a:lnTo>
                  <a:lnTo>
                    <a:pt x="138112" y="0"/>
                  </a:lnTo>
                  <a:close/>
                </a:path>
              </a:pathLst>
            </a:custGeom>
            <a:solidFill>
              <a:srgbClr val="F79546">
                <a:alpha val="3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09562" y="4757801"/>
              <a:ext cx="276225" cy="361950"/>
            </a:xfrm>
            <a:custGeom>
              <a:avLst/>
              <a:gdLst/>
              <a:ahLst/>
              <a:cxnLst/>
              <a:rect l="l" t="t" r="r" b="b"/>
              <a:pathLst>
                <a:path w="276225" h="361950">
                  <a:moveTo>
                    <a:pt x="0" y="180975"/>
                  </a:moveTo>
                  <a:lnTo>
                    <a:pt x="7041" y="123724"/>
                  </a:lnTo>
                  <a:lnTo>
                    <a:pt x="26648" y="74038"/>
                  </a:lnTo>
                  <a:lnTo>
                    <a:pt x="56545" y="34881"/>
                  </a:lnTo>
                  <a:lnTo>
                    <a:pt x="94458" y="9214"/>
                  </a:lnTo>
                  <a:lnTo>
                    <a:pt x="138112" y="0"/>
                  </a:lnTo>
                  <a:lnTo>
                    <a:pt x="181766" y="9214"/>
                  </a:lnTo>
                  <a:lnTo>
                    <a:pt x="219679" y="34881"/>
                  </a:lnTo>
                  <a:lnTo>
                    <a:pt x="249576" y="74038"/>
                  </a:lnTo>
                  <a:lnTo>
                    <a:pt x="269183" y="123724"/>
                  </a:lnTo>
                  <a:lnTo>
                    <a:pt x="276225" y="180975"/>
                  </a:lnTo>
                  <a:lnTo>
                    <a:pt x="269183" y="238176"/>
                  </a:lnTo>
                  <a:lnTo>
                    <a:pt x="249576" y="287856"/>
                  </a:lnTo>
                  <a:lnTo>
                    <a:pt x="219679" y="327032"/>
                  </a:lnTo>
                  <a:lnTo>
                    <a:pt x="181766" y="352723"/>
                  </a:lnTo>
                  <a:lnTo>
                    <a:pt x="138112" y="361950"/>
                  </a:lnTo>
                  <a:lnTo>
                    <a:pt x="94458" y="352723"/>
                  </a:lnTo>
                  <a:lnTo>
                    <a:pt x="56545" y="327032"/>
                  </a:lnTo>
                  <a:lnTo>
                    <a:pt x="26648" y="287856"/>
                  </a:lnTo>
                  <a:lnTo>
                    <a:pt x="7041" y="238176"/>
                  </a:lnTo>
                  <a:lnTo>
                    <a:pt x="0" y="180975"/>
                  </a:lnTo>
                  <a:close/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124200" y="5591175"/>
              <a:ext cx="152400" cy="20955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086100" y="5543550"/>
              <a:ext cx="723900" cy="971550"/>
            </a:xfrm>
            <a:custGeom>
              <a:avLst/>
              <a:gdLst/>
              <a:ahLst/>
              <a:cxnLst/>
              <a:rect l="l" t="t" r="r" b="b"/>
              <a:pathLst>
                <a:path w="723900" h="971550">
                  <a:moveTo>
                    <a:pt x="314325" y="0"/>
                  </a:moveTo>
                  <a:lnTo>
                    <a:pt x="4826" y="381317"/>
                  </a:lnTo>
                  <a:lnTo>
                    <a:pt x="0" y="419100"/>
                  </a:lnTo>
                  <a:lnTo>
                    <a:pt x="314325" y="0"/>
                  </a:lnTo>
                  <a:close/>
                </a:path>
                <a:path w="723900" h="971550">
                  <a:moveTo>
                    <a:pt x="400050" y="2286"/>
                  </a:moveTo>
                  <a:lnTo>
                    <a:pt x="385699" y="0"/>
                  </a:lnTo>
                  <a:lnTo>
                    <a:pt x="378460" y="0"/>
                  </a:lnTo>
                  <a:lnTo>
                    <a:pt x="0" y="504558"/>
                  </a:lnTo>
                  <a:lnTo>
                    <a:pt x="139" y="511810"/>
                  </a:lnTo>
                  <a:lnTo>
                    <a:pt x="1651" y="533400"/>
                  </a:lnTo>
                  <a:lnTo>
                    <a:pt x="400050" y="2286"/>
                  </a:lnTo>
                  <a:close/>
                </a:path>
                <a:path w="723900" h="971550">
                  <a:moveTo>
                    <a:pt x="466725" y="16637"/>
                  </a:moveTo>
                  <a:lnTo>
                    <a:pt x="460756" y="14097"/>
                  </a:lnTo>
                  <a:lnTo>
                    <a:pt x="454660" y="12700"/>
                  </a:lnTo>
                  <a:lnTo>
                    <a:pt x="448691" y="9525"/>
                  </a:lnTo>
                  <a:lnTo>
                    <a:pt x="9525" y="603999"/>
                  </a:lnTo>
                  <a:lnTo>
                    <a:pt x="12700" y="620610"/>
                  </a:lnTo>
                  <a:lnTo>
                    <a:pt x="14732" y="628650"/>
                  </a:lnTo>
                  <a:lnTo>
                    <a:pt x="466725" y="16637"/>
                  </a:lnTo>
                  <a:close/>
                </a:path>
                <a:path w="723900" h="971550">
                  <a:moveTo>
                    <a:pt x="533400" y="48374"/>
                  </a:moveTo>
                  <a:lnTo>
                    <a:pt x="522986" y="41275"/>
                  </a:lnTo>
                  <a:lnTo>
                    <a:pt x="517525" y="38100"/>
                  </a:lnTo>
                  <a:lnTo>
                    <a:pt x="28575" y="683945"/>
                  </a:lnTo>
                  <a:lnTo>
                    <a:pt x="33528" y="698055"/>
                  </a:lnTo>
                  <a:lnTo>
                    <a:pt x="36322" y="704850"/>
                  </a:lnTo>
                  <a:lnTo>
                    <a:pt x="533400" y="48374"/>
                  </a:lnTo>
                  <a:close/>
                </a:path>
                <a:path w="723900" h="971550">
                  <a:moveTo>
                    <a:pt x="581025" y="89623"/>
                  </a:moveTo>
                  <a:lnTo>
                    <a:pt x="576580" y="85026"/>
                  </a:lnTo>
                  <a:lnTo>
                    <a:pt x="567309" y="76200"/>
                  </a:lnTo>
                  <a:lnTo>
                    <a:pt x="57150" y="763397"/>
                  </a:lnTo>
                  <a:lnTo>
                    <a:pt x="60452" y="768692"/>
                  </a:lnTo>
                  <a:lnTo>
                    <a:pt x="63754" y="775042"/>
                  </a:lnTo>
                  <a:lnTo>
                    <a:pt x="67183" y="781050"/>
                  </a:lnTo>
                  <a:lnTo>
                    <a:pt x="581025" y="89623"/>
                  </a:lnTo>
                  <a:close/>
                </a:path>
                <a:path w="723900" h="971550">
                  <a:moveTo>
                    <a:pt x="628650" y="149034"/>
                  </a:moveTo>
                  <a:lnTo>
                    <a:pt x="622681" y="141198"/>
                  </a:lnTo>
                  <a:lnTo>
                    <a:pt x="620776" y="138226"/>
                  </a:lnTo>
                  <a:lnTo>
                    <a:pt x="616585" y="133350"/>
                  </a:lnTo>
                  <a:lnTo>
                    <a:pt x="95250" y="822337"/>
                  </a:lnTo>
                  <a:lnTo>
                    <a:pt x="99060" y="827747"/>
                  </a:lnTo>
                  <a:lnTo>
                    <a:pt x="101219" y="830351"/>
                  </a:lnTo>
                  <a:lnTo>
                    <a:pt x="107061" y="838200"/>
                  </a:lnTo>
                  <a:lnTo>
                    <a:pt x="628650" y="149034"/>
                  </a:lnTo>
                  <a:close/>
                </a:path>
                <a:path w="723900" h="971550">
                  <a:moveTo>
                    <a:pt x="666750" y="207911"/>
                  </a:moveTo>
                  <a:lnTo>
                    <a:pt x="663448" y="202514"/>
                  </a:lnTo>
                  <a:lnTo>
                    <a:pt x="660146" y="196418"/>
                  </a:lnTo>
                  <a:lnTo>
                    <a:pt x="656590" y="190500"/>
                  </a:lnTo>
                  <a:lnTo>
                    <a:pt x="142875" y="872413"/>
                  </a:lnTo>
                  <a:lnTo>
                    <a:pt x="146685" y="877112"/>
                  </a:lnTo>
                  <a:lnTo>
                    <a:pt x="155956" y="885825"/>
                  </a:lnTo>
                  <a:lnTo>
                    <a:pt x="666750" y="207911"/>
                  </a:lnTo>
                  <a:close/>
                </a:path>
                <a:path w="723900" h="971550">
                  <a:moveTo>
                    <a:pt x="695325" y="278409"/>
                  </a:moveTo>
                  <a:lnTo>
                    <a:pt x="690372" y="264312"/>
                  </a:lnTo>
                  <a:lnTo>
                    <a:pt x="687578" y="257175"/>
                  </a:lnTo>
                  <a:lnTo>
                    <a:pt x="190500" y="913650"/>
                  </a:lnTo>
                  <a:lnTo>
                    <a:pt x="195961" y="917308"/>
                  </a:lnTo>
                  <a:lnTo>
                    <a:pt x="206616" y="923925"/>
                  </a:lnTo>
                  <a:lnTo>
                    <a:pt x="695325" y="278409"/>
                  </a:lnTo>
                  <a:close/>
                </a:path>
                <a:path w="723900" h="971550">
                  <a:moveTo>
                    <a:pt x="714375" y="367169"/>
                  </a:moveTo>
                  <a:lnTo>
                    <a:pt x="711200" y="350824"/>
                  </a:lnTo>
                  <a:lnTo>
                    <a:pt x="709168" y="342900"/>
                  </a:lnTo>
                  <a:lnTo>
                    <a:pt x="257175" y="945616"/>
                  </a:lnTo>
                  <a:lnTo>
                    <a:pt x="263144" y="948194"/>
                  </a:lnTo>
                  <a:lnTo>
                    <a:pt x="275336" y="952500"/>
                  </a:lnTo>
                  <a:lnTo>
                    <a:pt x="714375" y="367169"/>
                  </a:lnTo>
                  <a:close/>
                </a:path>
                <a:path w="723900" h="971550">
                  <a:moveTo>
                    <a:pt x="723900" y="542925"/>
                  </a:moveTo>
                  <a:lnTo>
                    <a:pt x="409575" y="971550"/>
                  </a:lnTo>
                  <a:lnTo>
                    <a:pt x="423710" y="968743"/>
                  </a:lnTo>
                  <a:lnTo>
                    <a:pt x="437769" y="964996"/>
                  </a:lnTo>
                  <a:lnTo>
                    <a:pt x="719201" y="581215"/>
                  </a:lnTo>
                  <a:lnTo>
                    <a:pt x="721880" y="562140"/>
                  </a:lnTo>
                  <a:lnTo>
                    <a:pt x="723900" y="542925"/>
                  </a:lnTo>
                  <a:close/>
                </a:path>
                <a:path w="723900" h="971550">
                  <a:moveTo>
                    <a:pt x="723900" y="457987"/>
                  </a:moveTo>
                  <a:lnTo>
                    <a:pt x="722249" y="428625"/>
                  </a:lnTo>
                  <a:lnTo>
                    <a:pt x="323850" y="969264"/>
                  </a:lnTo>
                  <a:lnTo>
                    <a:pt x="338328" y="971550"/>
                  </a:lnTo>
                  <a:lnTo>
                    <a:pt x="345440" y="971550"/>
                  </a:lnTo>
                  <a:lnTo>
                    <a:pt x="723900" y="4579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19500" y="6257925"/>
              <a:ext cx="152400" cy="200025"/>
            </a:xfrm>
            <a:prstGeom prst="rect">
              <a:avLst/>
            </a:prstGeom>
          </p:spPr>
        </p:pic>
      </p:grpSp>
      <p:grpSp>
        <p:nvGrpSpPr>
          <p:cNvPr id="12" name="object 12"/>
          <p:cNvGrpSpPr/>
          <p:nvPr/>
        </p:nvGrpSpPr>
        <p:grpSpPr>
          <a:xfrm>
            <a:off x="4114800" y="485775"/>
            <a:ext cx="4724400" cy="971550"/>
            <a:chOff x="4114800" y="485775"/>
            <a:chExt cx="4724400" cy="971550"/>
          </a:xfrm>
        </p:grpSpPr>
        <p:sp>
          <p:nvSpPr>
            <p:cNvPr id="13" name="object 13"/>
            <p:cNvSpPr/>
            <p:nvPr/>
          </p:nvSpPr>
          <p:spPr>
            <a:xfrm>
              <a:off x="4114800" y="485775"/>
              <a:ext cx="4724400" cy="971550"/>
            </a:xfrm>
            <a:custGeom>
              <a:avLst/>
              <a:gdLst/>
              <a:ahLst/>
              <a:cxnLst/>
              <a:rect l="l" t="t" r="r" b="b"/>
              <a:pathLst>
                <a:path w="4724400" h="971550">
                  <a:moveTo>
                    <a:pt x="4627245" y="0"/>
                  </a:moveTo>
                  <a:lnTo>
                    <a:pt x="97154" y="0"/>
                  </a:lnTo>
                  <a:lnTo>
                    <a:pt x="59310" y="7625"/>
                  </a:lnTo>
                  <a:lnTo>
                    <a:pt x="28432" y="28432"/>
                  </a:lnTo>
                  <a:lnTo>
                    <a:pt x="7625" y="59310"/>
                  </a:lnTo>
                  <a:lnTo>
                    <a:pt x="0" y="97154"/>
                  </a:lnTo>
                  <a:lnTo>
                    <a:pt x="0" y="874395"/>
                  </a:lnTo>
                  <a:lnTo>
                    <a:pt x="7625" y="912185"/>
                  </a:lnTo>
                  <a:lnTo>
                    <a:pt x="28432" y="943070"/>
                  </a:lnTo>
                  <a:lnTo>
                    <a:pt x="59310" y="963906"/>
                  </a:lnTo>
                  <a:lnTo>
                    <a:pt x="97154" y="971550"/>
                  </a:lnTo>
                  <a:lnTo>
                    <a:pt x="4627245" y="971550"/>
                  </a:lnTo>
                  <a:lnTo>
                    <a:pt x="4665035" y="963906"/>
                  </a:lnTo>
                  <a:lnTo>
                    <a:pt x="4695920" y="943070"/>
                  </a:lnTo>
                  <a:lnTo>
                    <a:pt x="4716756" y="912185"/>
                  </a:lnTo>
                  <a:lnTo>
                    <a:pt x="4724400" y="874395"/>
                  </a:lnTo>
                  <a:lnTo>
                    <a:pt x="4724400" y="97154"/>
                  </a:lnTo>
                  <a:lnTo>
                    <a:pt x="4716756" y="59310"/>
                  </a:lnTo>
                  <a:lnTo>
                    <a:pt x="4695920" y="28432"/>
                  </a:lnTo>
                  <a:lnTo>
                    <a:pt x="4665035" y="7625"/>
                  </a:lnTo>
                  <a:lnTo>
                    <a:pt x="4627245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97656" y="754495"/>
              <a:ext cx="358479" cy="433783"/>
            </a:xfrm>
            <a:prstGeom prst="rect">
              <a:avLst/>
            </a:prstGeom>
          </p:spPr>
        </p:pic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4404360" marR="5080">
              <a:lnSpc>
                <a:spcPct val="92000"/>
              </a:lnSpc>
              <a:spcBef>
                <a:spcPts val="270"/>
              </a:spcBef>
            </a:pPr>
            <a:r>
              <a:rPr sz="1800" u="none" dirty="0">
                <a:solidFill>
                  <a:srgbClr val="FFFFFF"/>
                </a:solidFill>
              </a:rPr>
              <a:t>Project</a:t>
            </a:r>
            <a:r>
              <a:rPr sz="1800" u="none" spc="-100" dirty="0">
                <a:solidFill>
                  <a:srgbClr val="FFFFFF"/>
                </a:solidFill>
              </a:rPr>
              <a:t> </a:t>
            </a:r>
            <a:r>
              <a:rPr sz="1800" u="none" dirty="0">
                <a:solidFill>
                  <a:srgbClr val="FFFFFF"/>
                </a:solidFill>
              </a:rPr>
              <a:t>focuses</a:t>
            </a:r>
            <a:r>
              <a:rPr sz="1800" u="none" spc="-50" dirty="0">
                <a:solidFill>
                  <a:srgbClr val="FFFFFF"/>
                </a:solidFill>
              </a:rPr>
              <a:t> </a:t>
            </a:r>
            <a:r>
              <a:rPr sz="1800" u="none" dirty="0">
                <a:solidFill>
                  <a:srgbClr val="FFFFFF"/>
                </a:solidFill>
              </a:rPr>
              <a:t>on</a:t>
            </a:r>
            <a:r>
              <a:rPr sz="1800" u="none" spc="-70" dirty="0">
                <a:solidFill>
                  <a:srgbClr val="FFFFFF"/>
                </a:solidFill>
              </a:rPr>
              <a:t> </a:t>
            </a:r>
            <a:r>
              <a:rPr sz="1800" u="none" dirty="0">
                <a:solidFill>
                  <a:srgbClr val="FFFFFF"/>
                </a:solidFill>
              </a:rPr>
              <a:t>structural</a:t>
            </a:r>
            <a:r>
              <a:rPr sz="1800" u="none" spc="-65" dirty="0">
                <a:solidFill>
                  <a:srgbClr val="FFFFFF"/>
                </a:solidFill>
              </a:rPr>
              <a:t> </a:t>
            </a:r>
            <a:r>
              <a:rPr sz="1800" u="none" spc="-25" dirty="0">
                <a:solidFill>
                  <a:srgbClr val="FFFFFF"/>
                </a:solidFill>
              </a:rPr>
              <a:t>and </a:t>
            </a:r>
            <a:r>
              <a:rPr sz="1800" u="none" dirty="0">
                <a:solidFill>
                  <a:srgbClr val="FFFFFF"/>
                </a:solidFill>
              </a:rPr>
              <a:t>torsional</a:t>
            </a:r>
            <a:r>
              <a:rPr sz="1800" u="none" spc="-50" dirty="0">
                <a:solidFill>
                  <a:srgbClr val="FFFFFF"/>
                </a:solidFill>
              </a:rPr>
              <a:t> </a:t>
            </a:r>
            <a:r>
              <a:rPr sz="1800" u="none" dirty="0">
                <a:solidFill>
                  <a:srgbClr val="FFFFFF"/>
                </a:solidFill>
              </a:rPr>
              <a:t>behavior</a:t>
            </a:r>
            <a:r>
              <a:rPr sz="1800" u="none" spc="-40" dirty="0">
                <a:solidFill>
                  <a:srgbClr val="FFFFFF"/>
                </a:solidFill>
              </a:rPr>
              <a:t> </a:t>
            </a:r>
            <a:r>
              <a:rPr sz="1800" u="none" dirty="0">
                <a:solidFill>
                  <a:srgbClr val="FFFFFF"/>
                </a:solidFill>
              </a:rPr>
              <a:t>of</a:t>
            </a:r>
            <a:r>
              <a:rPr sz="1800" u="none" spc="-100" dirty="0">
                <a:solidFill>
                  <a:srgbClr val="FFFFFF"/>
                </a:solidFill>
              </a:rPr>
              <a:t> </a:t>
            </a:r>
            <a:r>
              <a:rPr sz="1800" u="none" dirty="0">
                <a:solidFill>
                  <a:srgbClr val="FFFFFF"/>
                </a:solidFill>
              </a:rPr>
              <a:t>a</a:t>
            </a:r>
            <a:r>
              <a:rPr sz="1800" u="none" spc="-45" dirty="0">
                <a:solidFill>
                  <a:srgbClr val="FFFFFF"/>
                </a:solidFill>
              </a:rPr>
              <a:t> </a:t>
            </a:r>
            <a:r>
              <a:rPr sz="1800" u="none" spc="-10" dirty="0">
                <a:solidFill>
                  <a:srgbClr val="FFFFFF"/>
                </a:solidFill>
              </a:rPr>
              <a:t>differential </a:t>
            </a:r>
            <a:r>
              <a:rPr sz="1800" u="none" dirty="0">
                <a:solidFill>
                  <a:srgbClr val="FFFFFF"/>
                </a:solidFill>
              </a:rPr>
              <a:t>gearbox</a:t>
            </a:r>
            <a:r>
              <a:rPr sz="1800" u="none" spc="-80" dirty="0">
                <a:solidFill>
                  <a:srgbClr val="FFFFFF"/>
                </a:solidFill>
              </a:rPr>
              <a:t> </a:t>
            </a:r>
            <a:r>
              <a:rPr sz="1800" u="none" spc="-10" dirty="0">
                <a:solidFill>
                  <a:srgbClr val="FFFFFF"/>
                </a:solidFill>
              </a:rPr>
              <a:t>shaft.</a:t>
            </a:r>
            <a:endParaRPr sz="1800"/>
          </a:p>
        </p:txBody>
      </p:sp>
      <p:grpSp>
        <p:nvGrpSpPr>
          <p:cNvPr id="16" name="object 16"/>
          <p:cNvGrpSpPr/>
          <p:nvPr/>
        </p:nvGrpSpPr>
        <p:grpSpPr>
          <a:xfrm>
            <a:off x="4114800" y="1704975"/>
            <a:ext cx="4724400" cy="981075"/>
            <a:chOff x="4114800" y="1704975"/>
            <a:chExt cx="4724400" cy="981075"/>
          </a:xfrm>
        </p:grpSpPr>
        <p:sp>
          <p:nvSpPr>
            <p:cNvPr id="17" name="object 17"/>
            <p:cNvSpPr/>
            <p:nvPr/>
          </p:nvSpPr>
          <p:spPr>
            <a:xfrm>
              <a:off x="4114800" y="1704975"/>
              <a:ext cx="4724400" cy="981075"/>
            </a:xfrm>
            <a:custGeom>
              <a:avLst/>
              <a:gdLst/>
              <a:ahLst/>
              <a:cxnLst/>
              <a:rect l="l" t="t" r="r" b="b"/>
              <a:pathLst>
                <a:path w="4724400" h="981075">
                  <a:moveTo>
                    <a:pt x="4626356" y="0"/>
                  </a:moveTo>
                  <a:lnTo>
                    <a:pt x="98171" y="0"/>
                  </a:lnTo>
                  <a:lnTo>
                    <a:pt x="59953" y="7713"/>
                  </a:lnTo>
                  <a:lnTo>
                    <a:pt x="28749" y="28749"/>
                  </a:lnTo>
                  <a:lnTo>
                    <a:pt x="7713" y="59953"/>
                  </a:lnTo>
                  <a:lnTo>
                    <a:pt x="0" y="98171"/>
                  </a:lnTo>
                  <a:lnTo>
                    <a:pt x="0" y="882903"/>
                  </a:lnTo>
                  <a:lnTo>
                    <a:pt x="7713" y="921121"/>
                  </a:lnTo>
                  <a:lnTo>
                    <a:pt x="28749" y="952325"/>
                  </a:lnTo>
                  <a:lnTo>
                    <a:pt x="59953" y="973361"/>
                  </a:lnTo>
                  <a:lnTo>
                    <a:pt x="98171" y="981075"/>
                  </a:lnTo>
                  <a:lnTo>
                    <a:pt x="4626229" y="981075"/>
                  </a:lnTo>
                  <a:lnTo>
                    <a:pt x="4664446" y="973363"/>
                  </a:lnTo>
                  <a:lnTo>
                    <a:pt x="4695650" y="952341"/>
                  </a:lnTo>
                  <a:lnTo>
                    <a:pt x="4716686" y="921174"/>
                  </a:lnTo>
                  <a:lnTo>
                    <a:pt x="4724400" y="883030"/>
                  </a:lnTo>
                  <a:lnTo>
                    <a:pt x="4724400" y="98171"/>
                  </a:lnTo>
                  <a:lnTo>
                    <a:pt x="4716688" y="59953"/>
                  </a:lnTo>
                  <a:lnTo>
                    <a:pt x="4695666" y="28749"/>
                  </a:lnTo>
                  <a:lnTo>
                    <a:pt x="4664499" y="7713"/>
                  </a:lnTo>
                  <a:lnTo>
                    <a:pt x="4626356" y="0"/>
                  </a:lnTo>
                  <a:close/>
                </a:path>
              </a:pathLst>
            </a:custGeom>
            <a:solidFill>
              <a:srgbClr val="9BBA5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95457" y="2010953"/>
              <a:ext cx="362878" cy="367903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5339460" y="1894903"/>
            <a:ext cx="3381375" cy="54800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>
              <a:lnSpc>
                <a:spcPts val="1950"/>
              </a:lnSpc>
              <a:spcBef>
                <a:spcPts val="340"/>
              </a:spcBef>
            </a:pPr>
            <a:r>
              <a:rPr sz="18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Model</a:t>
            </a:r>
            <a:r>
              <a:rPr sz="1800" spc="-4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created</a:t>
            </a:r>
            <a:r>
              <a:rPr sz="1800" spc="-5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using</a:t>
            </a:r>
            <a:r>
              <a:rPr sz="1800" spc="-3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Fusion</a:t>
            </a:r>
            <a:r>
              <a:rPr sz="1800" spc="-5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360</a:t>
            </a:r>
            <a:r>
              <a:rPr sz="1800" spc="-2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and </a:t>
            </a:r>
            <a:r>
              <a:rPr sz="180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analyzed</a:t>
            </a:r>
            <a:r>
              <a:rPr sz="1800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in</a:t>
            </a:r>
            <a:r>
              <a:rPr sz="1800" spc="-3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ANSYS</a:t>
            </a:r>
            <a:r>
              <a:rPr sz="1800" spc="-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2025</a:t>
            </a:r>
            <a:r>
              <a:rPr sz="1800" spc="-6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R2.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114800" y="2924175"/>
            <a:ext cx="4724400" cy="981075"/>
            <a:chOff x="4114800" y="2924175"/>
            <a:chExt cx="4724400" cy="981075"/>
          </a:xfrm>
        </p:grpSpPr>
        <p:sp>
          <p:nvSpPr>
            <p:cNvPr id="21" name="object 21"/>
            <p:cNvSpPr/>
            <p:nvPr/>
          </p:nvSpPr>
          <p:spPr>
            <a:xfrm>
              <a:off x="4114800" y="2924175"/>
              <a:ext cx="4724400" cy="981075"/>
            </a:xfrm>
            <a:custGeom>
              <a:avLst/>
              <a:gdLst/>
              <a:ahLst/>
              <a:cxnLst/>
              <a:rect l="l" t="t" r="r" b="b"/>
              <a:pathLst>
                <a:path w="4724400" h="981075">
                  <a:moveTo>
                    <a:pt x="4626356" y="0"/>
                  </a:moveTo>
                  <a:lnTo>
                    <a:pt x="98171" y="0"/>
                  </a:lnTo>
                  <a:lnTo>
                    <a:pt x="59953" y="7713"/>
                  </a:lnTo>
                  <a:lnTo>
                    <a:pt x="28749" y="28749"/>
                  </a:lnTo>
                  <a:lnTo>
                    <a:pt x="7713" y="59953"/>
                  </a:lnTo>
                  <a:lnTo>
                    <a:pt x="0" y="98171"/>
                  </a:lnTo>
                  <a:lnTo>
                    <a:pt x="0" y="882904"/>
                  </a:lnTo>
                  <a:lnTo>
                    <a:pt x="7713" y="921121"/>
                  </a:lnTo>
                  <a:lnTo>
                    <a:pt x="28749" y="952325"/>
                  </a:lnTo>
                  <a:lnTo>
                    <a:pt x="59953" y="973361"/>
                  </a:lnTo>
                  <a:lnTo>
                    <a:pt x="98171" y="981075"/>
                  </a:lnTo>
                  <a:lnTo>
                    <a:pt x="4626229" y="981075"/>
                  </a:lnTo>
                  <a:lnTo>
                    <a:pt x="4664446" y="973363"/>
                  </a:lnTo>
                  <a:lnTo>
                    <a:pt x="4695650" y="952341"/>
                  </a:lnTo>
                  <a:lnTo>
                    <a:pt x="4716686" y="921174"/>
                  </a:lnTo>
                  <a:lnTo>
                    <a:pt x="4724400" y="883031"/>
                  </a:lnTo>
                  <a:lnTo>
                    <a:pt x="4724400" y="98171"/>
                  </a:lnTo>
                  <a:lnTo>
                    <a:pt x="4716688" y="59953"/>
                  </a:lnTo>
                  <a:lnTo>
                    <a:pt x="4695666" y="28749"/>
                  </a:lnTo>
                  <a:lnTo>
                    <a:pt x="4664499" y="7713"/>
                  </a:lnTo>
                  <a:lnTo>
                    <a:pt x="4626356" y="0"/>
                  </a:lnTo>
                  <a:close/>
                </a:path>
              </a:pathLst>
            </a:custGeom>
            <a:solidFill>
              <a:srgbClr val="8063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4442803" y="3176574"/>
              <a:ext cx="468630" cy="476250"/>
            </a:xfrm>
            <a:custGeom>
              <a:avLst/>
              <a:gdLst/>
              <a:ahLst/>
              <a:cxnLst/>
              <a:rect l="l" t="t" r="r" b="b"/>
              <a:pathLst>
                <a:path w="468629" h="476250">
                  <a:moveTo>
                    <a:pt x="249948" y="428485"/>
                  </a:moveTo>
                  <a:lnTo>
                    <a:pt x="197459" y="375069"/>
                  </a:lnTo>
                  <a:lnTo>
                    <a:pt x="150812" y="422554"/>
                  </a:lnTo>
                  <a:lnTo>
                    <a:pt x="203288" y="475970"/>
                  </a:lnTo>
                  <a:lnTo>
                    <a:pt x="249948" y="428485"/>
                  </a:lnTo>
                  <a:close/>
                </a:path>
                <a:path w="468629" h="476250">
                  <a:moveTo>
                    <a:pt x="399580" y="137528"/>
                  </a:moveTo>
                  <a:lnTo>
                    <a:pt x="319303" y="55829"/>
                  </a:lnTo>
                  <a:lnTo>
                    <a:pt x="279400" y="24815"/>
                  </a:lnTo>
                  <a:lnTo>
                    <a:pt x="234492" y="6210"/>
                  </a:lnTo>
                  <a:lnTo>
                    <a:pt x="187083" y="0"/>
                  </a:lnTo>
                  <a:lnTo>
                    <a:pt x="139661" y="6210"/>
                  </a:lnTo>
                  <a:lnTo>
                    <a:pt x="94754" y="24815"/>
                  </a:lnTo>
                  <a:lnTo>
                    <a:pt x="54851" y="55829"/>
                  </a:lnTo>
                  <a:lnTo>
                    <a:pt x="24384" y="96431"/>
                  </a:lnTo>
                  <a:lnTo>
                    <a:pt x="6096" y="142151"/>
                  </a:lnTo>
                  <a:lnTo>
                    <a:pt x="0" y="190411"/>
                  </a:lnTo>
                  <a:lnTo>
                    <a:pt x="6096" y="238671"/>
                  </a:lnTo>
                  <a:lnTo>
                    <a:pt x="24384" y="284378"/>
                  </a:lnTo>
                  <a:lnTo>
                    <a:pt x="54851" y="324993"/>
                  </a:lnTo>
                  <a:lnTo>
                    <a:pt x="135115" y="406692"/>
                  </a:lnTo>
                  <a:lnTo>
                    <a:pt x="181851" y="359689"/>
                  </a:lnTo>
                  <a:lnTo>
                    <a:pt x="101587" y="277431"/>
                  </a:lnTo>
                  <a:lnTo>
                    <a:pt x="74980" y="236702"/>
                  </a:lnTo>
                  <a:lnTo>
                    <a:pt x="66116" y="190411"/>
                  </a:lnTo>
                  <a:lnTo>
                    <a:pt x="74980" y="144119"/>
                  </a:lnTo>
                  <a:lnTo>
                    <a:pt x="101587" y="103390"/>
                  </a:lnTo>
                  <a:lnTo>
                    <a:pt x="141592" y="76314"/>
                  </a:lnTo>
                  <a:lnTo>
                    <a:pt x="187083" y="67297"/>
                  </a:lnTo>
                  <a:lnTo>
                    <a:pt x="232562" y="76314"/>
                  </a:lnTo>
                  <a:lnTo>
                    <a:pt x="272580" y="103390"/>
                  </a:lnTo>
                  <a:lnTo>
                    <a:pt x="352844" y="185089"/>
                  </a:lnTo>
                  <a:lnTo>
                    <a:pt x="399580" y="137528"/>
                  </a:lnTo>
                  <a:close/>
                </a:path>
                <a:path w="468629" h="476250">
                  <a:moveTo>
                    <a:pt x="468033" y="207289"/>
                  </a:moveTo>
                  <a:lnTo>
                    <a:pt x="415544" y="153860"/>
                  </a:lnTo>
                  <a:lnTo>
                    <a:pt x="368884" y="201345"/>
                  </a:lnTo>
                  <a:lnTo>
                    <a:pt x="421373" y="254774"/>
                  </a:lnTo>
                  <a:lnTo>
                    <a:pt x="468033" y="2072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5339460" y="2993453"/>
            <a:ext cx="3121660" cy="805815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 marR="5080" algn="just">
              <a:lnSpc>
                <a:spcPct val="92000"/>
              </a:lnSpc>
              <a:spcBef>
                <a:spcPts val="270"/>
              </a:spcBef>
            </a:pPr>
            <a:r>
              <a:rPr sz="180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Results:</a:t>
            </a:r>
            <a:r>
              <a:rPr sz="1800" spc="-3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Max</a:t>
            </a:r>
            <a:r>
              <a:rPr sz="1800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Stress</a:t>
            </a:r>
            <a:r>
              <a:rPr sz="1800" spc="-2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≈</a:t>
            </a:r>
            <a:r>
              <a:rPr sz="1800" spc="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1.5223+008 </a:t>
            </a:r>
            <a:r>
              <a:rPr sz="18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Pa,</a:t>
            </a:r>
            <a:r>
              <a:rPr sz="1800" spc="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Max</a:t>
            </a:r>
            <a:r>
              <a:rPr sz="1800" spc="33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Deformation</a:t>
            </a:r>
            <a:r>
              <a:rPr sz="1800" spc="-3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≈</a:t>
            </a:r>
            <a:r>
              <a:rPr sz="1800" spc="-6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1.1106e- </a:t>
            </a:r>
            <a:r>
              <a:rPr sz="18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004</a:t>
            </a:r>
            <a:r>
              <a:rPr sz="18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m.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114800" y="4152900"/>
            <a:ext cx="4724400" cy="971550"/>
            <a:chOff x="4114800" y="4152900"/>
            <a:chExt cx="4724400" cy="971550"/>
          </a:xfrm>
        </p:grpSpPr>
        <p:sp>
          <p:nvSpPr>
            <p:cNvPr id="25" name="object 25"/>
            <p:cNvSpPr/>
            <p:nvPr/>
          </p:nvSpPr>
          <p:spPr>
            <a:xfrm>
              <a:off x="4114800" y="4152900"/>
              <a:ext cx="4724400" cy="971550"/>
            </a:xfrm>
            <a:custGeom>
              <a:avLst/>
              <a:gdLst/>
              <a:ahLst/>
              <a:cxnLst/>
              <a:rect l="l" t="t" r="r" b="b"/>
              <a:pathLst>
                <a:path w="4724400" h="971550">
                  <a:moveTo>
                    <a:pt x="4627245" y="0"/>
                  </a:moveTo>
                  <a:lnTo>
                    <a:pt x="97154" y="0"/>
                  </a:lnTo>
                  <a:lnTo>
                    <a:pt x="59310" y="7625"/>
                  </a:lnTo>
                  <a:lnTo>
                    <a:pt x="28432" y="28432"/>
                  </a:lnTo>
                  <a:lnTo>
                    <a:pt x="7625" y="59310"/>
                  </a:lnTo>
                  <a:lnTo>
                    <a:pt x="0" y="97155"/>
                  </a:lnTo>
                  <a:lnTo>
                    <a:pt x="0" y="874394"/>
                  </a:lnTo>
                  <a:lnTo>
                    <a:pt x="7625" y="912185"/>
                  </a:lnTo>
                  <a:lnTo>
                    <a:pt x="28432" y="943070"/>
                  </a:lnTo>
                  <a:lnTo>
                    <a:pt x="59310" y="963906"/>
                  </a:lnTo>
                  <a:lnTo>
                    <a:pt x="97154" y="971550"/>
                  </a:lnTo>
                  <a:lnTo>
                    <a:pt x="4627245" y="971550"/>
                  </a:lnTo>
                  <a:lnTo>
                    <a:pt x="4665035" y="963906"/>
                  </a:lnTo>
                  <a:lnTo>
                    <a:pt x="4695920" y="943070"/>
                  </a:lnTo>
                  <a:lnTo>
                    <a:pt x="4716756" y="912185"/>
                  </a:lnTo>
                  <a:lnTo>
                    <a:pt x="4724400" y="874394"/>
                  </a:lnTo>
                  <a:lnTo>
                    <a:pt x="4724400" y="97155"/>
                  </a:lnTo>
                  <a:lnTo>
                    <a:pt x="4716756" y="59310"/>
                  </a:lnTo>
                  <a:lnTo>
                    <a:pt x="4695920" y="28432"/>
                  </a:lnTo>
                  <a:lnTo>
                    <a:pt x="4665035" y="7625"/>
                  </a:lnTo>
                  <a:lnTo>
                    <a:pt x="4627245" y="0"/>
                  </a:lnTo>
                  <a:close/>
                </a:path>
              </a:pathLst>
            </a:custGeom>
            <a:solidFill>
              <a:srgbClr val="4AACC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4467961" y="4429874"/>
              <a:ext cx="418465" cy="418465"/>
            </a:xfrm>
            <a:custGeom>
              <a:avLst/>
              <a:gdLst/>
              <a:ahLst/>
              <a:cxnLst/>
              <a:rect l="l" t="t" r="r" b="b"/>
              <a:pathLst>
                <a:path w="418464" h="418464">
                  <a:moveTo>
                    <a:pt x="38481" y="307886"/>
                  </a:moveTo>
                  <a:lnTo>
                    <a:pt x="0" y="307886"/>
                  </a:lnTo>
                  <a:lnTo>
                    <a:pt x="0" y="329869"/>
                  </a:lnTo>
                  <a:lnTo>
                    <a:pt x="38481" y="329869"/>
                  </a:lnTo>
                  <a:lnTo>
                    <a:pt x="38481" y="307886"/>
                  </a:lnTo>
                  <a:close/>
                </a:path>
                <a:path w="418464" h="418464">
                  <a:moveTo>
                    <a:pt x="38481" y="263893"/>
                  </a:moveTo>
                  <a:lnTo>
                    <a:pt x="0" y="263893"/>
                  </a:lnTo>
                  <a:lnTo>
                    <a:pt x="0" y="285889"/>
                  </a:lnTo>
                  <a:lnTo>
                    <a:pt x="38481" y="285889"/>
                  </a:lnTo>
                  <a:lnTo>
                    <a:pt x="38481" y="263893"/>
                  </a:lnTo>
                  <a:close/>
                </a:path>
                <a:path w="418464" h="418464">
                  <a:moveTo>
                    <a:pt x="38481" y="219913"/>
                  </a:moveTo>
                  <a:lnTo>
                    <a:pt x="0" y="219913"/>
                  </a:lnTo>
                  <a:lnTo>
                    <a:pt x="0" y="241909"/>
                  </a:lnTo>
                  <a:lnTo>
                    <a:pt x="38481" y="241909"/>
                  </a:lnTo>
                  <a:lnTo>
                    <a:pt x="38481" y="219913"/>
                  </a:lnTo>
                  <a:close/>
                </a:path>
                <a:path w="418464" h="418464">
                  <a:moveTo>
                    <a:pt x="38481" y="175933"/>
                  </a:moveTo>
                  <a:lnTo>
                    <a:pt x="0" y="175933"/>
                  </a:lnTo>
                  <a:lnTo>
                    <a:pt x="0" y="197916"/>
                  </a:lnTo>
                  <a:lnTo>
                    <a:pt x="38481" y="197916"/>
                  </a:lnTo>
                  <a:lnTo>
                    <a:pt x="38481" y="175933"/>
                  </a:lnTo>
                  <a:close/>
                </a:path>
                <a:path w="418464" h="418464">
                  <a:moveTo>
                    <a:pt x="38481" y="131953"/>
                  </a:moveTo>
                  <a:lnTo>
                    <a:pt x="0" y="131953"/>
                  </a:lnTo>
                  <a:lnTo>
                    <a:pt x="0" y="153936"/>
                  </a:lnTo>
                  <a:lnTo>
                    <a:pt x="38481" y="153936"/>
                  </a:lnTo>
                  <a:lnTo>
                    <a:pt x="38481" y="131953"/>
                  </a:lnTo>
                  <a:close/>
                </a:path>
                <a:path w="418464" h="418464">
                  <a:moveTo>
                    <a:pt x="38481" y="87960"/>
                  </a:moveTo>
                  <a:lnTo>
                    <a:pt x="0" y="87960"/>
                  </a:lnTo>
                  <a:lnTo>
                    <a:pt x="0" y="109956"/>
                  </a:lnTo>
                  <a:lnTo>
                    <a:pt x="38481" y="109956"/>
                  </a:lnTo>
                  <a:lnTo>
                    <a:pt x="38481" y="87960"/>
                  </a:lnTo>
                  <a:close/>
                </a:path>
                <a:path w="418464" h="418464">
                  <a:moveTo>
                    <a:pt x="109956" y="379349"/>
                  </a:moveTo>
                  <a:lnTo>
                    <a:pt x="87972" y="379349"/>
                  </a:lnTo>
                  <a:lnTo>
                    <a:pt x="87972" y="417842"/>
                  </a:lnTo>
                  <a:lnTo>
                    <a:pt x="109956" y="417842"/>
                  </a:lnTo>
                  <a:lnTo>
                    <a:pt x="109956" y="379349"/>
                  </a:lnTo>
                  <a:close/>
                </a:path>
                <a:path w="418464" h="418464">
                  <a:moveTo>
                    <a:pt x="109956" y="0"/>
                  </a:moveTo>
                  <a:lnTo>
                    <a:pt x="87972" y="0"/>
                  </a:lnTo>
                  <a:lnTo>
                    <a:pt x="87972" y="38481"/>
                  </a:lnTo>
                  <a:lnTo>
                    <a:pt x="109956" y="38481"/>
                  </a:lnTo>
                  <a:lnTo>
                    <a:pt x="109956" y="0"/>
                  </a:lnTo>
                  <a:close/>
                </a:path>
                <a:path w="418464" h="418464">
                  <a:moveTo>
                    <a:pt x="153949" y="379349"/>
                  </a:moveTo>
                  <a:lnTo>
                    <a:pt x="131953" y="379349"/>
                  </a:lnTo>
                  <a:lnTo>
                    <a:pt x="131953" y="417842"/>
                  </a:lnTo>
                  <a:lnTo>
                    <a:pt x="153949" y="417842"/>
                  </a:lnTo>
                  <a:lnTo>
                    <a:pt x="153949" y="379349"/>
                  </a:lnTo>
                  <a:close/>
                </a:path>
                <a:path w="418464" h="418464">
                  <a:moveTo>
                    <a:pt x="153949" y="0"/>
                  </a:moveTo>
                  <a:lnTo>
                    <a:pt x="131953" y="0"/>
                  </a:lnTo>
                  <a:lnTo>
                    <a:pt x="131953" y="38481"/>
                  </a:lnTo>
                  <a:lnTo>
                    <a:pt x="153949" y="38481"/>
                  </a:lnTo>
                  <a:lnTo>
                    <a:pt x="153949" y="0"/>
                  </a:lnTo>
                  <a:close/>
                </a:path>
                <a:path w="418464" h="418464">
                  <a:moveTo>
                    <a:pt x="197929" y="379349"/>
                  </a:moveTo>
                  <a:lnTo>
                    <a:pt x="175945" y="379349"/>
                  </a:lnTo>
                  <a:lnTo>
                    <a:pt x="175945" y="417842"/>
                  </a:lnTo>
                  <a:lnTo>
                    <a:pt x="197929" y="417842"/>
                  </a:lnTo>
                  <a:lnTo>
                    <a:pt x="197929" y="379349"/>
                  </a:lnTo>
                  <a:close/>
                </a:path>
                <a:path w="418464" h="418464">
                  <a:moveTo>
                    <a:pt x="197929" y="0"/>
                  </a:moveTo>
                  <a:lnTo>
                    <a:pt x="175945" y="0"/>
                  </a:lnTo>
                  <a:lnTo>
                    <a:pt x="175945" y="38481"/>
                  </a:lnTo>
                  <a:lnTo>
                    <a:pt x="197929" y="38481"/>
                  </a:lnTo>
                  <a:lnTo>
                    <a:pt x="197929" y="0"/>
                  </a:lnTo>
                  <a:close/>
                </a:path>
                <a:path w="418464" h="418464">
                  <a:moveTo>
                    <a:pt x="241922" y="379349"/>
                  </a:moveTo>
                  <a:lnTo>
                    <a:pt x="219925" y="379349"/>
                  </a:lnTo>
                  <a:lnTo>
                    <a:pt x="219925" y="417842"/>
                  </a:lnTo>
                  <a:lnTo>
                    <a:pt x="241922" y="417842"/>
                  </a:lnTo>
                  <a:lnTo>
                    <a:pt x="241922" y="379349"/>
                  </a:lnTo>
                  <a:close/>
                </a:path>
                <a:path w="418464" h="418464">
                  <a:moveTo>
                    <a:pt x="241922" y="0"/>
                  </a:moveTo>
                  <a:lnTo>
                    <a:pt x="219925" y="0"/>
                  </a:lnTo>
                  <a:lnTo>
                    <a:pt x="219925" y="38481"/>
                  </a:lnTo>
                  <a:lnTo>
                    <a:pt x="241922" y="38481"/>
                  </a:lnTo>
                  <a:lnTo>
                    <a:pt x="241922" y="0"/>
                  </a:lnTo>
                  <a:close/>
                </a:path>
                <a:path w="418464" h="418464">
                  <a:moveTo>
                    <a:pt x="285902" y="379349"/>
                  </a:moveTo>
                  <a:lnTo>
                    <a:pt x="263906" y="379349"/>
                  </a:lnTo>
                  <a:lnTo>
                    <a:pt x="263906" y="417842"/>
                  </a:lnTo>
                  <a:lnTo>
                    <a:pt x="285902" y="417842"/>
                  </a:lnTo>
                  <a:lnTo>
                    <a:pt x="285902" y="379349"/>
                  </a:lnTo>
                  <a:close/>
                </a:path>
                <a:path w="418464" h="418464">
                  <a:moveTo>
                    <a:pt x="285902" y="0"/>
                  </a:moveTo>
                  <a:lnTo>
                    <a:pt x="263906" y="0"/>
                  </a:lnTo>
                  <a:lnTo>
                    <a:pt x="263906" y="38481"/>
                  </a:lnTo>
                  <a:lnTo>
                    <a:pt x="285902" y="38481"/>
                  </a:lnTo>
                  <a:lnTo>
                    <a:pt x="285902" y="0"/>
                  </a:lnTo>
                  <a:close/>
                </a:path>
                <a:path w="418464" h="418464">
                  <a:moveTo>
                    <a:pt x="329882" y="379349"/>
                  </a:moveTo>
                  <a:lnTo>
                    <a:pt x="307898" y="379349"/>
                  </a:lnTo>
                  <a:lnTo>
                    <a:pt x="307898" y="417842"/>
                  </a:lnTo>
                  <a:lnTo>
                    <a:pt x="329882" y="417842"/>
                  </a:lnTo>
                  <a:lnTo>
                    <a:pt x="329882" y="379349"/>
                  </a:lnTo>
                  <a:close/>
                </a:path>
                <a:path w="418464" h="418464">
                  <a:moveTo>
                    <a:pt x="329882" y="0"/>
                  </a:moveTo>
                  <a:lnTo>
                    <a:pt x="307898" y="0"/>
                  </a:lnTo>
                  <a:lnTo>
                    <a:pt x="307898" y="38481"/>
                  </a:lnTo>
                  <a:lnTo>
                    <a:pt x="329882" y="38481"/>
                  </a:lnTo>
                  <a:lnTo>
                    <a:pt x="329882" y="0"/>
                  </a:lnTo>
                  <a:close/>
                </a:path>
                <a:path w="418464" h="418464">
                  <a:moveTo>
                    <a:pt x="357378" y="82473"/>
                  </a:moveTo>
                  <a:lnTo>
                    <a:pt x="355650" y="73901"/>
                  </a:lnTo>
                  <a:lnTo>
                    <a:pt x="350939" y="66916"/>
                  </a:lnTo>
                  <a:lnTo>
                    <a:pt x="343941" y="62204"/>
                  </a:lnTo>
                  <a:lnTo>
                    <a:pt x="335381" y="60477"/>
                  </a:lnTo>
                  <a:lnTo>
                    <a:pt x="302399" y="60477"/>
                  </a:lnTo>
                  <a:lnTo>
                    <a:pt x="302399" y="115455"/>
                  </a:lnTo>
                  <a:lnTo>
                    <a:pt x="302399" y="302387"/>
                  </a:lnTo>
                  <a:lnTo>
                    <a:pt x="115455" y="302387"/>
                  </a:lnTo>
                  <a:lnTo>
                    <a:pt x="115455" y="115455"/>
                  </a:lnTo>
                  <a:lnTo>
                    <a:pt x="302399" y="115455"/>
                  </a:lnTo>
                  <a:lnTo>
                    <a:pt x="302399" y="60477"/>
                  </a:lnTo>
                  <a:lnTo>
                    <a:pt x="82473" y="60477"/>
                  </a:lnTo>
                  <a:lnTo>
                    <a:pt x="73914" y="62204"/>
                  </a:lnTo>
                  <a:lnTo>
                    <a:pt x="66916" y="66916"/>
                  </a:lnTo>
                  <a:lnTo>
                    <a:pt x="62204" y="73901"/>
                  </a:lnTo>
                  <a:lnTo>
                    <a:pt x="60477" y="82473"/>
                  </a:lnTo>
                  <a:lnTo>
                    <a:pt x="60477" y="335368"/>
                  </a:lnTo>
                  <a:lnTo>
                    <a:pt x="62204" y="343928"/>
                  </a:lnTo>
                  <a:lnTo>
                    <a:pt x="66916" y="350926"/>
                  </a:lnTo>
                  <a:lnTo>
                    <a:pt x="73914" y="355638"/>
                  </a:lnTo>
                  <a:lnTo>
                    <a:pt x="82473" y="357365"/>
                  </a:lnTo>
                  <a:lnTo>
                    <a:pt x="335381" y="357365"/>
                  </a:lnTo>
                  <a:lnTo>
                    <a:pt x="343941" y="355638"/>
                  </a:lnTo>
                  <a:lnTo>
                    <a:pt x="350939" y="350926"/>
                  </a:lnTo>
                  <a:lnTo>
                    <a:pt x="355650" y="343928"/>
                  </a:lnTo>
                  <a:lnTo>
                    <a:pt x="357378" y="335368"/>
                  </a:lnTo>
                  <a:lnTo>
                    <a:pt x="357378" y="302387"/>
                  </a:lnTo>
                  <a:lnTo>
                    <a:pt x="357378" y="115455"/>
                  </a:lnTo>
                  <a:lnTo>
                    <a:pt x="357378" y="82473"/>
                  </a:lnTo>
                  <a:close/>
                </a:path>
                <a:path w="418464" h="418464">
                  <a:moveTo>
                    <a:pt x="417855" y="307886"/>
                  </a:moveTo>
                  <a:lnTo>
                    <a:pt x="379374" y="307886"/>
                  </a:lnTo>
                  <a:lnTo>
                    <a:pt x="379374" y="329869"/>
                  </a:lnTo>
                  <a:lnTo>
                    <a:pt x="417855" y="329869"/>
                  </a:lnTo>
                  <a:lnTo>
                    <a:pt x="417855" y="307886"/>
                  </a:lnTo>
                  <a:close/>
                </a:path>
                <a:path w="418464" h="418464">
                  <a:moveTo>
                    <a:pt x="417855" y="263893"/>
                  </a:moveTo>
                  <a:lnTo>
                    <a:pt x="379374" y="263893"/>
                  </a:lnTo>
                  <a:lnTo>
                    <a:pt x="379374" y="285889"/>
                  </a:lnTo>
                  <a:lnTo>
                    <a:pt x="417855" y="285889"/>
                  </a:lnTo>
                  <a:lnTo>
                    <a:pt x="417855" y="263893"/>
                  </a:lnTo>
                  <a:close/>
                </a:path>
                <a:path w="418464" h="418464">
                  <a:moveTo>
                    <a:pt x="417855" y="219913"/>
                  </a:moveTo>
                  <a:lnTo>
                    <a:pt x="379374" y="219913"/>
                  </a:lnTo>
                  <a:lnTo>
                    <a:pt x="379374" y="241909"/>
                  </a:lnTo>
                  <a:lnTo>
                    <a:pt x="417855" y="241909"/>
                  </a:lnTo>
                  <a:lnTo>
                    <a:pt x="417855" y="219913"/>
                  </a:lnTo>
                  <a:close/>
                </a:path>
                <a:path w="418464" h="418464">
                  <a:moveTo>
                    <a:pt x="417855" y="175933"/>
                  </a:moveTo>
                  <a:lnTo>
                    <a:pt x="379374" y="175933"/>
                  </a:lnTo>
                  <a:lnTo>
                    <a:pt x="379374" y="197916"/>
                  </a:lnTo>
                  <a:lnTo>
                    <a:pt x="417855" y="197916"/>
                  </a:lnTo>
                  <a:lnTo>
                    <a:pt x="417855" y="175933"/>
                  </a:lnTo>
                  <a:close/>
                </a:path>
                <a:path w="418464" h="418464">
                  <a:moveTo>
                    <a:pt x="417855" y="131953"/>
                  </a:moveTo>
                  <a:lnTo>
                    <a:pt x="379374" y="131953"/>
                  </a:lnTo>
                  <a:lnTo>
                    <a:pt x="379374" y="153936"/>
                  </a:lnTo>
                  <a:lnTo>
                    <a:pt x="417855" y="153936"/>
                  </a:lnTo>
                  <a:lnTo>
                    <a:pt x="417855" y="131953"/>
                  </a:lnTo>
                  <a:close/>
                </a:path>
                <a:path w="418464" h="418464">
                  <a:moveTo>
                    <a:pt x="417855" y="87960"/>
                  </a:moveTo>
                  <a:lnTo>
                    <a:pt x="379374" y="87960"/>
                  </a:lnTo>
                  <a:lnTo>
                    <a:pt x="379374" y="109956"/>
                  </a:lnTo>
                  <a:lnTo>
                    <a:pt x="417855" y="109956"/>
                  </a:lnTo>
                  <a:lnTo>
                    <a:pt x="417855" y="8796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/>
          <p:nvPr/>
        </p:nvSpPr>
        <p:spPr>
          <a:xfrm>
            <a:off x="4605420" y="4567314"/>
            <a:ext cx="143510" cy="143510"/>
          </a:xfrm>
          <a:custGeom>
            <a:avLst/>
            <a:gdLst/>
            <a:ahLst/>
            <a:cxnLst/>
            <a:rect l="l" t="t" r="r" b="b"/>
            <a:pathLst>
              <a:path w="143510" h="143510">
                <a:moveTo>
                  <a:pt x="142952" y="0"/>
                </a:moveTo>
                <a:lnTo>
                  <a:pt x="0" y="0"/>
                </a:lnTo>
                <a:lnTo>
                  <a:pt x="0" y="142944"/>
                </a:lnTo>
                <a:lnTo>
                  <a:pt x="142952" y="142944"/>
                </a:lnTo>
                <a:lnTo>
                  <a:pt x="14295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8" name="object 28"/>
          <p:cNvGrpSpPr/>
          <p:nvPr/>
        </p:nvGrpSpPr>
        <p:grpSpPr>
          <a:xfrm>
            <a:off x="4114800" y="5372100"/>
            <a:ext cx="4724400" cy="981075"/>
            <a:chOff x="4114800" y="5372100"/>
            <a:chExt cx="4724400" cy="981075"/>
          </a:xfrm>
        </p:grpSpPr>
        <p:sp>
          <p:nvSpPr>
            <p:cNvPr id="29" name="object 29"/>
            <p:cNvSpPr/>
            <p:nvPr/>
          </p:nvSpPr>
          <p:spPr>
            <a:xfrm>
              <a:off x="4114800" y="5372100"/>
              <a:ext cx="4724400" cy="981075"/>
            </a:xfrm>
            <a:custGeom>
              <a:avLst/>
              <a:gdLst/>
              <a:ahLst/>
              <a:cxnLst/>
              <a:rect l="l" t="t" r="r" b="b"/>
              <a:pathLst>
                <a:path w="4724400" h="981075">
                  <a:moveTo>
                    <a:pt x="4626356" y="0"/>
                  </a:moveTo>
                  <a:lnTo>
                    <a:pt x="98171" y="0"/>
                  </a:lnTo>
                  <a:lnTo>
                    <a:pt x="59953" y="7713"/>
                  </a:lnTo>
                  <a:lnTo>
                    <a:pt x="28749" y="28749"/>
                  </a:lnTo>
                  <a:lnTo>
                    <a:pt x="7713" y="59953"/>
                  </a:lnTo>
                  <a:lnTo>
                    <a:pt x="0" y="98171"/>
                  </a:lnTo>
                  <a:lnTo>
                    <a:pt x="0" y="882967"/>
                  </a:lnTo>
                  <a:lnTo>
                    <a:pt x="7713" y="921153"/>
                  </a:lnTo>
                  <a:lnTo>
                    <a:pt x="28749" y="952338"/>
                  </a:lnTo>
                  <a:lnTo>
                    <a:pt x="59953" y="973364"/>
                  </a:lnTo>
                  <a:lnTo>
                    <a:pt x="98171" y="981075"/>
                  </a:lnTo>
                  <a:lnTo>
                    <a:pt x="4626229" y="981075"/>
                  </a:lnTo>
                  <a:lnTo>
                    <a:pt x="4664446" y="973366"/>
                  </a:lnTo>
                  <a:lnTo>
                    <a:pt x="4695650" y="952342"/>
                  </a:lnTo>
                  <a:lnTo>
                    <a:pt x="4716686" y="921158"/>
                  </a:lnTo>
                  <a:lnTo>
                    <a:pt x="4724400" y="882967"/>
                  </a:lnTo>
                  <a:lnTo>
                    <a:pt x="4724400" y="98171"/>
                  </a:lnTo>
                  <a:lnTo>
                    <a:pt x="4716688" y="59953"/>
                  </a:lnTo>
                  <a:lnTo>
                    <a:pt x="4695666" y="28749"/>
                  </a:lnTo>
                  <a:lnTo>
                    <a:pt x="4664499" y="7713"/>
                  </a:lnTo>
                  <a:lnTo>
                    <a:pt x="4626356" y="0"/>
                  </a:lnTo>
                  <a:close/>
                </a:path>
              </a:pathLst>
            </a:custGeom>
            <a:solidFill>
              <a:srgbClr val="F7954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84461" y="5959002"/>
              <a:ext cx="76974" cy="78345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64867" y="5796715"/>
              <a:ext cx="153948" cy="240631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4434976" y="5919829"/>
              <a:ext cx="307975" cy="78740"/>
            </a:xfrm>
            <a:custGeom>
              <a:avLst/>
              <a:gdLst/>
              <a:ahLst/>
              <a:cxnLst/>
              <a:rect l="l" t="t" r="r" b="b"/>
              <a:pathLst>
                <a:path w="307975" h="78739">
                  <a:moveTo>
                    <a:pt x="307898" y="0"/>
                  </a:moveTo>
                  <a:lnTo>
                    <a:pt x="0" y="0"/>
                  </a:lnTo>
                  <a:lnTo>
                    <a:pt x="0" y="78345"/>
                  </a:lnTo>
                  <a:lnTo>
                    <a:pt x="32988" y="78345"/>
                  </a:lnTo>
                  <a:lnTo>
                    <a:pt x="37327" y="56616"/>
                  </a:lnTo>
                  <a:lnTo>
                    <a:pt x="49140" y="38822"/>
                  </a:lnTo>
                  <a:lnTo>
                    <a:pt x="66623" y="26800"/>
                  </a:lnTo>
                  <a:lnTo>
                    <a:pt x="87971" y="22384"/>
                  </a:lnTo>
                  <a:lnTo>
                    <a:pt x="109320" y="26800"/>
                  </a:lnTo>
                  <a:lnTo>
                    <a:pt x="126802" y="38822"/>
                  </a:lnTo>
                  <a:lnTo>
                    <a:pt x="138615" y="56616"/>
                  </a:lnTo>
                  <a:lnTo>
                    <a:pt x="142953" y="78345"/>
                  </a:lnTo>
                  <a:lnTo>
                    <a:pt x="307898" y="78345"/>
                  </a:lnTo>
                  <a:lnTo>
                    <a:pt x="3078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445972" y="5688361"/>
              <a:ext cx="289496" cy="209083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5339460" y="4217987"/>
            <a:ext cx="3251835" cy="189865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83185">
              <a:lnSpc>
                <a:spcPts val="1950"/>
              </a:lnSpc>
              <a:spcBef>
                <a:spcPts val="340"/>
              </a:spcBef>
            </a:pPr>
            <a:r>
              <a:rPr sz="18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Analytical,</a:t>
            </a:r>
            <a:r>
              <a:rPr sz="1800" spc="-10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programming,</a:t>
            </a:r>
            <a:r>
              <a:rPr sz="1800" spc="-7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and </a:t>
            </a:r>
            <a:r>
              <a:rPr sz="18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simulation</a:t>
            </a:r>
            <a:r>
              <a:rPr sz="1800" spc="-8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results</a:t>
            </a:r>
            <a:r>
              <a:rPr sz="1800" spc="-6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matched</a:t>
            </a:r>
            <a:r>
              <a:rPr sz="1800" spc="-8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within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ts val="2000"/>
              </a:lnSpc>
            </a:pPr>
            <a:r>
              <a:rPr sz="1800" spc="-2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±5%,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</a:pPr>
            <a:endParaRPr sz="18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endParaRPr sz="1800">
              <a:latin typeface="Calibri" panose="020F0502020204030204"/>
              <a:cs typeface="Calibri" panose="020F0502020204030204"/>
            </a:endParaRPr>
          </a:p>
          <a:p>
            <a:pPr marL="12700" marR="5080">
              <a:lnSpc>
                <a:spcPts val="1950"/>
              </a:lnSpc>
            </a:pPr>
            <a:r>
              <a:rPr sz="180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confirming</a:t>
            </a:r>
            <a:r>
              <a:rPr sz="1800" spc="-9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design</a:t>
            </a:r>
            <a:r>
              <a:rPr sz="1800" spc="-7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safety</a:t>
            </a:r>
            <a:r>
              <a:rPr sz="180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under</a:t>
            </a:r>
            <a:r>
              <a:rPr sz="1800" spc="-4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the </a:t>
            </a:r>
            <a:r>
              <a:rPr sz="18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given</a:t>
            </a:r>
            <a:r>
              <a:rPr sz="1800" spc="-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load</a:t>
            </a:r>
            <a:r>
              <a:rPr sz="1800" spc="-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conditions.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7410" y="2836799"/>
            <a:ext cx="2654300" cy="655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1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 panose="020F0502020204030204"/>
                <a:cs typeface="Calibri" panose="020F0502020204030204"/>
              </a:rPr>
              <a:t>Introduction</a:t>
            </a:r>
            <a:endParaRPr sz="41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00050" y="0"/>
            <a:ext cx="866775" cy="590550"/>
          </a:xfrm>
          <a:custGeom>
            <a:avLst/>
            <a:gdLst/>
            <a:ahLst/>
            <a:cxnLst/>
            <a:rect l="l" t="t" r="r" b="b"/>
            <a:pathLst>
              <a:path w="866775" h="590550">
                <a:moveTo>
                  <a:pt x="865759" y="0"/>
                </a:moveTo>
                <a:lnTo>
                  <a:pt x="1015" y="0"/>
                </a:lnTo>
                <a:lnTo>
                  <a:pt x="0" y="13461"/>
                </a:lnTo>
                <a:lnTo>
                  <a:pt x="1983" y="69027"/>
                </a:lnTo>
                <a:lnTo>
                  <a:pt x="7814" y="123101"/>
                </a:lnTo>
                <a:lnTo>
                  <a:pt x="17310" y="175441"/>
                </a:lnTo>
                <a:lnTo>
                  <a:pt x="30289" y="225805"/>
                </a:lnTo>
                <a:lnTo>
                  <a:pt x="46570" y="273951"/>
                </a:lnTo>
                <a:lnTo>
                  <a:pt x="65971" y="319636"/>
                </a:lnTo>
                <a:lnTo>
                  <a:pt x="88312" y="362619"/>
                </a:lnTo>
                <a:lnTo>
                  <a:pt x="113409" y="402657"/>
                </a:lnTo>
                <a:lnTo>
                  <a:pt x="141081" y="439509"/>
                </a:lnTo>
                <a:lnTo>
                  <a:pt x="171148" y="472932"/>
                </a:lnTo>
                <a:lnTo>
                  <a:pt x="203427" y="502684"/>
                </a:lnTo>
                <a:lnTo>
                  <a:pt x="237736" y="528523"/>
                </a:lnTo>
                <a:lnTo>
                  <a:pt x="273895" y="550207"/>
                </a:lnTo>
                <a:lnTo>
                  <a:pt x="311721" y="567494"/>
                </a:lnTo>
                <a:lnTo>
                  <a:pt x="351032" y="580141"/>
                </a:lnTo>
                <a:lnTo>
                  <a:pt x="391648" y="587907"/>
                </a:lnTo>
                <a:lnTo>
                  <a:pt x="433387" y="590550"/>
                </a:lnTo>
                <a:lnTo>
                  <a:pt x="475126" y="587907"/>
                </a:lnTo>
                <a:lnTo>
                  <a:pt x="515742" y="580141"/>
                </a:lnTo>
                <a:lnTo>
                  <a:pt x="555053" y="567494"/>
                </a:lnTo>
                <a:lnTo>
                  <a:pt x="592879" y="550207"/>
                </a:lnTo>
                <a:lnTo>
                  <a:pt x="629038" y="528523"/>
                </a:lnTo>
                <a:lnTo>
                  <a:pt x="663347" y="502684"/>
                </a:lnTo>
                <a:lnTo>
                  <a:pt x="695626" y="472932"/>
                </a:lnTo>
                <a:lnTo>
                  <a:pt x="725693" y="439509"/>
                </a:lnTo>
                <a:lnTo>
                  <a:pt x="753365" y="402657"/>
                </a:lnTo>
                <a:lnTo>
                  <a:pt x="778462" y="362619"/>
                </a:lnTo>
                <a:lnTo>
                  <a:pt x="800803" y="319636"/>
                </a:lnTo>
                <a:lnTo>
                  <a:pt x="820204" y="273951"/>
                </a:lnTo>
                <a:lnTo>
                  <a:pt x="836485" y="225805"/>
                </a:lnTo>
                <a:lnTo>
                  <a:pt x="849464" y="175441"/>
                </a:lnTo>
                <a:lnTo>
                  <a:pt x="858960" y="123101"/>
                </a:lnTo>
                <a:lnTo>
                  <a:pt x="864791" y="69027"/>
                </a:lnTo>
                <a:lnTo>
                  <a:pt x="866775" y="13461"/>
                </a:lnTo>
                <a:lnTo>
                  <a:pt x="865759" y="0"/>
                </a:lnTo>
                <a:close/>
              </a:path>
            </a:pathLst>
          </a:custGeom>
          <a:solidFill>
            <a:srgbClr val="4AACC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971800" y="0"/>
            <a:ext cx="1304925" cy="962025"/>
          </a:xfrm>
          <a:custGeom>
            <a:avLst/>
            <a:gdLst/>
            <a:ahLst/>
            <a:cxnLst/>
            <a:rect l="l" t="t" r="r" b="b"/>
            <a:pathLst>
              <a:path w="1304925" h="962025">
                <a:moveTo>
                  <a:pt x="1304925" y="0"/>
                </a:moveTo>
                <a:lnTo>
                  <a:pt x="1211961" y="0"/>
                </a:lnTo>
                <a:lnTo>
                  <a:pt x="1211961" y="792352"/>
                </a:lnTo>
                <a:lnTo>
                  <a:pt x="185800" y="0"/>
                </a:lnTo>
                <a:lnTo>
                  <a:pt x="0" y="0"/>
                </a:lnTo>
                <a:lnTo>
                  <a:pt x="1242187" y="959230"/>
                </a:lnTo>
                <a:lnTo>
                  <a:pt x="1250314" y="962025"/>
                </a:lnTo>
                <a:lnTo>
                  <a:pt x="1258442" y="962025"/>
                </a:lnTo>
                <a:lnTo>
                  <a:pt x="1276528" y="957143"/>
                </a:lnTo>
                <a:lnTo>
                  <a:pt x="1291304" y="943832"/>
                </a:lnTo>
                <a:lnTo>
                  <a:pt x="1301269" y="924091"/>
                </a:lnTo>
                <a:lnTo>
                  <a:pt x="1304925" y="899922"/>
                </a:lnTo>
                <a:lnTo>
                  <a:pt x="1304925" y="0"/>
                </a:lnTo>
                <a:close/>
              </a:path>
            </a:pathLst>
          </a:custGeom>
          <a:solidFill>
            <a:srgbClr val="F795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2933700"/>
            <a:ext cx="123825" cy="552450"/>
          </a:xfrm>
          <a:custGeom>
            <a:avLst/>
            <a:gdLst/>
            <a:ahLst/>
            <a:cxnLst/>
            <a:rect l="l" t="t" r="r" b="b"/>
            <a:pathLst>
              <a:path w="123825" h="552450">
                <a:moveTo>
                  <a:pt x="0" y="0"/>
                </a:moveTo>
                <a:lnTo>
                  <a:pt x="0" y="552450"/>
                </a:lnTo>
                <a:lnTo>
                  <a:pt x="13869" y="542798"/>
                </a:lnTo>
                <a:lnTo>
                  <a:pt x="45048" y="510695"/>
                </a:lnTo>
                <a:lnTo>
                  <a:pt x="71860" y="472670"/>
                </a:lnTo>
                <a:lnTo>
                  <a:pt x="93724" y="429466"/>
                </a:lnTo>
                <a:lnTo>
                  <a:pt x="110059" y="381827"/>
                </a:lnTo>
                <a:lnTo>
                  <a:pt x="120286" y="330499"/>
                </a:lnTo>
                <a:lnTo>
                  <a:pt x="123825" y="276225"/>
                </a:lnTo>
                <a:lnTo>
                  <a:pt x="120286" y="221950"/>
                </a:lnTo>
                <a:lnTo>
                  <a:pt x="110059" y="170622"/>
                </a:lnTo>
                <a:lnTo>
                  <a:pt x="93724" y="122983"/>
                </a:lnTo>
                <a:lnTo>
                  <a:pt x="71860" y="79779"/>
                </a:lnTo>
                <a:lnTo>
                  <a:pt x="45048" y="41754"/>
                </a:lnTo>
                <a:lnTo>
                  <a:pt x="13869" y="9651"/>
                </a:lnTo>
                <a:lnTo>
                  <a:pt x="0" y="0"/>
                </a:lnTo>
                <a:close/>
              </a:path>
            </a:pathLst>
          </a:custGeom>
          <a:solidFill>
            <a:srgbClr val="8063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655565" y="807402"/>
            <a:ext cx="3615054" cy="388683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55600" marR="100330" indent="-343535">
              <a:lnSpc>
                <a:spcPct val="92000"/>
              </a:lnSpc>
              <a:spcBef>
                <a:spcPts val="340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dirty="0">
                <a:latin typeface="Calibri" panose="020F0502020204030204"/>
                <a:cs typeface="Calibri" panose="020F0502020204030204"/>
              </a:rPr>
              <a:t>Gearbox</a:t>
            </a:r>
            <a:r>
              <a:rPr sz="2150" spc="40" dirty="0">
                <a:latin typeface="Calibri" panose="020F0502020204030204"/>
                <a:cs typeface="Calibri" panose="020F0502020204030204"/>
              </a:rPr>
              <a:t> </a:t>
            </a:r>
            <a:r>
              <a:rPr sz="2150" dirty="0">
                <a:latin typeface="Calibri" panose="020F0502020204030204"/>
                <a:cs typeface="Calibri" panose="020F0502020204030204"/>
              </a:rPr>
              <a:t>shafts</a:t>
            </a:r>
            <a:r>
              <a:rPr sz="2150" spc="150" dirty="0">
                <a:latin typeface="Calibri" panose="020F0502020204030204"/>
                <a:cs typeface="Calibri" panose="020F0502020204030204"/>
              </a:rPr>
              <a:t> </a:t>
            </a:r>
            <a:r>
              <a:rPr sz="2150" spc="-10" dirty="0">
                <a:latin typeface="Calibri" panose="020F0502020204030204"/>
                <a:cs typeface="Calibri" panose="020F0502020204030204"/>
              </a:rPr>
              <a:t>transmit </a:t>
            </a:r>
            <a:r>
              <a:rPr sz="2150" dirty="0">
                <a:latin typeface="Calibri" panose="020F0502020204030204"/>
                <a:cs typeface="Calibri" panose="020F0502020204030204"/>
              </a:rPr>
              <a:t>power</a:t>
            </a:r>
            <a:r>
              <a:rPr sz="2150" spc="65" dirty="0">
                <a:latin typeface="Calibri" panose="020F0502020204030204"/>
                <a:cs typeface="Calibri" panose="020F0502020204030204"/>
              </a:rPr>
              <a:t> </a:t>
            </a:r>
            <a:r>
              <a:rPr sz="2150" dirty="0">
                <a:latin typeface="Calibri" panose="020F0502020204030204"/>
                <a:cs typeface="Calibri" panose="020F0502020204030204"/>
              </a:rPr>
              <a:t>and</a:t>
            </a:r>
            <a:r>
              <a:rPr sz="2150" spc="50" dirty="0">
                <a:latin typeface="Calibri" panose="020F0502020204030204"/>
                <a:cs typeface="Calibri" panose="020F0502020204030204"/>
              </a:rPr>
              <a:t> </a:t>
            </a:r>
            <a:r>
              <a:rPr sz="2150" spc="-10" dirty="0">
                <a:latin typeface="Calibri" panose="020F0502020204030204"/>
                <a:cs typeface="Calibri" panose="020F0502020204030204"/>
              </a:rPr>
              <a:t>experience </a:t>
            </a:r>
            <a:r>
              <a:rPr sz="2150" dirty="0">
                <a:latin typeface="Calibri" panose="020F0502020204030204"/>
                <a:cs typeface="Calibri" panose="020F0502020204030204"/>
              </a:rPr>
              <a:t>bending,</a:t>
            </a:r>
            <a:r>
              <a:rPr sz="2150" spc="95" dirty="0">
                <a:latin typeface="Calibri" panose="020F0502020204030204"/>
                <a:cs typeface="Calibri" panose="020F0502020204030204"/>
              </a:rPr>
              <a:t> </a:t>
            </a:r>
            <a:r>
              <a:rPr sz="2150" dirty="0">
                <a:latin typeface="Calibri" panose="020F0502020204030204"/>
                <a:cs typeface="Calibri" panose="020F0502020204030204"/>
              </a:rPr>
              <a:t>torsion,</a:t>
            </a:r>
            <a:r>
              <a:rPr sz="2150" spc="95" dirty="0">
                <a:latin typeface="Calibri" panose="020F0502020204030204"/>
                <a:cs typeface="Calibri" panose="020F0502020204030204"/>
              </a:rPr>
              <a:t> </a:t>
            </a:r>
            <a:r>
              <a:rPr sz="2150" dirty="0">
                <a:latin typeface="Calibri" panose="020F0502020204030204"/>
                <a:cs typeface="Calibri" panose="020F0502020204030204"/>
              </a:rPr>
              <a:t>and</a:t>
            </a:r>
            <a:r>
              <a:rPr sz="2150" spc="95" dirty="0">
                <a:latin typeface="Calibri" panose="020F0502020204030204"/>
                <a:cs typeface="Calibri" panose="020F0502020204030204"/>
              </a:rPr>
              <a:t> </a:t>
            </a:r>
            <a:r>
              <a:rPr sz="2150" spc="-10" dirty="0">
                <a:latin typeface="Calibri" panose="020F0502020204030204"/>
                <a:cs typeface="Calibri" panose="020F0502020204030204"/>
              </a:rPr>
              <a:t>shear.</a:t>
            </a:r>
            <a:endParaRPr sz="2150">
              <a:latin typeface="Calibri" panose="020F0502020204030204"/>
              <a:cs typeface="Calibri" panose="020F0502020204030204"/>
            </a:endParaRPr>
          </a:p>
          <a:p>
            <a:pPr marL="355600" marR="320040" indent="-343535" algn="just">
              <a:lnSpc>
                <a:spcPct val="92000"/>
              </a:lnSpc>
              <a:spcBef>
                <a:spcPts val="560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dirty="0">
                <a:latin typeface="Calibri" panose="020F0502020204030204"/>
                <a:cs typeface="Calibri" panose="020F0502020204030204"/>
              </a:rPr>
              <a:t>Goal:</a:t>
            </a:r>
            <a:r>
              <a:rPr sz="215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150" dirty="0">
                <a:latin typeface="Calibri" panose="020F0502020204030204"/>
                <a:cs typeface="Calibri" panose="020F0502020204030204"/>
              </a:rPr>
              <a:t>Ensure</a:t>
            </a:r>
            <a:r>
              <a:rPr sz="2150" spc="130" dirty="0">
                <a:latin typeface="Calibri" panose="020F0502020204030204"/>
                <a:cs typeface="Calibri" panose="020F0502020204030204"/>
              </a:rPr>
              <a:t> </a:t>
            </a:r>
            <a:r>
              <a:rPr sz="2150" dirty="0">
                <a:latin typeface="Calibri" panose="020F0502020204030204"/>
                <a:cs typeface="Calibri" panose="020F0502020204030204"/>
              </a:rPr>
              <a:t>strength</a:t>
            </a:r>
            <a:r>
              <a:rPr sz="2150" spc="65" dirty="0">
                <a:latin typeface="Calibri" panose="020F0502020204030204"/>
                <a:cs typeface="Calibri" panose="020F0502020204030204"/>
              </a:rPr>
              <a:t> </a:t>
            </a:r>
            <a:r>
              <a:rPr sz="2150" spc="-25" dirty="0">
                <a:latin typeface="Calibri" panose="020F0502020204030204"/>
                <a:cs typeface="Calibri" panose="020F0502020204030204"/>
              </a:rPr>
              <a:t>and </a:t>
            </a:r>
            <a:r>
              <a:rPr sz="2150" dirty="0">
                <a:latin typeface="Calibri" panose="020F0502020204030204"/>
                <a:cs typeface="Calibri" panose="020F0502020204030204"/>
              </a:rPr>
              <a:t>stiffness</a:t>
            </a:r>
            <a:r>
              <a:rPr sz="2150" spc="95" dirty="0">
                <a:latin typeface="Calibri" panose="020F0502020204030204"/>
                <a:cs typeface="Calibri" panose="020F0502020204030204"/>
              </a:rPr>
              <a:t> </a:t>
            </a:r>
            <a:r>
              <a:rPr sz="2150" dirty="0">
                <a:latin typeface="Calibri" panose="020F0502020204030204"/>
                <a:cs typeface="Calibri" panose="020F0502020204030204"/>
              </a:rPr>
              <a:t>under</a:t>
            </a:r>
            <a:r>
              <a:rPr sz="2150" spc="135" dirty="0">
                <a:latin typeface="Calibri" panose="020F0502020204030204"/>
                <a:cs typeface="Calibri" panose="020F0502020204030204"/>
              </a:rPr>
              <a:t> </a:t>
            </a:r>
            <a:r>
              <a:rPr sz="2150" spc="-10" dirty="0">
                <a:latin typeface="Calibri" panose="020F0502020204030204"/>
                <a:cs typeface="Calibri" panose="020F0502020204030204"/>
              </a:rPr>
              <a:t>combined loading.</a:t>
            </a:r>
            <a:endParaRPr sz="2150">
              <a:latin typeface="Calibri" panose="020F0502020204030204"/>
              <a:cs typeface="Calibri" panose="020F0502020204030204"/>
            </a:endParaRPr>
          </a:p>
          <a:p>
            <a:pPr marL="355600" marR="868680" indent="-343535">
              <a:lnSpc>
                <a:spcPct val="92000"/>
              </a:lnSpc>
              <a:spcBef>
                <a:spcPts val="555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dirty="0">
                <a:latin typeface="Calibri" panose="020F0502020204030204"/>
                <a:cs typeface="Calibri" panose="020F0502020204030204"/>
              </a:rPr>
              <a:t>Methods</a:t>
            </a:r>
            <a:r>
              <a:rPr sz="2150" spc="120" dirty="0">
                <a:latin typeface="Calibri" panose="020F0502020204030204"/>
                <a:cs typeface="Calibri" panose="020F0502020204030204"/>
              </a:rPr>
              <a:t> </a:t>
            </a:r>
            <a:r>
              <a:rPr sz="2150" dirty="0">
                <a:latin typeface="Calibri" panose="020F0502020204030204"/>
                <a:cs typeface="Calibri" panose="020F0502020204030204"/>
              </a:rPr>
              <a:t>used:</a:t>
            </a:r>
            <a:r>
              <a:rPr sz="2150" spc="80" dirty="0">
                <a:latin typeface="Calibri" panose="020F0502020204030204"/>
                <a:cs typeface="Calibri" panose="020F0502020204030204"/>
              </a:rPr>
              <a:t> </a:t>
            </a:r>
            <a:r>
              <a:rPr sz="2150" spc="-25" dirty="0">
                <a:latin typeface="Calibri" panose="020F0502020204030204"/>
                <a:cs typeface="Calibri" panose="020F0502020204030204"/>
              </a:rPr>
              <a:t>CAD </a:t>
            </a:r>
            <a:r>
              <a:rPr sz="2150" dirty="0">
                <a:latin typeface="Calibri" panose="020F0502020204030204"/>
                <a:cs typeface="Calibri" panose="020F0502020204030204"/>
              </a:rPr>
              <a:t>modeling,</a:t>
            </a:r>
            <a:r>
              <a:rPr sz="2150" spc="190" dirty="0">
                <a:latin typeface="Calibri" panose="020F0502020204030204"/>
                <a:cs typeface="Calibri" panose="020F0502020204030204"/>
              </a:rPr>
              <a:t> </a:t>
            </a:r>
            <a:r>
              <a:rPr sz="2150" spc="-10" dirty="0">
                <a:latin typeface="Calibri" panose="020F0502020204030204"/>
                <a:cs typeface="Calibri" panose="020F0502020204030204"/>
              </a:rPr>
              <a:t>analytical </a:t>
            </a:r>
            <a:r>
              <a:rPr sz="2150" dirty="0">
                <a:latin typeface="Calibri" panose="020F0502020204030204"/>
                <a:cs typeface="Calibri" panose="020F0502020204030204"/>
              </a:rPr>
              <a:t>calculations,</a:t>
            </a:r>
            <a:r>
              <a:rPr sz="2150" spc="85" dirty="0">
                <a:latin typeface="Calibri" panose="020F0502020204030204"/>
                <a:cs typeface="Calibri" panose="020F0502020204030204"/>
              </a:rPr>
              <a:t> </a:t>
            </a:r>
            <a:r>
              <a:rPr sz="2150" dirty="0">
                <a:latin typeface="Calibri" panose="020F0502020204030204"/>
                <a:cs typeface="Calibri" panose="020F0502020204030204"/>
              </a:rPr>
              <a:t>and</a:t>
            </a:r>
            <a:r>
              <a:rPr sz="2150" spc="95" dirty="0">
                <a:latin typeface="Calibri" panose="020F0502020204030204"/>
                <a:cs typeface="Calibri" panose="020F0502020204030204"/>
              </a:rPr>
              <a:t> </a:t>
            </a:r>
            <a:r>
              <a:rPr sz="2150" spc="-25" dirty="0">
                <a:latin typeface="Calibri" panose="020F0502020204030204"/>
                <a:cs typeface="Calibri" panose="020F0502020204030204"/>
              </a:rPr>
              <a:t>FEA </a:t>
            </a:r>
            <a:r>
              <a:rPr sz="2150" dirty="0">
                <a:latin typeface="Calibri" panose="020F0502020204030204"/>
                <a:cs typeface="Calibri" panose="020F0502020204030204"/>
              </a:rPr>
              <a:t>validation</a:t>
            </a:r>
            <a:r>
              <a:rPr sz="2150" spc="55" dirty="0">
                <a:latin typeface="Calibri" panose="020F0502020204030204"/>
                <a:cs typeface="Calibri" panose="020F0502020204030204"/>
              </a:rPr>
              <a:t> </a:t>
            </a:r>
            <a:r>
              <a:rPr sz="2150" dirty="0">
                <a:latin typeface="Calibri" panose="020F0502020204030204"/>
                <a:cs typeface="Calibri" panose="020F0502020204030204"/>
              </a:rPr>
              <a:t>in</a:t>
            </a:r>
            <a:r>
              <a:rPr sz="2150" spc="70" dirty="0">
                <a:latin typeface="Calibri" panose="020F0502020204030204"/>
                <a:cs typeface="Calibri" panose="020F0502020204030204"/>
              </a:rPr>
              <a:t> </a:t>
            </a:r>
            <a:r>
              <a:rPr sz="2150" spc="-10" dirty="0">
                <a:latin typeface="Calibri" panose="020F0502020204030204"/>
                <a:cs typeface="Calibri" panose="020F0502020204030204"/>
              </a:rPr>
              <a:t>ANSYS.</a:t>
            </a:r>
            <a:endParaRPr sz="2150">
              <a:latin typeface="Calibri" panose="020F0502020204030204"/>
              <a:cs typeface="Calibri" panose="020F0502020204030204"/>
            </a:endParaRPr>
          </a:p>
          <a:p>
            <a:pPr marL="355600" marR="5080" indent="-343535">
              <a:lnSpc>
                <a:spcPts val="2410"/>
              </a:lnSpc>
              <a:spcBef>
                <a:spcPts val="570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dirty="0">
                <a:latin typeface="Calibri" panose="020F0502020204030204"/>
                <a:cs typeface="Calibri" panose="020F0502020204030204"/>
              </a:rPr>
              <a:t>Results</a:t>
            </a:r>
            <a:r>
              <a:rPr sz="2150" spc="120" dirty="0">
                <a:latin typeface="Calibri" panose="020F0502020204030204"/>
                <a:cs typeface="Calibri" panose="020F0502020204030204"/>
              </a:rPr>
              <a:t> </a:t>
            </a:r>
            <a:r>
              <a:rPr sz="2150" dirty="0">
                <a:latin typeface="Calibri" panose="020F0502020204030204"/>
                <a:cs typeface="Calibri" panose="020F0502020204030204"/>
              </a:rPr>
              <a:t>confirmed</a:t>
            </a:r>
            <a:r>
              <a:rPr sz="2150" spc="55" dirty="0">
                <a:latin typeface="Calibri" panose="020F0502020204030204"/>
                <a:cs typeface="Calibri" panose="020F0502020204030204"/>
              </a:rPr>
              <a:t> </a:t>
            </a:r>
            <a:r>
              <a:rPr sz="2150" dirty="0">
                <a:latin typeface="Calibri" panose="020F0502020204030204"/>
                <a:cs typeface="Calibri" panose="020F0502020204030204"/>
              </a:rPr>
              <a:t>safe</a:t>
            </a:r>
            <a:r>
              <a:rPr sz="2150" spc="35" dirty="0">
                <a:latin typeface="Calibri" panose="020F0502020204030204"/>
                <a:cs typeface="Calibri" panose="020F0502020204030204"/>
              </a:rPr>
              <a:t> </a:t>
            </a:r>
            <a:r>
              <a:rPr sz="2150" spc="-25" dirty="0">
                <a:latin typeface="Calibri" panose="020F0502020204030204"/>
                <a:cs typeface="Calibri" panose="020F0502020204030204"/>
              </a:rPr>
              <a:t>and </a:t>
            </a:r>
            <a:r>
              <a:rPr sz="2150" dirty="0">
                <a:latin typeface="Calibri" panose="020F0502020204030204"/>
                <a:cs typeface="Calibri" panose="020F0502020204030204"/>
              </a:rPr>
              <a:t>reliable</a:t>
            </a:r>
            <a:r>
              <a:rPr sz="2150" spc="75" dirty="0">
                <a:latin typeface="Calibri" panose="020F0502020204030204"/>
                <a:cs typeface="Calibri" panose="020F0502020204030204"/>
              </a:rPr>
              <a:t> </a:t>
            </a:r>
            <a:r>
              <a:rPr sz="2150" dirty="0">
                <a:latin typeface="Calibri" panose="020F0502020204030204"/>
                <a:cs typeface="Calibri" panose="020F0502020204030204"/>
              </a:rPr>
              <a:t>design</a:t>
            </a:r>
            <a:r>
              <a:rPr sz="2150" spc="100" dirty="0">
                <a:latin typeface="Calibri" panose="020F0502020204030204"/>
                <a:cs typeface="Calibri" panose="020F0502020204030204"/>
              </a:rPr>
              <a:t> </a:t>
            </a:r>
            <a:r>
              <a:rPr sz="2150" spc="-10" dirty="0">
                <a:latin typeface="Calibri" panose="020F0502020204030204"/>
                <a:cs typeface="Calibri" panose="020F0502020204030204"/>
              </a:rPr>
              <a:t>performance.</a:t>
            </a:r>
            <a:endParaRPr sz="21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5838825"/>
            <a:ext cx="1162050" cy="1019175"/>
          </a:xfrm>
          <a:custGeom>
            <a:avLst/>
            <a:gdLst/>
            <a:ahLst/>
            <a:cxnLst/>
            <a:rect l="l" t="t" r="r" b="b"/>
            <a:pathLst>
              <a:path w="1162050" h="1019175">
                <a:moveTo>
                  <a:pt x="1115580" y="0"/>
                </a:moveTo>
                <a:lnTo>
                  <a:pt x="0" y="0"/>
                </a:lnTo>
                <a:lnTo>
                  <a:pt x="0" y="123443"/>
                </a:lnTo>
                <a:lnTo>
                  <a:pt x="1069111" y="123443"/>
                </a:lnTo>
                <a:lnTo>
                  <a:pt x="1069111" y="1019175"/>
                </a:lnTo>
                <a:lnTo>
                  <a:pt x="1162050" y="1019175"/>
                </a:lnTo>
                <a:lnTo>
                  <a:pt x="1162050" y="61721"/>
                </a:lnTo>
                <a:lnTo>
                  <a:pt x="1158398" y="37697"/>
                </a:lnTo>
                <a:lnTo>
                  <a:pt x="1148440" y="18078"/>
                </a:lnTo>
                <a:lnTo>
                  <a:pt x="1133669" y="4850"/>
                </a:lnTo>
                <a:lnTo>
                  <a:pt x="1115580" y="0"/>
                </a:lnTo>
                <a:close/>
              </a:path>
            </a:pathLst>
          </a:custGeom>
          <a:solidFill>
            <a:srgbClr val="F7954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" name="object 8"/>
          <p:cNvGrpSpPr/>
          <p:nvPr/>
        </p:nvGrpSpPr>
        <p:grpSpPr>
          <a:xfrm>
            <a:off x="2562225" y="5715025"/>
            <a:ext cx="1714500" cy="1143000"/>
            <a:chOff x="2562225" y="5715025"/>
            <a:chExt cx="1714500" cy="1143000"/>
          </a:xfrm>
        </p:grpSpPr>
        <p:sp>
          <p:nvSpPr>
            <p:cNvPr id="9" name="object 9"/>
            <p:cNvSpPr/>
            <p:nvPr/>
          </p:nvSpPr>
          <p:spPr>
            <a:xfrm>
              <a:off x="2562225" y="5715025"/>
              <a:ext cx="1333500" cy="1143000"/>
            </a:xfrm>
            <a:custGeom>
              <a:avLst/>
              <a:gdLst/>
              <a:ahLst/>
              <a:cxnLst/>
              <a:rect l="l" t="t" r="r" b="b"/>
              <a:pathLst>
                <a:path w="1333500" h="1143000">
                  <a:moveTo>
                    <a:pt x="157987" y="764959"/>
                  </a:moveTo>
                  <a:lnTo>
                    <a:pt x="120751" y="780639"/>
                  </a:lnTo>
                  <a:lnTo>
                    <a:pt x="93573" y="838220"/>
                  </a:lnTo>
                  <a:lnTo>
                    <a:pt x="76342" y="882343"/>
                  </a:lnTo>
                  <a:lnTo>
                    <a:pt x="60184" y="927140"/>
                  </a:lnTo>
                  <a:lnTo>
                    <a:pt x="45085" y="972578"/>
                  </a:lnTo>
                  <a:lnTo>
                    <a:pt x="0" y="1142974"/>
                  </a:lnTo>
                  <a:lnTo>
                    <a:pt x="101092" y="1142974"/>
                  </a:lnTo>
                  <a:lnTo>
                    <a:pt x="133095" y="1022283"/>
                  </a:lnTo>
                  <a:lnTo>
                    <a:pt x="147004" y="980490"/>
                  </a:lnTo>
                  <a:lnTo>
                    <a:pt x="161877" y="939288"/>
                  </a:lnTo>
                  <a:lnTo>
                    <a:pt x="177726" y="898710"/>
                  </a:lnTo>
                  <a:lnTo>
                    <a:pt x="194563" y="858786"/>
                  </a:lnTo>
                  <a:lnTo>
                    <a:pt x="200142" y="834627"/>
                  </a:lnTo>
                  <a:lnTo>
                    <a:pt x="190009" y="788629"/>
                  </a:lnTo>
                  <a:lnTo>
                    <a:pt x="163956" y="765860"/>
                  </a:lnTo>
                  <a:lnTo>
                    <a:pt x="157987" y="764959"/>
                  </a:lnTo>
                  <a:close/>
                </a:path>
                <a:path w="1333500" h="1143000">
                  <a:moveTo>
                    <a:pt x="630936" y="161696"/>
                  </a:moveTo>
                  <a:lnTo>
                    <a:pt x="574722" y="194743"/>
                  </a:lnTo>
                  <a:lnTo>
                    <a:pt x="537662" y="222858"/>
                  </a:lnTo>
                  <a:lnTo>
                    <a:pt x="501376" y="252689"/>
                  </a:lnTo>
                  <a:lnTo>
                    <a:pt x="465904" y="284208"/>
                  </a:lnTo>
                  <a:lnTo>
                    <a:pt x="431283" y="317382"/>
                  </a:lnTo>
                  <a:lnTo>
                    <a:pt x="397550" y="352184"/>
                  </a:lnTo>
                  <a:lnTo>
                    <a:pt x="364744" y="388581"/>
                  </a:lnTo>
                  <a:lnTo>
                    <a:pt x="348297" y="432025"/>
                  </a:lnTo>
                  <a:lnTo>
                    <a:pt x="350420" y="456240"/>
                  </a:lnTo>
                  <a:lnTo>
                    <a:pt x="376062" y="494642"/>
                  </a:lnTo>
                  <a:lnTo>
                    <a:pt x="395986" y="500405"/>
                  </a:lnTo>
                  <a:lnTo>
                    <a:pt x="396239" y="500405"/>
                  </a:lnTo>
                  <a:lnTo>
                    <a:pt x="462801" y="446302"/>
                  </a:lnTo>
                  <a:lnTo>
                    <a:pt x="499260" y="409293"/>
                  </a:lnTo>
                  <a:lnTo>
                    <a:pt x="536813" y="374335"/>
                  </a:lnTo>
                  <a:lnTo>
                    <a:pt x="575413" y="341471"/>
                  </a:lnTo>
                  <a:lnTo>
                    <a:pt x="615015" y="310742"/>
                  </a:lnTo>
                  <a:lnTo>
                    <a:pt x="655574" y="282193"/>
                  </a:lnTo>
                  <a:lnTo>
                    <a:pt x="670532" y="266574"/>
                  </a:lnTo>
                  <a:lnTo>
                    <a:pt x="679513" y="245271"/>
                  </a:lnTo>
                  <a:lnTo>
                    <a:pt x="681827" y="221039"/>
                  </a:lnTo>
                  <a:lnTo>
                    <a:pt x="676782" y="196634"/>
                  </a:lnTo>
                  <a:lnTo>
                    <a:pt x="668476" y="180998"/>
                  </a:lnTo>
                  <a:lnTo>
                    <a:pt x="657478" y="169706"/>
                  </a:lnTo>
                  <a:lnTo>
                    <a:pt x="644671" y="163144"/>
                  </a:lnTo>
                  <a:lnTo>
                    <a:pt x="630936" y="161696"/>
                  </a:lnTo>
                  <a:close/>
                </a:path>
                <a:path w="1333500" h="1143000">
                  <a:moveTo>
                    <a:pt x="1140587" y="0"/>
                  </a:moveTo>
                  <a:lnTo>
                    <a:pt x="1066069" y="3676"/>
                  </a:lnTo>
                  <a:lnTo>
                    <a:pt x="991742" y="13487"/>
                  </a:lnTo>
                  <a:lnTo>
                    <a:pt x="959929" y="37458"/>
                  </a:lnTo>
                  <a:lnTo>
                    <a:pt x="951698" y="59008"/>
                  </a:lnTo>
                  <a:lnTo>
                    <a:pt x="951630" y="59185"/>
                  </a:lnTo>
                  <a:lnTo>
                    <a:pt x="955496" y="106644"/>
                  </a:lnTo>
                  <a:lnTo>
                    <a:pt x="980682" y="136081"/>
                  </a:lnTo>
                  <a:lnTo>
                    <a:pt x="998072" y="140233"/>
                  </a:lnTo>
                  <a:lnTo>
                    <a:pt x="999998" y="140233"/>
                  </a:lnTo>
                  <a:lnTo>
                    <a:pt x="1002157" y="140068"/>
                  </a:lnTo>
                  <a:lnTo>
                    <a:pt x="1004188" y="139725"/>
                  </a:lnTo>
                  <a:lnTo>
                    <a:pt x="1058930" y="132041"/>
                  </a:lnTo>
                  <a:lnTo>
                    <a:pt x="1113817" y="127979"/>
                  </a:lnTo>
                  <a:lnTo>
                    <a:pt x="1311436" y="127539"/>
                  </a:lnTo>
                  <a:lnTo>
                    <a:pt x="1313973" y="125947"/>
                  </a:lnTo>
                  <a:lnTo>
                    <a:pt x="1326423" y="108015"/>
                  </a:lnTo>
                  <a:lnTo>
                    <a:pt x="1332967" y="84366"/>
                  </a:lnTo>
                  <a:lnTo>
                    <a:pt x="1332069" y="59185"/>
                  </a:lnTo>
                  <a:lnTo>
                    <a:pt x="1310774" y="20344"/>
                  </a:lnTo>
                  <a:lnTo>
                    <a:pt x="1290701" y="11214"/>
                  </a:lnTo>
                  <a:lnTo>
                    <a:pt x="1290393" y="11214"/>
                  </a:lnTo>
                  <a:lnTo>
                    <a:pt x="1252440" y="6020"/>
                  </a:lnTo>
                  <a:lnTo>
                    <a:pt x="1215215" y="2478"/>
                  </a:lnTo>
                  <a:lnTo>
                    <a:pt x="1177919" y="471"/>
                  </a:lnTo>
                  <a:lnTo>
                    <a:pt x="1140587" y="0"/>
                  </a:lnTo>
                  <a:close/>
                </a:path>
                <a:path w="1333500" h="1143000">
                  <a:moveTo>
                    <a:pt x="1311436" y="127539"/>
                  </a:moveTo>
                  <a:lnTo>
                    <a:pt x="1168753" y="127539"/>
                  </a:lnTo>
                  <a:lnTo>
                    <a:pt x="1223640" y="130722"/>
                  </a:lnTo>
                  <a:lnTo>
                    <a:pt x="1278382" y="137528"/>
                  </a:lnTo>
                  <a:lnTo>
                    <a:pt x="1297380" y="136356"/>
                  </a:lnTo>
                  <a:lnTo>
                    <a:pt x="1311436" y="127539"/>
                  </a:lnTo>
                  <a:close/>
                </a:path>
              </a:pathLst>
            </a:custGeom>
            <a:solidFill>
              <a:srgbClr val="8063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095625" y="6257925"/>
              <a:ext cx="1181100" cy="600075"/>
            </a:xfrm>
            <a:custGeom>
              <a:avLst/>
              <a:gdLst/>
              <a:ahLst/>
              <a:cxnLst/>
              <a:rect l="l" t="t" r="r" b="b"/>
              <a:pathLst>
                <a:path w="1181100" h="600075">
                  <a:moveTo>
                    <a:pt x="590550" y="0"/>
                  </a:moveTo>
                  <a:lnTo>
                    <a:pt x="546362" y="2036"/>
                  </a:lnTo>
                  <a:lnTo>
                    <a:pt x="503027" y="8051"/>
                  </a:lnTo>
                  <a:lnTo>
                    <a:pt x="460650" y="17907"/>
                  </a:lnTo>
                  <a:lnTo>
                    <a:pt x="419341" y="31464"/>
                  </a:lnTo>
                  <a:lnTo>
                    <a:pt x="379208" y="48583"/>
                  </a:lnTo>
                  <a:lnTo>
                    <a:pt x="340357" y="69124"/>
                  </a:lnTo>
                  <a:lnTo>
                    <a:pt x="302898" y="92948"/>
                  </a:lnTo>
                  <a:lnTo>
                    <a:pt x="266939" y="119917"/>
                  </a:lnTo>
                  <a:lnTo>
                    <a:pt x="232586" y="149890"/>
                  </a:lnTo>
                  <a:lnTo>
                    <a:pt x="199948" y="182728"/>
                  </a:lnTo>
                  <a:lnTo>
                    <a:pt x="169133" y="218293"/>
                  </a:lnTo>
                  <a:lnTo>
                    <a:pt x="140250" y="256445"/>
                  </a:lnTo>
                  <a:lnTo>
                    <a:pt x="113405" y="297044"/>
                  </a:lnTo>
                  <a:lnTo>
                    <a:pt x="88707" y="339952"/>
                  </a:lnTo>
                  <a:lnTo>
                    <a:pt x="66264" y="385029"/>
                  </a:lnTo>
                  <a:lnTo>
                    <a:pt x="46184" y="432136"/>
                  </a:lnTo>
                  <a:lnTo>
                    <a:pt x="28575" y="481134"/>
                  </a:lnTo>
                  <a:lnTo>
                    <a:pt x="0" y="600075"/>
                  </a:lnTo>
                  <a:lnTo>
                    <a:pt x="1181100" y="600075"/>
                  </a:lnTo>
                  <a:lnTo>
                    <a:pt x="1152525" y="481134"/>
                  </a:lnTo>
                  <a:lnTo>
                    <a:pt x="1134915" y="432136"/>
                  </a:lnTo>
                  <a:lnTo>
                    <a:pt x="1114835" y="385029"/>
                  </a:lnTo>
                  <a:lnTo>
                    <a:pt x="1092392" y="339952"/>
                  </a:lnTo>
                  <a:lnTo>
                    <a:pt x="1067694" y="297044"/>
                  </a:lnTo>
                  <a:lnTo>
                    <a:pt x="1040849" y="256445"/>
                  </a:lnTo>
                  <a:lnTo>
                    <a:pt x="1011966" y="218293"/>
                  </a:lnTo>
                  <a:lnTo>
                    <a:pt x="981151" y="182728"/>
                  </a:lnTo>
                  <a:lnTo>
                    <a:pt x="948513" y="149890"/>
                  </a:lnTo>
                  <a:lnTo>
                    <a:pt x="914160" y="119917"/>
                  </a:lnTo>
                  <a:lnTo>
                    <a:pt x="878201" y="92948"/>
                  </a:lnTo>
                  <a:lnTo>
                    <a:pt x="840742" y="69124"/>
                  </a:lnTo>
                  <a:lnTo>
                    <a:pt x="801891" y="48583"/>
                  </a:lnTo>
                  <a:lnTo>
                    <a:pt x="761758" y="31464"/>
                  </a:lnTo>
                  <a:lnTo>
                    <a:pt x="720449" y="17907"/>
                  </a:lnTo>
                  <a:lnTo>
                    <a:pt x="678072" y="8051"/>
                  </a:lnTo>
                  <a:lnTo>
                    <a:pt x="634737" y="2036"/>
                  </a:lnTo>
                  <a:lnTo>
                    <a:pt x="590550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8990" y="1310005"/>
            <a:ext cx="3529965" cy="5638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Problem</a:t>
            </a:r>
            <a:r>
              <a:rPr spc="-114" dirty="0"/>
              <a:t> </a:t>
            </a:r>
            <a:r>
              <a:rPr spc="-10" dirty="0"/>
              <a:t>Statement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650875" y="3191827"/>
            <a:ext cx="3749675" cy="15862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355600" algn="l"/>
              </a:tabLst>
            </a:pPr>
            <a:r>
              <a:rPr sz="1700" spc="-80" dirty="0">
                <a:latin typeface="Calibri" panose="020F0502020204030204"/>
                <a:cs typeface="Calibri" panose="020F0502020204030204"/>
              </a:rPr>
              <a:t>To</a:t>
            </a:r>
            <a:r>
              <a:rPr sz="17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700" dirty="0">
                <a:latin typeface="Calibri" panose="020F0502020204030204"/>
                <a:cs typeface="Calibri" panose="020F0502020204030204"/>
              </a:rPr>
              <a:t>design</a:t>
            </a:r>
            <a:r>
              <a:rPr sz="17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700" dirty="0">
                <a:latin typeface="Calibri" panose="020F0502020204030204"/>
                <a:cs typeface="Calibri" panose="020F0502020204030204"/>
              </a:rPr>
              <a:t>and</a:t>
            </a:r>
            <a:r>
              <a:rPr sz="1700" spc="-10" dirty="0">
                <a:latin typeface="Calibri" panose="020F0502020204030204"/>
                <a:cs typeface="Calibri" panose="020F0502020204030204"/>
              </a:rPr>
              <a:t> analyze</a:t>
            </a:r>
            <a:r>
              <a:rPr sz="17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700" dirty="0">
                <a:latin typeface="Calibri" panose="020F0502020204030204"/>
                <a:cs typeface="Calibri" panose="020F0502020204030204"/>
              </a:rPr>
              <a:t>a</a:t>
            </a:r>
            <a:r>
              <a:rPr sz="17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700" spc="-10" dirty="0">
                <a:latin typeface="Calibri" panose="020F0502020204030204"/>
                <a:cs typeface="Calibri" panose="020F0502020204030204"/>
              </a:rPr>
              <a:t>differential </a:t>
            </a:r>
            <a:r>
              <a:rPr sz="1700" dirty="0">
                <a:latin typeface="Calibri" panose="020F0502020204030204"/>
                <a:cs typeface="Calibri" panose="020F0502020204030204"/>
              </a:rPr>
              <a:t>gearbox</a:t>
            </a:r>
            <a:r>
              <a:rPr sz="17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700" dirty="0">
                <a:latin typeface="Calibri" panose="020F0502020204030204"/>
                <a:cs typeface="Calibri" panose="020F0502020204030204"/>
              </a:rPr>
              <a:t>shaft</a:t>
            </a:r>
            <a:r>
              <a:rPr sz="17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700" dirty="0">
                <a:latin typeface="Calibri" panose="020F0502020204030204"/>
                <a:cs typeface="Calibri" panose="020F0502020204030204"/>
              </a:rPr>
              <a:t>subjected</a:t>
            </a:r>
            <a:r>
              <a:rPr sz="17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1700" dirty="0">
                <a:latin typeface="Calibri" panose="020F0502020204030204"/>
                <a:cs typeface="Calibri" panose="020F0502020204030204"/>
              </a:rPr>
              <a:t>to</a:t>
            </a:r>
            <a:r>
              <a:rPr sz="17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1700" dirty="0">
                <a:latin typeface="Calibri" panose="020F0502020204030204"/>
                <a:cs typeface="Calibri" panose="020F0502020204030204"/>
              </a:rPr>
              <a:t>torque</a:t>
            </a:r>
            <a:r>
              <a:rPr sz="17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700" spc="-25" dirty="0">
                <a:latin typeface="Calibri" panose="020F0502020204030204"/>
                <a:cs typeface="Calibri" panose="020F0502020204030204"/>
              </a:rPr>
              <a:t>and </a:t>
            </a:r>
            <a:r>
              <a:rPr sz="1700" dirty="0">
                <a:latin typeface="Calibri" panose="020F0502020204030204"/>
                <a:cs typeface="Calibri" panose="020F0502020204030204"/>
              </a:rPr>
              <a:t>bending</a:t>
            </a:r>
            <a:r>
              <a:rPr sz="17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700" dirty="0">
                <a:latin typeface="Calibri" panose="020F0502020204030204"/>
                <a:cs typeface="Calibri" panose="020F0502020204030204"/>
              </a:rPr>
              <a:t>due</a:t>
            </a:r>
            <a:r>
              <a:rPr sz="17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700" dirty="0">
                <a:latin typeface="Calibri" panose="020F0502020204030204"/>
                <a:cs typeface="Calibri" panose="020F0502020204030204"/>
              </a:rPr>
              <a:t>to</a:t>
            </a:r>
            <a:r>
              <a:rPr sz="17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1700" dirty="0">
                <a:latin typeface="Calibri" panose="020F0502020204030204"/>
                <a:cs typeface="Calibri" panose="020F0502020204030204"/>
              </a:rPr>
              <a:t>gear</a:t>
            </a:r>
            <a:r>
              <a:rPr sz="17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1700" dirty="0">
                <a:latin typeface="Calibri" panose="020F0502020204030204"/>
                <a:cs typeface="Calibri" panose="020F0502020204030204"/>
              </a:rPr>
              <a:t>forces,</a:t>
            </a:r>
            <a:r>
              <a:rPr sz="17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700" dirty="0">
                <a:latin typeface="Calibri" panose="020F0502020204030204"/>
                <a:cs typeface="Calibri" panose="020F0502020204030204"/>
              </a:rPr>
              <a:t>and</a:t>
            </a:r>
            <a:r>
              <a:rPr sz="17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1700" spc="-25" dirty="0">
                <a:latin typeface="Calibri" panose="020F0502020204030204"/>
                <a:cs typeface="Calibri" panose="020F0502020204030204"/>
              </a:rPr>
              <a:t>to </a:t>
            </a:r>
            <a:r>
              <a:rPr sz="1700" dirty="0">
                <a:latin typeface="Calibri" panose="020F0502020204030204"/>
                <a:cs typeface="Calibri" panose="020F0502020204030204"/>
              </a:rPr>
              <a:t>verify</a:t>
            </a:r>
            <a:r>
              <a:rPr sz="170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1700" spc="-10" dirty="0">
                <a:latin typeface="Calibri" panose="020F0502020204030204"/>
                <a:cs typeface="Calibri" panose="020F0502020204030204"/>
              </a:rPr>
              <a:t>stresses</a:t>
            </a:r>
            <a:r>
              <a:rPr sz="17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700" dirty="0">
                <a:latin typeface="Calibri" panose="020F0502020204030204"/>
                <a:cs typeface="Calibri" panose="020F0502020204030204"/>
              </a:rPr>
              <a:t>and</a:t>
            </a:r>
            <a:r>
              <a:rPr sz="17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700" spc="-10" dirty="0">
                <a:latin typeface="Calibri" panose="020F0502020204030204"/>
                <a:cs typeface="Calibri" panose="020F0502020204030204"/>
              </a:rPr>
              <a:t>deformation</a:t>
            </a:r>
            <a:r>
              <a:rPr sz="17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700" spc="-10" dirty="0">
                <a:latin typeface="Calibri" panose="020F0502020204030204"/>
                <a:cs typeface="Calibri" panose="020F0502020204030204"/>
              </a:rPr>
              <a:t>using </a:t>
            </a:r>
            <a:r>
              <a:rPr sz="1700" dirty="0">
                <a:latin typeface="Calibri" panose="020F0502020204030204"/>
                <a:cs typeface="Calibri" panose="020F0502020204030204"/>
              </a:rPr>
              <a:t>analytical</a:t>
            </a:r>
            <a:r>
              <a:rPr sz="17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700" dirty="0">
                <a:latin typeface="Calibri" panose="020F0502020204030204"/>
                <a:cs typeface="Calibri" panose="020F0502020204030204"/>
              </a:rPr>
              <a:t>methods,</a:t>
            </a:r>
            <a:r>
              <a:rPr sz="17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700" spc="-10" dirty="0">
                <a:latin typeface="Calibri" panose="020F0502020204030204"/>
                <a:cs typeface="Calibri" panose="020F0502020204030204"/>
              </a:rPr>
              <a:t>programming,</a:t>
            </a:r>
            <a:r>
              <a:rPr sz="17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700" spc="-25" dirty="0">
                <a:latin typeface="Calibri" panose="020F0502020204030204"/>
                <a:cs typeface="Calibri" panose="020F0502020204030204"/>
              </a:rPr>
              <a:t>and </a:t>
            </a:r>
            <a:r>
              <a:rPr sz="1700" spc="-20" dirty="0">
                <a:latin typeface="Calibri" panose="020F0502020204030204"/>
                <a:cs typeface="Calibri" panose="020F0502020204030204"/>
              </a:rPr>
              <a:t>FEA.</a:t>
            </a:r>
            <a:endParaRPr sz="17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029200" y="-3"/>
            <a:ext cx="4114800" cy="6858000"/>
            <a:chOff x="5029200" y="-3"/>
            <a:chExt cx="4114800" cy="6858000"/>
          </a:xfrm>
        </p:grpSpPr>
        <p:pic>
          <p:nvPicPr>
            <p:cNvPr id="5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029200" y="0"/>
              <a:ext cx="4114800" cy="68580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43500" y="-3"/>
              <a:ext cx="4000500" cy="685779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3667125" cy="6858000"/>
          </a:xfrm>
          <a:custGeom>
            <a:avLst/>
            <a:gdLst/>
            <a:ahLst/>
            <a:cxnLst/>
            <a:rect l="l" t="t" r="r" b="b"/>
            <a:pathLst>
              <a:path w="3667125" h="6858000">
                <a:moveTo>
                  <a:pt x="3667125" y="0"/>
                </a:moveTo>
                <a:lnTo>
                  <a:pt x="0" y="0"/>
                </a:lnTo>
                <a:lnTo>
                  <a:pt x="0" y="6858000"/>
                </a:lnTo>
                <a:lnTo>
                  <a:pt x="3667125" y="6858000"/>
                </a:lnTo>
                <a:lnTo>
                  <a:pt x="36671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13740" y="2955226"/>
            <a:ext cx="2233295" cy="655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1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 panose="020F0502020204030204"/>
                <a:cs typeface="Calibri" panose="020F0502020204030204"/>
              </a:rPr>
              <a:t>Objectives</a:t>
            </a:r>
            <a:endParaRPr sz="41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200025"/>
            <a:ext cx="3810000" cy="6315075"/>
            <a:chOff x="0" y="200025"/>
            <a:chExt cx="3810000" cy="6315075"/>
          </a:xfrm>
        </p:grpSpPr>
        <p:sp>
          <p:nvSpPr>
            <p:cNvPr id="5" name="object 5"/>
            <p:cNvSpPr/>
            <p:nvPr/>
          </p:nvSpPr>
          <p:spPr>
            <a:xfrm>
              <a:off x="0" y="200024"/>
              <a:ext cx="1428750" cy="4919980"/>
            </a:xfrm>
            <a:custGeom>
              <a:avLst/>
              <a:gdLst/>
              <a:ahLst/>
              <a:cxnLst/>
              <a:rect l="l" t="t" r="r" b="b"/>
              <a:pathLst>
                <a:path w="1428750" h="4919980">
                  <a:moveTo>
                    <a:pt x="585787" y="4738751"/>
                  </a:moveTo>
                  <a:lnTo>
                    <a:pt x="578739" y="4681512"/>
                  </a:lnTo>
                  <a:lnTo>
                    <a:pt x="559130" y="4631817"/>
                  </a:lnTo>
                  <a:lnTo>
                    <a:pt x="529234" y="4592663"/>
                  </a:lnTo>
                  <a:lnTo>
                    <a:pt x="491324" y="4566996"/>
                  </a:lnTo>
                  <a:lnTo>
                    <a:pt x="447675" y="4557776"/>
                  </a:lnTo>
                  <a:lnTo>
                    <a:pt x="404012" y="4566996"/>
                  </a:lnTo>
                  <a:lnTo>
                    <a:pt x="366102" y="4592663"/>
                  </a:lnTo>
                  <a:lnTo>
                    <a:pt x="336207" y="4631817"/>
                  </a:lnTo>
                  <a:lnTo>
                    <a:pt x="316598" y="4681512"/>
                  </a:lnTo>
                  <a:lnTo>
                    <a:pt x="309562" y="4738751"/>
                  </a:lnTo>
                  <a:lnTo>
                    <a:pt x="316598" y="4795964"/>
                  </a:lnTo>
                  <a:lnTo>
                    <a:pt x="336207" y="4845634"/>
                  </a:lnTo>
                  <a:lnTo>
                    <a:pt x="366102" y="4884813"/>
                  </a:lnTo>
                  <a:lnTo>
                    <a:pt x="404012" y="4910506"/>
                  </a:lnTo>
                  <a:lnTo>
                    <a:pt x="447675" y="4919726"/>
                  </a:lnTo>
                  <a:lnTo>
                    <a:pt x="491324" y="4910506"/>
                  </a:lnTo>
                  <a:lnTo>
                    <a:pt x="529234" y="4884813"/>
                  </a:lnTo>
                  <a:lnTo>
                    <a:pt x="559130" y="4845634"/>
                  </a:lnTo>
                  <a:lnTo>
                    <a:pt x="578739" y="4795964"/>
                  </a:lnTo>
                  <a:lnTo>
                    <a:pt x="585787" y="4738751"/>
                  </a:lnTo>
                  <a:close/>
                </a:path>
                <a:path w="1428750" h="4919980">
                  <a:moveTo>
                    <a:pt x="1428750" y="687451"/>
                  </a:moveTo>
                  <a:lnTo>
                    <a:pt x="1245158" y="438150"/>
                  </a:lnTo>
                  <a:lnTo>
                    <a:pt x="1068832" y="677672"/>
                  </a:lnTo>
                  <a:lnTo>
                    <a:pt x="892517" y="438150"/>
                  </a:lnTo>
                  <a:lnTo>
                    <a:pt x="714375" y="677672"/>
                  </a:lnTo>
                  <a:lnTo>
                    <a:pt x="538048" y="438150"/>
                  </a:lnTo>
                  <a:lnTo>
                    <a:pt x="361734" y="677672"/>
                  </a:lnTo>
                  <a:lnTo>
                    <a:pt x="183591" y="438150"/>
                  </a:lnTo>
                  <a:lnTo>
                    <a:pt x="0" y="687451"/>
                  </a:lnTo>
                  <a:lnTo>
                    <a:pt x="14541" y="704596"/>
                  </a:lnTo>
                  <a:lnTo>
                    <a:pt x="183591" y="477266"/>
                  </a:lnTo>
                  <a:lnTo>
                    <a:pt x="361734" y="714375"/>
                  </a:lnTo>
                  <a:lnTo>
                    <a:pt x="538048" y="477266"/>
                  </a:lnTo>
                  <a:lnTo>
                    <a:pt x="714375" y="714375"/>
                  </a:lnTo>
                  <a:lnTo>
                    <a:pt x="892517" y="477266"/>
                  </a:lnTo>
                  <a:lnTo>
                    <a:pt x="1068832" y="714375"/>
                  </a:lnTo>
                  <a:lnTo>
                    <a:pt x="1245158" y="477266"/>
                  </a:lnTo>
                  <a:lnTo>
                    <a:pt x="1416050" y="704596"/>
                  </a:lnTo>
                  <a:lnTo>
                    <a:pt x="1428750" y="687451"/>
                  </a:lnTo>
                  <a:close/>
                </a:path>
                <a:path w="1428750" h="4919980">
                  <a:moveTo>
                    <a:pt x="1428750" y="246888"/>
                  </a:moveTo>
                  <a:lnTo>
                    <a:pt x="1245158" y="0"/>
                  </a:lnTo>
                  <a:lnTo>
                    <a:pt x="1068832" y="237109"/>
                  </a:lnTo>
                  <a:lnTo>
                    <a:pt x="892517" y="0"/>
                  </a:lnTo>
                  <a:lnTo>
                    <a:pt x="714375" y="237109"/>
                  </a:lnTo>
                  <a:lnTo>
                    <a:pt x="538048" y="0"/>
                  </a:lnTo>
                  <a:lnTo>
                    <a:pt x="361734" y="237109"/>
                  </a:lnTo>
                  <a:lnTo>
                    <a:pt x="183591" y="0"/>
                  </a:lnTo>
                  <a:lnTo>
                    <a:pt x="0" y="246888"/>
                  </a:lnTo>
                  <a:lnTo>
                    <a:pt x="14541" y="266446"/>
                  </a:lnTo>
                  <a:lnTo>
                    <a:pt x="183591" y="39128"/>
                  </a:lnTo>
                  <a:lnTo>
                    <a:pt x="361734" y="276225"/>
                  </a:lnTo>
                  <a:lnTo>
                    <a:pt x="538048" y="39128"/>
                  </a:lnTo>
                  <a:lnTo>
                    <a:pt x="714375" y="276225"/>
                  </a:lnTo>
                  <a:lnTo>
                    <a:pt x="892517" y="39128"/>
                  </a:lnTo>
                  <a:lnTo>
                    <a:pt x="1068832" y="276225"/>
                  </a:lnTo>
                  <a:lnTo>
                    <a:pt x="1245158" y="39128"/>
                  </a:lnTo>
                  <a:lnTo>
                    <a:pt x="1416050" y="266446"/>
                  </a:lnTo>
                  <a:lnTo>
                    <a:pt x="1428750" y="2468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09562" y="4757801"/>
              <a:ext cx="276225" cy="361950"/>
            </a:xfrm>
            <a:custGeom>
              <a:avLst/>
              <a:gdLst/>
              <a:ahLst/>
              <a:cxnLst/>
              <a:rect l="l" t="t" r="r" b="b"/>
              <a:pathLst>
                <a:path w="276225" h="361950">
                  <a:moveTo>
                    <a:pt x="0" y="180975"/>
                  </a:moveTo>
                  <a:lnTo>
                    <a:pt x="7041" y="123724"/>
                  </a:lnTo>
                  <a:lnTo>
                    <a:pt x="26648" y="74038"/>
                  </a:lnTo>
                  <a:lnTo>
                    <a:pt x="56545" y="34881"/>
                  </a:lnTo>
                  <a:lnTo>
                    <a:pt x="94458" y="9214"/>
                  </a:lnTo>
                  <a:lnTo>
                    <a:pt x="138112" y="0"/>
                  </a:lnTo>
                  <a:lnTo>
                    <a:pt x="181766" y="9214"/>
                  </a:lnTo>
                  <a:lnTo>
                    <a:pt x="219679" y="34881"/>
                  </a:lnTo>
                  <a:lnTo>
                    <a:pt x="249576" y="74038"/>
                  </a:lnTo>
                  <a:lnTo>
                    <a:pt x="269183" y="123724"/>
                  </a:lnTo>
                  <a:lnTo>
                    <a:pt x="276225" y="180975"/>
                  </a:lnTo>
                  <a:lnTo>
                    <a:pt x="269183" y="238176"/>
                  </a:lnTo>
                  <a:lnTo>
                    <a:pt x="249576" y="287856"/>
                  </a:lnTo>
                  <a:lnTo>
                    <a:pt x="219679" y="327032"/>
                  </a:lnTo>
                  <a:lnTo>
                    <a:pt x="181766" y="352723"/>
                  </a:lnTo>
                  <a:lnTo>
                    <a:pt x="138112" y="361950"/>
                  </a:lnTo>
                  <a:lnTo>
                    <a:pt x="94458" y="352723"/>
                  </a:lnTo>
                  <a:lnTo>
                    <a:pt x="56545" y="327032"/>
                  </a:lnTo>
                  <a:lnTo>
                    <a:pt x="26648" y="287856"/>
                  </a:lnTo>
                  <a:lnTo>
                    <a:pt x="7041" y="238176"/>
                  </a:lnTo>
                  <a:lnTo>
                    <a:pt x="0" y="180975"/>
                  </a:lnTo>
                  <a:close/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09562" y="4757801"/>
              <a:ext cx="276225" cy="361950"/>
            </a:xfrm>
            <a:custGeom>
              <a:avLst/>
              <a:gdLst/>
              <a:ahLst/>
              <a:cxnLst/>
              <a:rect l="l" t="t" r="r" b="b"/>
              <a:pathLst>
                <a:path w="276225" h="361950">
                  <a:moveTo>
                    <a:pt x="138112" y="0"/>
                  </a:moveTo>
                  <a:lnTo>
                    <a:pt x="94458" y="9214"/>
                  </a:lnTo>
                  <a:lnTo>
                    <a:pt x="56545" y="34881"/>
                  </a:lnTo>
                  <a:lnTo>
                    <a:pt x="26648" y="74038"/>
                  </a:lnTo>
                  <a:lnTo>
                    <a:pt x="7041" y="123724"/>
                  </a:lnTo>
                  <a:lnTo>
                    <a:pt x="0" y="180975"/>
                  </a:lnTo>
                  <a:lnTo>
                    <a:pt x="7041" y="238176"/>
                  </a:lnTo>
                  <a:lnTo>
                    <a:pt x="26648" y="287856"/>
                  </a:lnTo>
                  <a:lnTo>
                    <a:pt x="56545" y="327032"/>
                  </a:lnTo>
                  <a:lnTo>
                    <a:pt x="94458" y="352723"/>
                  </a:lnTo>
                  <a:lnTo>
                    <a:pt x="138112" y="361950"/>
                  </a:lnTo>
                  <a:lnTo>
                    <a:pt x="181766" y="352723"/>
                  </a:lnTo>
                  <a:lnTo>
                    <a:pt x="219679" y="327032"/>
                  </a:lnTo>
                  <a:lnTo>
                    <a:pt x="249576" y="287856"/>
                  </a:lnTo>
                  <a:lnTo>
                    <a:pt x="269183" y="238176"/>
                  </a:lnTo>
                  <a:lnTo>
                    <a:pt x="276225" y="180975"/>
                  </a:lnTo>
                  <a:lnTo>
                    <a:pt x="269183" y="123724"/>
                  </a:lnTo>
                  <a:lnTo>
                    <a:pt x="249576" y="74038"/>
                  </a:lnTo>
                  <a:lnTo>
                    <a:pt x="219679" y="34881"/>
                  </a:lnTo>
                  <a:lnTo>
                    <a:pt x="181766" y="9214"/>
                  </a:lnTo>
                  <a:lnTo>
                    <a:pt x="138112" y="0"/>
                  </a:lnTo>
                  <a:close/>
                </a:path>
              </a:pathLst>
            </a:custGeom>
            <a:solidFill>
              <a:srgbClr val="F79546">
                <a:alpha val="3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09562" y="4757801"/>
              <a:ext cx="276225" cy="361950"/>
            </a:xfrm>
            <a:custGeom>
              <a:avLst/>
              <a:gdLst/>
              <a:ahLst/>
              <a:cxnLst/>
              <a:rect l="l" t="t" r="r" b="b"/>
              <a:pathLst>
                <a:path w="276225" h="361950">
                  <a:moveTo>
                    <a:pt x="0" y="180975"/>
                  </a:moveTo>
                  <a:lnTo>
                    <a:pt x="7041" y="123724"/>
                  </a:lnTo>
                  <a:lnTo>
                    <a:pt x="26648" y="74038"/>
                  </a:lnTo>
                  <a:lnTo>
                    <a:pt x="56545" y="34881"/>
                  </a:lnTo>
                  <a:lnTo>
                    <a:pt x="94458" y="9214"/>
                  </a:lnTo>
                  <a:lnTo>
                    <a:pt x="138112" y="0"/>
                  </a:lnTo>
                  <a:lnTo>
                    <a:pt x="181766" y="9214"/>
                  </a:lnTo>
                  <a:lnTo>
                    <a:pt x="219679" y="34881"/>
                  </a:lnTo>
                  <a:lnTo>
                    <a:pt x="249576" y="74038"/>
                  </a:lnTo>
                  <a:lnTo>
                    <a:pt x="269183" y="123724"/>
                  </a:lnTo>
                  <a:lnTo>
                    <a:pt x="276225" y="180975"/>
                  </a:lnTo>
                  <a:lnTo>
                    <a:pt x="269183" y="238176"/>
                  </a:lnTo>
                  <a:lnTo>
                    <a:pt x="249576" y="287856"/>
                  </a:lnTo>
                  <a:lnTo>
                    <a:pt x="219679" y="327032"/>
                  </a:lnTo>
                  <a:lnTo>
                    <a:pt x="181766" y="352723"/>
                  </a:lnTo>
                  <a:lnTo>
                    <a:pt x="138112" y="361950"/>
                  </a:lnTo>
                  <a:lnTo>
                    <a:pt x="94458" y="352723"/>
                  </a:lnTo>
                  <a:lnTo>
                    <a:pt x="56545" y="327032"/>
                  </a:lnTo>
                  <a:lnTo>
                    <a:pt x="26648" y="287856"/>
                  </a:lnTo>
                  <a:lnTo>
                    <a:pt x="7041" y="238176"/>
                  </a:lnTo>
                  <a:lnTo>
                    <a:pt x="0" y="180975"/>
                  </a:lnTo>
                  <a:close/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124200" y="5591175"/>
              <a:ext cx="152400" cy="20955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086100" y="5543550"/>
              <a:ext cx="723900" cy="971550"/>
            </a:xfrm>
            <a:custGeom>
              <a:avLst/>
              <a:gdLst/>
              <a:ahLst/>
              <a:cxnLst/>
              <a:rect l="l" t="t" r="r" b="b"/>
              <a:pathLst>
                <a:path w="723900" h="971550">
                  <a:moveTo>
                    <a:pt x="314325" y="0"/>
                  </a:moveTo>
                  <a:lnTo>
                    <a:pt x="4826" y="381317"/>
                  </a:lnTo>
                  <a:lnTo>
                    <a:pt x="0" y="419100"/>
                  </a:lnTo>
                  <a:lnTo>
                    <a:pt x="314325" y="0"/>
                  </a:lnTo>
                  <a:close/>
                </a:path>
                <a:path w="723900" h="971550">
                  <a:moveTo>
                    <a:pt x="400050" y="2286"/>
                  </a:moveTo>
                  <a:lnTo>
                    <a:pt x="385699" y="0"/>
                  </a:lnTo>
                  <a:lnTo>
                    <a:pt x="378460" y="0"/>
                  </a:lnTo>
                  <a:lnTo>
                    <a:pt x="0" y="504558"/>
                  </a:lnTo>
                  <a:lnTo>
                    <a:pt x="139" y="511810"/>
                  </a:lnTo>
                  <a:lnTo>
                    <a:pt x="1651" y="533400"/>
                  </a:lnTo>
                  <a:lnTo>
                    <a:pt x="400050" y="2286"/>
                  </a:lnTo>
                  <a:close/>
                </a:path>
                <a:path w="723900" h="971550">
                  <a:moveTo>
                    <a:pt x="466725" y="16637"/>
                  </a:moveTo>
                  <a:lnTo>
                    <a:pt x="460756" y="14097"/>
                  </a:lnTo>
                  <a:lnTo>
                    <a:pt x="454660" y="12700"/>
                  </a:lnTo>
                  <a:lnTo>
                    <a:pt x="448691" y="9525"/>
                  </a:lnTo>
                  <a:lnTo>
                    <a:pt x="9525" y="603999"/>
                  </a:lnTo>
                  <a:lnTo>
                    <a:pt x="12700" y="620610"/>
                  </a:lnTo>
                  <a:lnTo>
                    <a:pt x="14732" y="628650"/>
                  </a:lnTo>
                  <a:lnTo>
                    <a:pt x="466725" y="16637"/>
                  </a:lnTo>
                  <a:close/>
                </a:path>
                <a:path w="723900" h="971550">
                  <a:moveTo>
                    <a:pt x="533400" y="48374"/>
                  </a:moveTo>
                  <a:lnTo>
                    <a:pt x="522986" y="41275"/>
                  </a:lnTo>
                  <a:lnTo>
                    <a:pt x="517525" y="38100"/>
                  </a:lnTo>
                  <a:lnTo>
                    <a:pt x="28575" y="683945"/>
                  </a:lnTo>
                  <a:lnTo>
                    <a:pt x="33528" y="698055"/>
                  </a:lnTo>
                  <a:lnTo>
                    <a:pt x="36322" y="704850"/>
                  </a:lnTo>
                  <a:lnTo>
                    <a:pt x="533400" y="48374"/>
                  </a:lnTo>
                  <a:close/>
                </a:path>
                <a:path w="723900" h="971550">
                  <a:moveTo>
                    <a:pt x="581025" y="89623"/>
                  </a:moveTo>
                  <a:lnTo>
                    <a:pt x="576580" y="85026"/>
                  </a:lnTo>
                  <a:lnTo>
                    <a:pt x="567309" y="76200"/>
                  </a:lnTo>
                  <a:lnTo>
                    <a:pt x="57150" y="763397"/>
                  </a:lnTo>
                  <a:lnTo>
                    <a:pt x="60452" y="768692"/>
                  </a:lnTo>
                  <a:lnTo>
                    <a:pt x="63754" y="775042"/>
                  </a:lnTo>
                  <a:lnTo>
                    <a:pt x="67183" y="781050"/>
                  </a:lnTo>
                  <a:lnTo>
                    <a:pt x="581025" y="89623"/>
                  </a:lnTo>
                  <a:close/>
                </a:path>
                <a:path w="723900" h="971550">
                  <a:moveTo>
                    <a:pt x="628650" y="149034"/>
                  </a:moveTo>
                  <a:lnTo>
                    <a:pt x="622681" y="141198"/>
                  </a:lnTo>
                  <a:lnTo>
                    <a:pt x="620776" y="138226"/>
                  </a:lnTo>
                  <a:lnTo>
                    <a:pt x="616585" y="133350"/>
                  </a:lnTo>
                  <a:lnTo>
                    <a:pt x="95250" y="822337"/>
                  </a:lnTo>
                  <a:lnTo>
                    <a:pt x="99060" y="827747"/>
                  </a:lnTo>
                  <a:lnTo>
                    <a:pt x="101219" y="830351"/>
                  </a:lnTo>
                  <a:lnTo>
                    <a:pt x="107061" y="838200"/>
                  </a:lnTo>
                  <a:lnTo>
                    <a:pt x="628650" y="149034"/>
                  </a:lnTo>
                  <a:close/>
                </a:path>
                <a:path w="723900" h="971550">
                  <a:moveTo>
                    <a:pt x="666750" y="207911"/>
                  </a:moveTo>
                  <a:lnTo>
                    <a:pt x="663448" y="202514"/>
                  </a:lnTo>
                  <a:lnTo>
                    <a:pt x="660146" y="196418"/>
                  </a:lnTo>
                  <a:lnTo>
                    <a:pt x="656590" y="190500"/>
                  </a:lnTo>
                  <a:lnTo>
                    <a:pt x="142875" y="872413"/>
                  </a:lnTo>
                  <a:lnTo>
                    <a:pt x="146685" y="877112"/>
                  </a:lnTo>
                  <a:lnTo>
                    <a:pt x="155956" y="885825"/>
                  </a:lnTo>
                  <a:lnTo>
                    <a:pt x="666750" y="207911"/>
                  </a:lnTo>
                  <a:close/>
                </a:path>
                <a:path w="723900" h="971550">
                  <a:moveTo>
                    <a:pt x="695325" y="278409"/>
                  </a:moveTo>
                  <a:lnTo>
                    <a:pt x="690372" y="264312"/>
                  </a:lnTo>
                  <a:lnTo>
                    <a:pt x="687578" y="257175"/>
                  </a:lnTo>
                  <a:lnTo>
                    <a:pt x="190500" y="913650"/>
                  </a:lnTo>
                  <a:lnTo>
                    <a:pt x="195961" y="917308"/>
                  </a:lnTo>
                  <a:lnTo>
                    <a:pt x="206616" y="923925"/>
                  </a:lnTo>
                  <a:lnTo>
                    <a:pt x="695325" y="278409"/>
                  </a:lnTo>
                  <a:close/>
                </a:path>
                <a:path w="723900" h="971550">
                  <a:moveTo>
                    <a:pt x="714375" y="367169"/>
                  </a:moveTo>
                  <a:lnTo>
                    <a:pt x="711200" y="350824"/>
                  </a:lnTo>
                  <a:lnTo>
                    <a:pt x="709168" y="342900"/>
                  </a:lnTo>
                  <a:lnTo>
                    <a:pt x="257175" y="945616"/>
                  </a:lnTo>
                  <a:lnTo>
                    <a:pt x="263144" y="948194"/>
                  </a:lnTo>
                  <a:lnTo>
                    <a:pt x="275336" y="952500"/>
                  </a:lnTo>
                  <a:lnTo>
                    <a:pt x="714375" y="367169"/>
                  </a:lnTo>
                  <a:close/>
                </a:path>
                <a:path w="723900" h="971550">
                  <a:moveTo>
                    <a:pt x="723900" y="542925"/>
                  </a:moveTo>
                  <a:lnTo>
                    <a:pt x="409575" y="971550"/>
                  </a:lnTo>
                  <a:lnTo>
                    <a:pt x="423710" y="968743"/>
                  </a:lnTo>
                  <a:lnTo>
                    <a:pt x="437769" y="964996"/>
                  </a:lnTo>
                  <a:lnTo>
                    <a:pt x="719201" y="581215"/>
                  </a:lnTo>
                  <a:lnTo>
                    <a:pt x="721880" y="562140"/>
                  </a:lnTo>
                  <a:lnTo>
                    <a:pt x="723900" y="542925"/>
                  </a:lnTo>
                  <a:close/>
                </a:path>
                <a:path w="723900" h="971550">
                  <a:moveTo>
                    <a:pt x="723900" y="457987"/>
                  </a:moveTo>
                  <a:lnTo>
                    <a:pt x="722249" y="428625"/>
                  </a:lnTo>
                  <a:lnTo>
                    <a:pt x="323850" y="969264"/>
                  </a:lnTo>
                  <a:lnTo>
                    <a:pt x="338328" y="971550"/>
                  </a:lnTo>
                  <a:lnTo>
                    <a:pt x="345440" y="971550"/>
                  </a:lnTo>
                  <a:lnTo>
                    <a:pt x="723900" y="4579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19500" y="6257925"/>
              <a:ext cx="152400" cy="200025"/>
            </a:xfrm>
            <a:prstGeom prst="rect">
              <a:avLst/>
            </a:prstGeom>
          </p:spPr>
        </p:pic>
      </p:grpSp>
      <p:grpSp>
        <p:nvGrpSpPr>
          <p:cNvPr id="12" name="object 12"/>
          <p:cNvGrpSpPr/>
          <p:nvPr/>
        </p:nvGrpSpPr>
        <p:grpSpPr>
          <a:xfrm>
            <a:off x="4114800" y="485775"/>
            <a:ext cx="4724400" cy="971550"/>
            <a:chOff x="4114800" y="485775"/>
            <a:chExt cx="4724400" cy="971550"/>
          </a:xfrm>
        </p:grpSpPr>
        <p:sp>
          <p:nvSpPr>
            <p:cNvPr id="13" name="object 13"/>
            <p:cNvSpPr/>
            <p:nvPr/>
          </p:nvSpPr>
          <p:spPr>
            <a:xfrm>
              <a:off x="4114800" y="485775"/>
              <a:ext cx="4724400" cy="971550"/>
            </a:xfrm>
            <a:custGeom>
              <a:avLst/>
              <a:gdLst/>
              <a:ahLst/>
              <a:cxnLst/>
              <a:rect l="l" t="t" r="r" b="b"/>
              <a:pathLst>
                <a:path w="4724400" h="971550">
                  <a:moveTo>
                    <a:pt x="4627245" y="0"/>
                  </a:moveTo>
                  <a:lnTo>
                    <a:pt x="97154" y="0"/>
                  </a:lnTo>
                  <a:lnTo>
                    <a:pt x="59310" y="7625"/>
                  </a:lnTo>
                  <a:lnTo>
                    <a:pt x="28432" y="28432"/>
                  </a:lnTo>
                  <a:lnTo>
                    <a:pt x="7625" y="59310"/>
                  </a:lnTo>
                  <a:lnTo>
                    <a:pt x="0" y="97154"/>
                  </a:lnTo>
                  <a:lnTo>
                    <a:pt x="0" y="874395"/>
                  </a:lnTo>
                  <a:lnTo>
                    <a:pt x="7625" y="912185"/>
                  </a:lnTo>
                  <a:lnTo>
                    <a:pt x="28432" y="943070"/>
                  </a:lnTo>
                  <a:lnTo>
                    <a:pt x="59310" y="963906"/>
                  </a:lnTo>
                  <a:lnTo>
                    <a:pt x="97154" y="971550"/>
                  </a:lnTo>
                  <a:lnTo>
                    <a:pt x="4627245" y="971550"/>
                  </a:lnTo>
                  <a:lnTo>
                    <a:pt x="4665035" y="963906"/>
                  </a:lnTo>
                  <a:lnTo>
                    <a:pt x="4695920" y="943070"/>
                  </a:lnTo>
                  <a:lnTo>
                    <a:pt x="4716756" y="912185"/>
                  </a:lnTo>
                  <a:lnTo>
                    <a:pt x="4724400" y="874395"/>
                  </a:lnTo>
                  <a:lnTo>
                    <a:pt x="4724400" y="97154"/>
                  </a:lnTo>
                  <a:lnTo>
                    <a:pt x="4716756" y="59310"/>
                  </a:lnTo>
                  <a:lnTo>
                    <a:pt x="4695920" y="28432"/>
                  </a:lnTo>
                  <a:lnTo>
                    <a:pt x="4665035" y="7625"/>
                  </a:lnTo>
                  <a:lnTo>
                    <a:pt x="4627245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97656" y="754495"/>
              <a:ext cx="358479" cy="433783"/>
            </a:xfrm>
            <a:prstGeom prst="rect">
              <a:avLst/>
            </a:prstGeom>
          </p:spPr>
        </p:pic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649" rIns="0" bIns="0" rtlCol="0">
            <a:spAutoFit/>
          </a:bodyPr>
          <a:lstStyle/>
          <a:p>
            <a:pPr marL="4404360" marR="5080">
              <a:lnSpc>
                <a:spcPct val="105000"/>
              </a:lnSpc>
              <a:spcBef>
                <a:spcPts val="15"/>
              </a:spcBef>
            </a:pPr>
            <a:r>
              <a:rPr sz="1850" u="none" dirty="0"/>
              <a:t>1.</a:t>
            </a:r>
            <a:r>
              <a:rPr sz="1850" u="none" spc="60" dirty="0"/>
              <a:t> </a:t>
            </a:r>
            <a:r>
              <a:rPr sz="1850" u="none" dirty="0"/>
              <a:t>Model</a:t>
            </a:r>
            <a:r>
              <a:rPr sz="1850" u="none" spc="30" dirty="0"/>
              <a:t> </a:t>
            </a:r>
            <a:r>
              <a:rPr sz="1850" u="none" dirty="0"/>
              <a:t>gearbox</a:t>
            </a:r>
            <a:r>
              <a:rPr sz="1850" u="none" spc="100" dirty="0"/>
              <a:t> </a:t>
            </a:r>
            <a:r>
              <a:rPr sz="1850" u="none" dirty="0"/>
              <a:t>shaft</a:t>
            </a:r>
            <a:r>
              <a:rPr sz="1850" u="none" spc="60" dirty="0"/>
              <a:t> </a:t>
            </a:r>
            <a:r>
              <a:rPr sz="1850" u="none" spc="-10" dirty="0"/>
              <a:t>accurately </a:t>
            </a:r>
            <a:r>
              <a:rPr sz="1850" u="none" dirty="0"/>
              <a:t>using</a:t>
            </a:r>
            <a:r>
              <a:rPr sz="1850" u="none" spc="85" dirty="0"/>
              <a:t> </a:t>
            </a:r>
            <a:r>
              <a:rPr sz="1850" u="none" dirty="0"/>
              <a:t>Fusion</a:t>
            </a:r>
            <a:r>
              <a:rPr sz="1850" u="none" spc="65" dirty="0"/>
              <a:t> </a:t>
            </a:r>
            <a:r>
              <a:rPr sz="1850" u="none" spc="-20" dirty="0"/>
              <a:t>360.</a:t>
            </a:r>
            <a:endParaRPr sz="1850"/>
          </a:p>
        </p:txBody>
      </p:sp>
      <p:grpSp>
        <p:nvGrpSpPr>
          <p:cNvPr id="16" name="object 16"/>
          <p:cNvGrpSpPr/>
          <p:nvPr/>
        </p:nvGrpSpPr>
        <p:grpSpPr>
          <a:xfrm>
            <a:off x="4114800" y="1704975"/>
            <a:ext cx="4724400" cy="981075"/>
            <a:chOff x="4114800" y="1704975"/>
            <a:chExt cx="4724400" cy="981075"/>
          </a:xfrm>
        </p:grpSpPr>
        <p:sp>
          <p:nvSpPr>
            <p:cNvPr id="17" name="object 17"/>
            <p:cNvSpPr/>
            <p:nvPr/>
          </p:nvSpPr>
          <p:spPr>
            <a:xfrm>
              <a:off x="4114800" y="1704975"/>
              <a:ext cx="4724400" cy="981075"/>
            </a:xfrm>
            <a:custGeom>
              <a:avLst/>
              <a:gdLst/>
              <a:ahLst/>
              <a:cxnLst/>
              <a:rect l="l" t="t" r="r" b="b"/>
              <a:pathLst>
                <a:path w="4724400" h="981075">
                  <a:moveTo>
                    <a:pt x="4626356" y="0"/>
                  </a:moveTo>
                  <a:lnTo>
                    <a:pt x="98171" y="0"/>
                  </a:lnTo>
                  <a:lnTo>
                    <a:pt x="59953" y="7713"/>
                  </a:lnTo>
                  <a:lnTo>
                    <a:pt x="28749" y="28749"/>
                  </a:lnTo>
                  <a:lnTo>
                    <a:pt x="7713" y="59953"/>
                  </a:lnTo>
                  <a:lnTo>
                    <a:pt x="0" y="98171"/>
                  </a:lnTo>
                  <a:lnTo>
                    <a:pt x="0" y="882903"/>
                  </a:lnTo>
                  <a:lnTo>
                    <a:pt x="7713" y="921121"/>
                  </a:lnTo>
                  <a:lnTo>
                    <a:pt x="28749" y="952325"/>
                  </a:lnTo>
                  <a:lnTo>
                    <a:pt x="59953" y="973361"/>
                  </a:lnTo>
                  <a:lnTo>
                    <a:pt x="98171" y="981075"/>
                  </a:lnTo>
                  <a:lnTo>
                    <a:pt x="4626229" y="981075"/>
                  </a:lnTo>
                  <a:lnTo>
                    <a:pt x="4664446" y="973363"/>
                  </a:lnTo>
                  <a:lnTo>
                    <a:pt x="4695650" y="952341"/>
                  </a:lnTo>
                  <a:lnTo>
                    <a:pt x="4716686" y="921174"/>
                  </a:lnTo>
                  <a:lnTo>
                    <a:pt x="4724400" y="883030"/>
                  </a:lnTo>
                  <a:lnTo>
                    <a:pt x="4724400" y="98171"/>
                  </a:lnTo>
                  <a:lnTo>
                    <a:pt x="4716688" y="59953"/>
                  </a:lnTo>
                  <a:lnTo>
                    <a:pt x="4695666" y="28749"/>
                  </a:lnTo>
                  <a:lnTo>
                    <a:pt x="4664499" y="7713"/>
                  </a:lnTo>
                  <a:lnTo>
                    <a:pt x="462635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489959" y="2005357"/>
              <a:ext cx="374015" cy="381000"/>
            </a:xfrm>
            <a:custGeom>
              <a:avLst/>
              <a:gdLst/>
              <a:ahLst/>
              <a:cxnLst/>
              <a:rect l="l" t="t" r="r" b="b"/>
              <a:pathLst>
                <a:path w="374014" h="381000">
                  <a:moveTo>
                    <a:pt x="373874" y="0"/>
                  </a:moveTo>
                  <a:lnTo>
                    <a:pt x="0" y="0"/>
                  </a:lnTo>
                  <a:lnTo>
                    <a:pt x="164944" y="167882"/>
                  </a:lnTo>
                  <a:lnTo>
                    <a:pt x="164944" y="380533"/>
                  </a:lnTo>
                  <a:lnTo>
                    <a:pt x="208930" y="335765"/>
                  </a:lnTo>
                  <a:lnTo>
                    <a:pt x="208930" y="167882"/>
                  </a:lnTo>
                  <a:lnTo>
                    <a:pt x="373874" y="0"/>
                  </a:lnTo>
                  <a:close/>
                </a:path>
              </a:pathLst>
            </a:custGeom>
            <a:solidFill>
              <a:srgbClr val="9BBA5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5339460" y="1879917"/>
            <a:ext cx="3039110" cy="60769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5080">
              <a:lnSpc>
                <a:spcPct val="105000"/>
              </a:lnSpc>
              <a:spcBef>
                <a:spcPts val="15"/>
              </a:spcBef>
            </a:pPr>
            <a:r>
              <a:rPr sz="1850" dirty="0">
                <a:latin typeface="Calibri" panose="020F0502020204030204"/>
                <a:cs typeface="Calibri" panose="020F0502020204030204"/>
              </a:rPr>
              <a:t>2.</a:t>
            </a:r>
            <a:r>
              <a:rPr sz="1850" spc="35" dirty="0">
                <a:latin typeface="Calibri" panose="020F0502020204030204"/>
                <a:cs typeface="Calibri" panose="020F0502020204030204"/>
              </a:rPr>
              <a:t> </a:t>
            </a:r>
            <a:r>
              <a:rPr sz="1850" dirty="0">
                <a:latin typeface="Calibri" panose="020F0502020204030204"/>
                <a:cs typeface="Calibri" panose="020F0502020204030204"/>
              </a:rPr>
              <a:t>Perform</a:t>
            </a:r>
            <a:r>
              <a:rPr sz="18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1850" dirty="0">
                <a:latin typeface="Calibri" panose="020F0502020204030204"/>
                <a:cs typeface="Calibri" panose="020F0502020204030204"/>
              </a:rPr>
              <a:t>FEA</a:t>
            </a:r>
            <a:r>
              <a:rPr sz="185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1850" dirty="0">
                <a:latin typeface="Calibri" panose="020F0502020204030204"/>
                <a:cs typeface="Calibri" panose="020F0502020204030204"/>
              </a:rPr>
              <a:t>in</a:t>
            </a:r>
            <a:r>
              <a:rPr sz="1850" spc="50" dirty="0">
                <a:latin typeface="Calibri" panose="020F0502020204030204"/>
                <a:cs typeface="Calibri" panose="020F0502020204030204"/>
              </a:rPr>
              <a:t> </a:t>
            </a:r>
            <a:r>
              <a:rPr sz="1850" dirty="0">
                <a:latin typeface="Calibri" panose="020F0502020204030204"/>
                <a:cs typeface="Calibri" panose="020F0502020204030204"/>
              </a:rPr>
              <a:t>ANSYS</a:t>
            </a:r>
            <a:r>
              <a:rPr sz="185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1850" spc="-20" dirty="0">
                <a:latin typeface="Calibri" panose="020F0502020204030204"/>
                <a:cs typeface="Calibri" panose="020F0502020204030204"/>
              </a:rPr>
              <a:t>under </a:t>
            </a:r>
            <a:r>
              <a:rPr sz="1850" dirty="0">
                <a:latin typeface="Calibri" panose="020F0502020204030204"/>
                <a:cs typeface="Calibri" panose="020F0502020204030204"/>
              </a:rPr>
              <a:t>applied</a:t>
            </a:r>
            <a:r>
              <a:rPr sz="1850" spc="90" dirty="0">
                <a:latin typeface="Calibri" panose="020F0502020204030204"/>
                <a:cs typeface="Calibri" panose="020F0502020204030204"/>
              </a:rPr>
              <a:t> </a:t>
            </a:r>
            <a:r>
              <a:rPr sz="1850" spc="-20" dirty="0">
                <a:latin typeface="Calibri" panose="020F0502020204030204"/>
                <a:cs typeface="Calibri" panose="020F0502020204030204"/>
              </a:rPr>
              <a:t>load.</a:t>
            </a:r>
            <a:endParaRPr sz="185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114800" y="2924175"/>
            <a:ext cx="4724400" cy="981075"/>
            <a:chOff x="4114800" y="2924175"/>
            <a:chExt cx="4724400" cy="981075"/>
          </a:xfrm>
        </p:grpSpPr>
        <p:sp>
          <p:nvSpPr>
            <p:cNvPr id="21" name="object 21"/>
            <p:cNvSpPr/>
            <p:nvPr/>
          </p:nvSpPr>
          <p:spPr>
            <a:xfrm>
              <a:off x="4114800" y="2924175"/>
              <a:ext cx="4724400" cy="981075"/>
            </a:xfrm>
            <a:custGeom>
              <a:avLst/>
              <a:gdLst/>
              <a:ahLst/>
              <a:cxnLst/>
              <a:rect l="l" t="t" r="r" b="b"/>
              <a:pathLst>
                <a:path w="4724400" h="981075">
                  <a:moveTo>
                    <a:pt x="4626356" y="0"/>
                  </a:moveTo>
                  <a:lnTo>
                    <a:pt x="98171" y="0"/>
                  </a:lnTo>
                  <a:lnTo>
                    <a:pt x="59953" y="7713"/>
                  </a:lnTo>
                  <a:lnTo>
                    <a:pt x="28749" y="28749"/>
                  </a:lnTo>
                  <a:lnTo>
                    <a:pt x="7713" y="59953"/>
                  </a:lnTo>
                  <a:lnTo>
                    <a:pt x="0" y="98171"/>
                  </a:lnTo>
                  <a:lnTo>
                    <a:pt x="0" y="882904"/>
                  </a:lnTo>
                  <a:lnTo>
                    <a:pt x="7713" y="921121"/>
                  </a:lnTo>
                  <a:lnTo>
                    <a:pt x="28749" y="952325"/>
                  </a:lnTo>
                  <a:lnTo>
                    <a:pt x="59953" y="973361"/>
                  </a:lnTo>
                  <a:lnTo>
                    <a:pt x="98171" y="981075"/>
                  </a:lnTo>
                  <a:lnTo>
                    <a:pt x="4626229" y="981075"/>
                  </a:lnTo>
                  <a:lnTo>
                    <a:pt x="4664446" y="973363"/>
                  </a:lnTo>
                  <a:lnTo>
                    <a:pt x="4695650" y="952341"/>
                  </a:lnTo>
                  <a:lnTo>
                    <a:pt x="4716686" y="921174"/>
                  </a:lnTo>
                  <a:lnTo>
                    <a:pt x="4724400" y="883031"/>
                  </a:lnTo>
                  <a:lnTo>
                    <a:pt x="4724400" y="98171"/>
                  </a:lnTo>
                  <a:lnTo>
                    <a:pt x="4716688" y="59953"/>
                  </a:lnTo>
                  <a:lnTo>
                    <a:pt x="4695666" y="28749"/>
                  </a:lnTo>
                  <a:lnTo>
                    <a:pt x="4664499" y="7713"/>
                  </a:lnTo>
                  <a:lnTo>
                    <a:pt x="462635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4489958" y="3168599"/>
              <a:ext cx="374015" cy="492759"/>
            </a:xfrm>
            <a:custGeom>
              <a:avLst/>
              <a:gdLst/>
              <a:ahLst/>
              <a:cxnLst/>
              <a:rect l="l" t="t" r="r" b="b"/>
              <a:pathLst>
                <a:path w="374014" h="492760">
                  <a:moveTo>
                    <a:pt x="252907" y="201460"/>
                  </a:moveTo>
                  <a:lnTo>
                    <a:pt x="120954" y="201460"/>
                  </a:lnTo>
                  <a:lnTo>
                    <a:pt x="120954" y="223850"/>
                  </a:lnTo>
                  <a:lnTo>
                    <a:pt x="142951" y="246227"/>
                  </a:lnTo>
                  <a:lnTo>
                    <a:pt x="142951" y="358152"/>
                  </a:lnTo>
                  <a:lnTo>
                    <a:pt x="131953" y="369341"/>
                  </a:lnTo>
                  <a:lnTo>
                    <a:pt x="131953" y="391731"/>
                  </a:lnTo>
                  <a:lnTo>
                    <a:pt x="164934" y="391731"/>
                  </a:lnTo>
                  <a:lnTo>
                    <a:pt x="164934" y="414108"/>
                  </a:lnTo>
                  <a:lnTo>
                    <a:pt x="175933" y="414108"/>
                  </a:lnTo>
                  <a:lnTo>
                    <a:pt x="175933" y="470077"/>
                  </a:lnTo>
                  <a:lnTo>
                    <a:pt x="186931" y="492455"/>
                  </a:lnTo>
                  <a:lnTo>
                    <a:pt x="197929" y="470077"/>
                  </a:lnTo>
                  <a:lnTo>
                    <a:pt x="197929" y="414108"/>
                  </a:lnTo>
                  <a:lnTo>
                    <a:pt x="208927" y="414108"/>
                  </a:lnTo>
                  <a:lnTo>
                    <a:pt x="208927" y="391731"/>
                  </a:lnTo>
                  <a:lnTo>
                    <a:pt x="241909" y="391731"/>
                  </a:lnTo>
                  <a:lnTo>
                    <a:pt x="241909" y="369341"/>
                  </a:lnTo>
                  <a:lnTo>
                    <a:pt x="230911" y="358152"/>
                  </a:lnTo>
                  <a:lnTo>
                    <a:pt x="230911" y="246227"/>
                  </a:lnTo>
                  <a:lnTo>
                    <a:pt x="252907" y="223850"/>
                  </a:lnTo>
                  <a:lnTo>
                    <a:pt x="252907" y="201460"/>
                  </a:lnTo>
                  <a:close/>
                </a:path>
                <a:path w="374014" h="492760">
                  <a:moveTo>
                    <a:pt x="373875" y="57645"/>
                  </a:moveTo>
                  <a:lnTo>
                    <a:pt x="372224" y="55968"/>
                  </a:lnTo>
                  <a:lnTo>
                    <a:pt x="366725" y="50368"/>
                  </a:lnTo>
                  <a:lnTo>
                    <a:pt x="285902" y="50368"/>
                  </a:lnTo>
                  <a:lnTo>
                    <a:pt x="285902" y="40855"/>
                  </a:lnTo>
                  <a:lnTo>
                    <a:pt x="284797" y="38061"/>
                  </a:lnTo>
                  <a:lnTo>
                    <a:pt x="280403" y="33578"/>
                  </a:lnTo>
                  <a:lnTo>
                    <a:pt x="263906" y="16789"/>
                  </a:lnTo>
                  <a:lnTo>
                    <a:pt x="263906" y="7277"/>
                  </a:lnTo>
                  <a:lnTo>
                    <a:pt x="256755" y="0"/>
                  </a:lnTo>
                  <a:lnTo>
                    <a:pt x="241909" y="0"/>
                  </a:lnTo>
                  <a:lnTo>
                    <a:pt x="241909" y="38620"/>
                  </a:lnTo>
                  <a:lnTo>
                    <a:pt x="241909" y="50927"/>
                  </a:lnTo>
                  <a:lnTo>
                    <a:pt x="241909" y="83388"/>
                  </a:lnTo>
                  <a:lnTo>
                    <a:pt x="241909" y="95694"/>
                  </a:lnTo>
                  <a:lnTo>
                    <a:pt x="241909" y="128155"/>
                  </a:lnTo>
                  <a:lnTo>
                    <a:pt x="241909" y="140462"/>
                  </a:lnTo>
                  <a:lnTo>
                    <a:pt x="236969" y="145503"/>
                  </a:lnTo>
                  <a:lnTo>
                    <a:pt x="136893" y="145503"/>
                  </a:lnTo>
                  <a:lnTo>
                    <a:pt x="131953" y="140462"/>
                  </a:lnTo>
                  <a:lnTo>
                    <a:pt x="131953" y="128155"/>
                  </a:lnTo>
                  <a:lnTo>
                    <a:pt x="136893" y="123113"/>
                  </a:lnTo>
                  <a:lnTo>
                    <a:pt x="236969" y="123113"/>
                  </a:lnTo>
                  <a:lnTo>
                    <a:pt x="241909" y="128155"/>
                  </a:lnTo>
                  <a:lnTo>
                    <a:pt x="241909" y="95694"/>
                  </a:lnTo>
                  <a:lnTo>
                    <a:pt x="236969" y="100736"/>
                  </a:lnTo>
                  <a:lnTo>
                    <a:pt x="136893" y="100736"/>
                  </a:lnTo>
                  <a:lnTo>
                    <a:pt x="131953" y="95694"/>
                  </a:lnTo>
                  <a:lnTo>
                    <a:pt x="131953" y="83388"/>
                  </a:lnTo>
                  <a:lnTo>
                    <a:pt x="136893" y="78346"/>
                  </a:lnTo>
                  <a:lnTo>
                    <a:pt x="236969" y="78346"/>
                  </a:lnTo>
                  <a:lnTo>
                    <a:pt x="241909" y="83388"/>
                  </a:lnTo>
                  <a:lnTo>
                    <a:pt x="241909" y="50927"/>
                  </a:lnTo>
                  <a:lnTo>
                    <a:pt x="236969" y="55968"/>
                  </a:lnTo>
                  <a:lnTo>
                    <a:pt x="136893" y="55968"/>
                  </a:lnTo>
                  <a:lnTo>
                    <a:pt x="131953" y="50927"/>
                  </a:lnTo>
                  <a:lnTo>
                    <a:pt x="131953" y="38620"/>
                  </a:lnTo>
                  <a:lnTo>
                    <a:pt x="136893" y="33578"/>
                  </a:lnTo>
                  <a:lnTo>
                    <a:pt x="236969" y="33578"/>
                  </a:lnTo>
                  <a:lnTo>
                    <a:pt x="241909" y="38620"/>
                  </a:lnTo>
                  <a:lnTo>
                    <a:pt x="241909" y="0"/>
                  </a:lnTo>
                  <a:lnTo>
                    <a:pt x="117106" y="0"/>
                  </a:lnTo>
                  <a:lnTo>
                    <a:pt x="109956" y="7277"/>
                  </a:lnTo>
                  <a:lnTo>
                    <a:pt x="109956" y="16789"/>
                  </a:lnTo>
                  <a:lnTo>
                    <a:pt x="89065" y="38061"/>
                  </a:lnTo>
                  <a:lnTo>
                    <a:pt x="87960" y="40855"/>
                  </a:lnTo>
                  <a:lnTo>
                    <a:pt x="87960" y="50368"/>
                  </a:lnTo>
                  <a:lnTo>
                    <a:pt x="7137" y="50368"/>
                  </a:lnTo>
                  <a:lnTo>
                    <a:pt x="0" y="57645"/>
                  </a:lnTo>
                  <a:lnTo>
                    <a:pt x="0" y="76669"/>
                  </a:lnTo>
                  <a:lnTo>
                    <a:pt x="7137" y="83947"/>
                  </a:lnTo>
                  <a:lnTo>
                    <a:pt x="87960" y="83947"/>
                  </a:lnTo>
                  <a:lnTo>
                    <a:pt x="87960" y="93459"/>
                  </a:lnTo>
                  <a:lnTo>
                    <a:pt x="89065" y="96253"/>
                  </a:lnTo>
                  <a:lnTo>
                    <a:pt x="109956" y="117525"/>
                  </a:lnTo>
                  <a:lnTo>
                    <a:pt x="109956" y="174040"/>
                  </a:lnTo>
                  <a:lnTo>
                    <a:pt x="114909" y="179082"/>
                  </a:lnTo>
                  <a:lnTo>
                    <a:pt x="258953" y="179082"/>
                  </a:lnTo>
                  <a:lnTo>
                    <a:pt x="263906" y="174040"/>
                  </a:lnTo>
                  <a:lnTo>
                    <a:pt x="263906" y="145503"/>
                  </a:lnTo>
                  <a:lnTo>
                    <a:pt x="263906" y="123113"/>
                  </a:lnTo>
                  <a:lnTo>
                    <a:pt x="263906" y="117525"/>
                  </a:lnTo>
                  <a:lnTo>
                    <a:pt x="280403" y="100736"/>
                  </a:lnTo>
                  <a:lnTo>
                    <a:pt x="284797" y="96253"/>
                  </a:lnTo>
                  <a:lnTo>
                    <a:pt x="285902" y="93459"/>
                  </a:lnTo>
                  <a:lnTo>
                    <a:pt x="285902" y="83947"/>
                  </a:lnTo>
                  <a:lnTo>
                    <a:pt x="366725" y="83947"/>
                  </a:lnTo>
                  <a:lnTo>
                    <a:pt x="372224" y="78346"/>
                  </a:lnTo>
                  <a:lnTo>
                    <a:pt x="373875" y="76669"/>
                  </a:lnTo>
                  <a:lnTo>
                    <a:pt x="373875" y="57645"/>
                  </a:lnTo>
                  <a:close/>
                </a:path>
              </a:pathLst>
            </a:custGeom>
            <a:solidFill>
              <a:srgbClr val="8063A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5339460" y="3104578"/>
            <a:ext cx="3333750" cy="60706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 marR="5080">
              <a:lnSpc>
                <a:spcPct val="105000"/>
              </a:lnSpc>
              <a:spcBef>
                <a:spcPts val="20"/>
              </a:spcBef>
            </a:pPr>
            <a:r>
              <a:rPr sz="1850" dirty="0">
                <a:latin typeface="Calibri" panose="020F0502020204030204"/>
                <a:cs typeface="Calibri" panose="020F0502020204030204"/>
              </a:rPr>
              <a:t>3.</a:t>
            </a:r>
            <a:r>
              <a:rPr sz="1850" spc="40" dirty="0">
                <a:latin typeface="Calibri" panose="020F0502020204030204"/>
                <a:cs typeface="Calibri" panose="020F0502020204030204"/>
              </a:rPr>
              <a:t> </a:t>
            </a:r>
            <a:r>
              <a:rPr sz="1850" dirty="0">
                <a:latin typeface="Calibri" panose="020F0502020204030204"/>
                <a:cs typeface="Calibri" panose="020F0502020204030204"/>
              </a:rPr>
              <a:t>Calculate</a:t>
            </a:r>
            <a:r>
              <a:rPr sz="1850" spc="114" dirty="0">
                <a:latin typeface="Calibri" panose="020F0502020204030204"/>
                <a:cs typeface="Calibri" panose="020F0502020204030204"/>
              </a:rPr>
              <a:t> </a:t>
            </a:r>
            <a:r>
              <a:rPr sz="1850" dirty="0">
                <a:latin typeface="Calibri" panose="020F0502020204030204"/>
                <a:cs typeface="Calibri" panose="020F0502020204030204"/>
              </a:rPr>
              <a:t>deformation</a:t>
            </a:r>
            <a:r>
              <a:rPr sz="1850" spc="55" dirty="0">
                <a:latin typeface="Calibri" panose="020F0502020204030204"/>
                <a:cs typeface="Calibri" panose="020F0502020204030204"/>
              </a:rPr>
              <a:t> </a:t>
            </a:r>
            <a:r>
              <a:rPr sz="1850" dirty="0">
                <a:latin typeface="Calibri" panose="020F0502020204030204"/>
                <a:cs typeface="Calibri" panose="020F0502020204030204"/>
              </a:rPr>
              <a:t>&amp;</a:t>
            </a:r>
            <a:r>
              <a:rPr sz="18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1850" spc="-10" dirty="0">
                <a:latin typeface="Calibri" panose="020F0502020204030204"/>
                <a:cs typeface="Calibri" panose="020F0502020204030204"/>
              </a:rPr>
              <a:t>stress; </a:t>
            </a:r>
            <a:r>
              <a:rPr sz="1850" dirty="0">
                <a:latin typeface="Calibri" panose="020F0502020204030204"/>
                <a:cs typeface="Calibri" panose="020F0502020204030204"/>
              </a:rPr>
              <a:t>check</a:t>
            </a:r>
            <a:r>
              <a:rPr sz="1850" spc="85" dirty="0">
                <a:latin typeface="Calibri" panose="020F0502020204030204"/>
                <a:cs typeface="Calibri" panose="020F0502020204030204"/>
              </a:rPr>
              <a:t> </a:t>
            </a:r>
            <a:r>
              <a:rPr sz="1850" dirty="0">
                <a:latin typeface="Calibri" panose="020F0502020204030204"/>
                <a:cs typeface="Calibri" panose="020F0502020204030204"/>
              </a:rPr>
              <a:t>material</a:t>
            </a:r>
            <a:r>
              <a:rPr sz="18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1850" spc="-10" dirty="0">
                <a:latin typeface="Calibri" panose="020F0502020204030204"/>
                <a:cs typeface="Calibri" panose="020F0502020204030204"/>
              </a:rPr>
              <a:t>suitability.</a:t>
            </a:r>
            <a:endParaRPr sz="185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114800" y="4152900"/>
            <a:ext cx="4724400" cy="971550"/>
            <a:chOff x="4114800" y="4152900"/>
            <a:chExt cx="4724400" cy="971550"/>
          </a:xfrm>
        </p:grpSpPr>
        <p:sp>
          <p:nvSpPr>
            <p:cNvPr id="25" name="object 25"/>
            <p:cNvSpPr/>
            <p:nvPr/>
          </p:nvSpPr>
          <p:spPr>
            <a:xfrm>
              <a:off x="4114800" y="4152900"/>
              <a:ext cx="4724400" cy="971550"/>
            </a:xfrm>
            <a:custGeom>
              <a:avLst/>
              <a:gdLst/>
              <a:ahLst/>
              <a:cxnLst/>
              <a:rect l="l" t="t" r="r" b="b"/>
              <a:pathLst>
                <a:path w="4724400" h="971550">
                  <a:moveTo>
                    <a:pt x="4627245" y="0"/>
                  </a:moveTo>
                  <a:lnTo>
                    <a:pt x="97154" y="0"/>
                  </a:lnTo>
                  <a:lnTo>
                    <a:pt x="59310" y="7625"/>
                  </a:lnTo>
                  <a:lnTo>
                    <a:pt x="28432" y="28432"/>
                  </a:lnTo>
                  <a:lnTo>
                    <a:pt x="7625" y="59310"/>
                  </a:lnTo>
                  <a:lnTo>
                    <a:pt x="0" y="97155"/>
                  </a:lnTo>
                  <a:lnTo>
                    <a:pt x="0" y="874394"/>
                  </a:lnTo>
                  <a:lnTo>
                    <a:pt x="7625" y="912185"/>
                  </a:lnTo>
                  <a:lnTo>
                    <a:pt x="28432" y="943070"/>
                  </a:lnTo>
                  <a:lnTo>
                    <a:pt x="59310" y="963906"/>
                  </a:lnTo>
                  <a:lnTo>
                    <a:pt x="97154" y="971550"/>
                  </a:lnTo>
                  <a:lnTo>
                    <a:pt x="4627245" y="971550"/>
                  </a:lnTo>
                  <a:lnTo>
                    <a:pt x="4665035" y="963906"/>
                  </a:lnTo>
                  <a:lnTo>
                    <a:pt x="4695920" y="943070"/>
                  </a:lnTo>
                  <a:lnTo>
                    <a:pt x="4716756" y="912185"/>
                  </a:lnTo>
                  <a:lnTo>
                    <a:pt x="4724400" y="874394"/>
                  </a:lnTo>
                  <a:lnTo>
                    <a:pt x="4724400" y="97155"/>
                  </a:lnTo>
                  <a:lnTo>
                    <a:pt x="4716756" y="59310"/>
                  </a:lnTo>
                  <a:lnTo>
                    <a:pt x="4695920" y="28432"/>
                  </a:lnTo>
                  <a:lnTo>
                    <a:pt x="4665035" y="7625"/>
                  </a:lnTo>
                  <a:lnTo>
                    <a:pt x="4627245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88926" y="4451858"/>
              <a:ext cx="175940" cy="175932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499965" y="4627854"/>
              <a:ext cx="353695" cy="244475"/>
            </a:xfrm>
            <a:custGeom>
              <a:avLst/>
              <a:gdLst/>
              <a:ahLst/>
              <a:cxnLst/>
              <a:rect l="l" t="t" r="r" b="b"/>
              <a:pathLst>
                <a:path w="353695" h="244475">
                  <a:moveTo>
                    <a:pt x="337413" y="223545"/>
                  </a:moveTo>
                  <a:lnTo>
                    <a:pt x="295516" y="223545"/>
                  </a:lnTo>
                  <a:lnTo>
                    <a:pt x="295516" y="189242"/>
                  </a:lnTo>
                  <a:lnTo>
                    <a:pt x="295516" y="185394"/>
                  </a:lnTo>
                  <a:lnTo>
                    <a:pt x="295516" y="123698"/>
                  </a:lnTo>
                  <a:lnTo>
                    <a:pt x="295516" y="122770"/>
                  </a:lnTo>
                  <a:lnTo>
                    <a:pt x="295516" y="78816"/>
                  </a:lnTo>
                  <a:lnTo>
                    <a:pt x="289267" y="72567"/>
                  </a:lnTo>
                  <a:lnTo>
                    <a:pt x="243776" y="72567"/>
                  </a:lnTo>
                  <a:lnTo>
                    <a:pt x="243776" y="154546"/>
                  </a:lnTo>
                  <a:lnTo>
                    <a:pt x="212928" y="185394"/>
                  </a:lnTo>
                  <a:lnTo>
                    <a:pt x="205181" y="177634"/>
                  </a:lnTo>
                  <a:lnTo>
                    <a:pt x="228219" y="154546"/>
                  </a:lnTo>
                  <a:lnTo>
                    <a:pt x="205181" y="131457"/>
                  </a:lnTo>
                  <a:lnTo>
                    <a:pt x="212928" y="123698"/>
                  </a:lnTo>
                  <a:lnTo>
                    <a:pt x="243776" y="154546"/>
                  </a:lnTo>
                  <a:lnTo>
                    <a:pt x="243776" y="72567"/>
                  </a:lnTo>
                  <a:lnTo>
                    <a:pt x="194678" y="72567"/>
                  </a:lnTo>
                  <a:lnTo>
                    <a:pt x="194678" y="127000"/>
                  </a:lnTo>
                  <a:lnTo>
                    <a:pt x="168948" y="189242"/>
                  </a:lnTo>
                  <a:lnTo>
                    <a:pt x="159715" y="185394"/>
                  </a:lnTo>
                  <a:lnTo>
                    <a:pt x="158775" y="185000"/>
                  </a:lnTo>
                  <a:lnTo>
                    <a:pt x="184175" y="123698"/>
                  </a:lnTo>
                  <a:lnTo>
                    <a:pt x="184569" y="122770"/>
                  </a:lnTo>
                  <a:lnTo>
                    <a:pt x="194678" y="127000"/>
                  </a:lnTo>
                  <a:lnTo>
                    <a:pt x="194678" y="72567"/>
                  </a:lnTo>
                  <a:lnTo>
                    <a:pt x="148450" y="72567"/>
                  </a:lnTo>
                  <a:lnTo>
                    <a:pt x="148450" y="131457"/>
                  </a:lnTo>
                  <a:lnTo>
                    <a:pt x="125399" y="154546"/>
                  </a:lnTo>
                  <a:lnTo>
                    <a:pt x="148450" y="177634"/>
                  </a:lnTo>
                  <a:lnTo>
                    <a:pt x="140690" y="185394"/>
                  </a:lnTo>
                  <a:lnTo>
                    <a:pt x="109842" y="154546"/>
                  </a:lnTo>
                  <a:lnTo>
                    <a:pt x="140690" y="123698"/>
                  </a:lnTo>
                  <a:lnTo>
                    <a:pt x="148450" y="131457"/>
                  </a:lnTo>
                  <a:lnTo>
                    <a:pt x="148450" y="72567"/>
                  </a:lnTo>
                  <a:lnTo>
                    <a:pt x="64744" y="72567"/>
                  </a:lnTo>
                  <a:lnTo>
                    <a:pt x="58496" y="78816"/>
                  </a:lnTo>
                  <a:lnTo>
                    <a:pt x="58496" y="223545"/>
                  </a:lnTo>
                  <a:lnTo>
                    <a:pt x="16433" y="223545"/>
                  </a:lnTo>
                  <a:lnTo>
                    <a:pt x="16459" y="238226"/>
                  </a:lnTo>
                  <a:lnTo>
                    <a:pt x="22694" y="244462"/>
                  </a:lnTo>
                  <a:lnTo>
                    <a:pt x="331152" y="244462"/>
                  </a:lnTo>
                  <a:lnTo>
                    <a:pt x="337388" y="238226"/>
                  </a:lnTo>
                  <a:lnTo>
                    <a:pt x="337413" y="223545"/>
                  </a:lnTo>
                  <a:close/>
                </a:path>
                <a:path w="353695" h="244475">
                  <a:moveTo>
                    <a:pt x="353352" y="168986"/>
                  </a:moveTo>
                  <a:lnTo>
                    <a:pt x="336372" y="65430"/>
                  </a:lnTo>
                  <a:lnTo>
                    <a:pt x="302310" y="24752"/>
                  </a:lnTo>
                  <a:lnTo>
                    <a:pt x="263410" y="7683"/>
                  </a:lnTo>
                  <a:lnTo>
                    <a:pt x="233172" y="0"/>
                  </a:lnTo>
                  <a:lnTo>
                    <a:pt x="206095" y="12293"/>
                  </a:lnTo>
                  <a:lnTo>
                    <a:pt x="177228" y="16383"/>
                  </a:lnTo>
                  <a:lnTo>
                    <a:pt x="148348" y="12293"/>
                  </a:lnTo>
                  <a:lnTo>
                    <a:pt x="121285" y="0"/>
                  </a:lnTo>
                  <a:lnTo>
                    <a:pt x="111391" y="1816"/>
                  </a:lnTo>
                  <a:lnTo>
                    <a:pt x="70916" y="15506"/>
                  </a:lnTo>
                  <a:lnTo>
                    <a:pt x="33426" y="35953"/>
                  </a:lnTo>
                  <a:lnTo>
                    <a:pt x="977" y="159931"/>
                  </a:lnTo>
                  <a:lnTo>
                    <a:pt x="0" y="167906"/>
                  </a:lnTo>
                  <a:lnTo>
                    <a:pt x="3302" y="175806"/>
                  </a:lnTo>
                  <a:lnTo>
                    <a:pt x="9664" y="180708"/>
                  </a:lnTo>
                  <a:lnTo>
                    <a:pt x="47332" y="205562"/>
                  </a:lnTo>
                  <a:lnTo>
                    <a:pt x="47332" y="86537"/>
                  </a:lnTo>
                  <a:lnTo>
                    <a:pt x="49288" y="76822"/>
                  </a:lnTo>
                  <a:lnTo>
                    <a:pt x="54648" y="68884"/>
                  </a:lnTo>
                  <a:lnTo>
                    <a:pt x="62572" y="63538"/>
                  </a:lnTo>
                  <a:lnTo>
                    <a:pt x="72453" y="61582"/>
                  </a:lnTo>
                  <a:lnTo>
                    <a:pt x="281393" y="61582"/>
                  </a:lnTo>
                  <a:lnTo>
                    <a:pt x="291109" y="63538"/>
                  </a:lnTo>
                  <a:lnTo>
                    <a:pt x="299034" y="68884"/>
                  </a:lnTo>
                  <a:lnTo>
                    <a:pt x="304393" y="76822"/>
                  </a:lnTo>
                  <a:lnTo>
                    <a:pt x="306349" y="86537"/>
                  </a:lnTo>
                  <a:lnTo>
                    <a:pt x="306349" y="202539"/>
                  </a:lnTo>
                  <a:lnTo>
                    <a:pt x="346049" y="177634"/>
                  </a:lnTo>
                  <a:lnTo>
                    <a:pt x="350748" y="174459"/>
                  </a:lnTo>
                  <a:lnTo>
                    <a:pt x="353352" y="168986"/>
                  </a:lnTo>
                  <a:close/>
                </a:path>
              </a:pathLst>
            </a:custGeom>
            <a:solidFill>
              <a:srgbClr val="4AACC5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8" name="object 28"/>
          <p:cNvGrpSpPr/>
          <p:nvPr/>
        </p:nvGrpSpPr>
        <p:grpSpPr>
          <a:xfrm>
            <a:off x="4114800" y="5372100"/>
            <a:ext cx="4724400" cy="981075"/>
            <a:chOff x="4114800" y="5372100"/>
            <a:chExt cx="4724400" cy="981075"/>
          </a:xfrm>
        </p:grpSpPr>
        <p:sp>
          <p:nvSpPr>
            <p:cNvPr id="29" name="object 29"/>
            <p:cNvSpPr/>
            <p:nvPr/>
          </p:nvSpPr>
          <p:spPr>
            <a:xfrm>
              <a:off x="4114800" y="5372100"/>
              <a:ext cx="4724400" cy="981075"/>
            </a:xfrm>
            <a:custGeom>
              <a:avLst/>
              <a:gdLst/>
              <a:ahLst/>
              <a:cxnLst/>
              <a:rect l="l" t="t" r="r" b="b"/>
              <a:pathLst>
                <a:path w="4724400" h="981075">
                  <a:moveTo>
                    <a:pt x="4626356" y="0"/>
                  </a:moveTo>
                  <a:lnTo>
                    <a:pt x="98171" y="0"/>
                  </a:lnTo>
                  <a:lnTo>
                    <a:pt x="59953" y="7713"/>
                  </a:lnTo>
                  <a:lnTo>
                    <a:pt x="28749" y="28749"/>
                  </a:lnTo>
                  <a:lnTo>
                    <a:pt x="7713" y="59953"/>
                  </a:lnTo>
                  <a:lnTo>
                    <a:pt x="0" y="98171"/>
                  </a:lnTo>
                  <a:lnTo>
                    <a:pt x="0" y="882967"/>
                  </a:lnTo>
                  <a:lnTo>
                    <a:pt x="7713" y="921153"/>
                  </a:lnTo>
                  <a:lnTo>
                    <a:pt x="28749" y="952338"/>
                  </a:lnTo>
                  <a:lnTo>
                    <a:pt x="59953" y="973364"/>
                  </a:lnTo>
                  <a:lnTo>
                    <a:pt x="98171" y="981075"/>
                  </a:lnTo>
                  <a:lnTo>
                    <a:pt x="4626229" y="981075"/>
                  </a:lnTo>
                  <a:lnTo>
                    <a:pt x="4664446" y="973366"/>
                  </a:lnTo>
                  <a:lnTo>
                    <a:pt x="4695650" y="952342"/>
                  </a:lnTo>
                  <a:lnTo>
                    <a:pt x="4716686" y="921158"/>
                  </a:lnTo>
                  <a:lnTo>
                    <a:pt x="4724400" y="882967"/>
                  </a:lnTo>
                  <a:lnTo>
                    <a:pt x="4724400" y="98171"/>
                  </a:lnTo>
                  <a:lnTo>
                    <a:pt x="4716688" y="59953"/>
                  </a:lnTo>
                  <a:lnTo>
                    <a:pt x="4695666" y="28749"/>
                  </a:lnTo>
                  <a:lnTo>
                    <a:pt x="4664499" y="7713"/>
                  </a:lnTo>
                  <a:lnTo>
                    <a:pt x="462635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42258" y="5829173"/>
              <a:ext cx="65977" cy="67153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4479950" y="5639553"/>
              <a:ext cx="394335" cy="447040"/>
            </a:xfrm>
            <a:custGeom>
              <a:avLst/>
              <a:gdLst/>
              <a:ahLst/>
              <a:cxnLst/>
              <a:rect l="l" t="t" r="r" b="b"/>
              <a:pathLst>
                <a:path w="394335" h="447039">
                  <a:moveTo>
                    <a:pt x="146287" y="351789"/>
                  </a:moveTo>
                  <a:lnTo>
                    <a:pt x="123271" y="351789"/>
                  </a:lnTo>
                  <a:lnTo>
                    <a:pt x="137076" y="391159"/>
                  </a:lnTo>
                  <a:lnTo>
                    <a:pt x="154129" y="421640"/>
                  </a:lnTo>
                  <a:lnTo>
                    <a:pt x="173759" y="440690"/>
                  </a:lnTo>
                  <a:lnTo>
                    <a:pt x="195297" y="447040"/>
                  </a:lnTo>
                  <a:lnTo>
                    <a:pt x="216911" y="440690"/>
                  </a:lnTo>
                  <a:lnTo>
                    <a:pt x="232718" y="425450"/>
                  </a:lnTo>
                  <a:lnTo>
                    <a:pt x="195297" y="425450"/>
                  </a:lnTo>
                  <a:lnTo>
                    <a:pt x="182281" y="420370"/>
                  </a:lnTo>
                  <a:lnTo>
                    <a:pt x="168699" y="403860"/>
                  </a:lnTo>
                  <a:lnTo>
                    <a:pt x="155632" y="379730"/>
                  </a:lnTo>
                  <a:lnTo>
                    <a:pt x="146287" y="351789"/>
                  </a:lnTo>
                  <a:close/>
                </a:path>
                <a:path w="394335" h="447039">
                  <a:moveTo>
                    <a:pt x="274315" y="325120"/>
                  </a:moveTo>
                  <a:lnTo>
                    <a:pt x="196946" y="325120"/>
                  </a:lnTo>
                  <a:lnTo>
                    <a:pt x="209626" y="330200"/>
                  </a:lnTo>
                  <a:lnTo>
                    <a:pt x="222100" y="336550"/>
                  </a:lnTo>
                  <a:lnTo>
                    <a:pt x="246429" y="344170"/>
                  </a:lnTo>
                  <a:lnTo>
                    <a:pt x="234961" y="378460"/>
                  </a:lnTo>
                  <a:lnTo>
                    <a:pt x="221894" y="403860"/>
                  </a:lnTo>
                  <a:lnTo>
                    <a:pt x="208312" y="420370"/>
                  </a:lnTo>
                  <a:lnTo>
                    <a:pt x="195297" y="425450"/>
                  </a:lnTo>
                  <a:lnTo>
                    <a:pt x="232718" y="425450"/>
                  </a:lnTo>
                  <a:lnTo>
                    <a:pt x="236670" y="421640"/>
                  </a:lnTo>
                  <a:lnTo>
                    <a:pt x="253749" y="391160"/>
                  </a:lnTo>
                  <a:lnTo>
                    <a:pt x="267322" y="351790"/>
                  </a:lnTo>
                  <a:lnTo>
                    <a:pt x="367695" y="351790"/>
                  </a:lnTo>
                  <a:lnTo>
                    <a:pt x="376418" y="346710"/>
                  </a:lnTo>
                  <a:lnTo>
                    <a:pt x="384393" y="337820"/>
                  </a:lnTo>
                  <a:lnTo>
                    <a:pt x="327252" y="337820"/>
                  </a:lnTo>
                  <a:lnTo>
                    <a:pt x="301548" y="335280"/>
                  </a:lnTo>
                  <a:lnTo>
                    <a:pt x="273370" y="330200"/>
                  </a:lnTo>
                  <a:lnTo>
                    <a:pt x="274315" y="325120"/>
                  </a:lnTo>
                  <a:close/>
                </a:path>
                <a:path w="394335" h="447039">
                  <a:moveTo>
                    <a:pt x="367695" y="351790"/>
                  </a:moveTo>
                  <a:lnTo>
                    <a:pt x="267322" y="351790"/>
                  </a:lnTo>
                  <a:lnTo>
                    <a:pt x="283404" y="355600"/>
                  </a:lnTo>
                  <a:lnTo>
                    <a:pt x="298662" y="358140"/>
                  </a:lnTo>
                  <a:lnTo>
                    <a:pt x="326702" y="360680"/>
                  </a:lnTo>
                  <a:lnTo>
                    <a:pt x="346642" y="359410"/>
                  </a:lnTo>
                  <a:lnTo>
                    <a:pt x="363334" y="354330"/>
                  </a:lnTo>
                  <a:lnTo>
                    <a:pt x="367695" y="351790"/>
                  </a:lnTo>
                  <a:close/>
                </a:path>
                <a:path w="394335" h="447039">
                  <a:moveTo>
                    <a:pt x="77498" y="87629"/>
                  </a:moveTo>
                  <a:lnTo>
                    <a:pt x="27259" y="92709"/>
                  </a:lnTo>
                  <a:lnTo>
                    <a:pt x="0" y="134619"/>
                  </a:lnTo>
                  <a:lnTo>
                    <a:pt x="7053" y="161289"/>
                  </a:lnTo>
                  <a:lnTo>
                    <a:pt x="24931" y="193039"/>
                  </a:lnTo>
                  <a:lnTo>
                    <a:pt x="52344" y="224789"/>
                  </a:lnTo>
                  <a:lnTo>
                    <a:pt x="26133" y="256539"/>
                  </a:lnTo>
                  <a:lnTo>
                    <a:pt x="9252" y="285749"/>
                  </a:lnTo>
                  <a:lnTo>
                    <a:pt x="2783" y="312419"/>
                  </a:lnTo>
                  <a:lnTo>
                    <a:pt x="7809" y="335279"/>
                  </a:lnTo>
                  <a:lnTo>
                    <a:pt x="16924" y="345439"/>
                  </a:lnTo>
                  <a:lnTo>
                    <a:pt x="30008" y="353059"/>
                  </a:lnTo>
                  <a:lnTo>
                    <a:pt x="46700" y="358139"/>
                  </a:lnTo>
                  <a:lnTo>
                    <a:pt x="66640" y="359409"/>
                  </a:lnTo>
                  <a:lnTo>
                    <a:pt x="93306" y="356869"/>
                  </a:lnTo>
                  <a:lnTo>
                    <a:pt x="123271" y="351789"/>
                  </a:lnTo>
                  <a:lnTo>
                    <a:pt x="146287" y="351789"/>
                  </a:lnTo>
                  <a:lnTo>
                    <a:pt x="144164" y="345439"/>
                  </a:lnTo>
                  <a:lnTo>
                    <a:pt x="157050" y="341629"/>
                  </a:lnTo>
                  <a:lnTo>
                    <a:pt x="166869" y="337820"/>
                  </a:lnTo>
                  <a:lnTo>
                    <a:pt x="66640" y="337819"/>
                  </a:lnTo>
                  <a:lnTo>
                    <a:pt x="27053" y="325119"/>
                  </a:lnTo>
                  <a:lnTo>
                    <a:pt x="25068" y="309879"/>
                  </a:lnTo>
                  <a:lnTo>
                    <a:pt x="31383" y="290829"/>
                  </a:lnTo>
                  <a:lnTo>
                    <a:pt x="45841" y="266699"/>
                  </a:lnTo>
                  <a:lnTo>
                    <a:pt x="68289" y="240029"/>
                  </a:lnTo>
                  <a:lnTo>
                    <a:pt x="101476" y="240029"/>
                  </a:lnTo>
                  <a:lnTo>
                    <a:pt x="95436" y="234949"/>
                  </a:lnTo>
                  <a:lnTo>
                    <a:pt x="89706" y="229869"/>
                  </a:lnTo>
                  <a:lnTo>
                    <a:pt x="84234" y="224789"/>
                  </a:lnTo>
                  <a:lnTo>
                    <a:pt x="89783" y="219709"/>
                  </a:lnTo>
                  <a:lnTo>
                    <a:pt x="95642" y="214629"/>
                  </a:lnTo>
                  <a:lnTo>
                    <a:pt x="101707" y="209549"/>
                  </a:lnTo>
                  <a:lnTo>
                    <a:pt x="67739" y="209549"/>
                  </a:lnTo>
                  <a:lnTo>
                    <a:pt x="44166" y="182879"/>
                  </a:lnTo>
                  <a:lnTo>
                    <a:pt x="28840" y="157479"/>
                  </a:lnTo>
                  <a:lnTo>
                    <a:pt x="21967" y="137159"/>
                  </a:lnTo>
                  <a:lnTo>
                    <a:pt x="23754" y="123189"/>
                  </a:lnTo>
                  <a:lnTo>
                    <a:pt x="29166" y="118109"/>
                  </a:lnTo>
                  <a:lnTo>
                    <a:pt x="37774" y="113029"/>
                  </a:lnTo>
                  <a:lnTo>
                    <a:pt x="49269" y="110489"/>
                  </a:lnTo>
                  <a:lnTo>
                    <a:pt x="166869" y="110489"/>
                  </a:lnTo>
                  <a:lnTo>
                    <a:pt x="157050" y="106679"/>
                  </a:lnTo>
                  <a:lnTo>
                    <a:pt x="144163" y="102869"/>
                  </a:lnTo>
                  <a:lnTo>
                    <a:pt x="146287" y="96519"/>
                  </a:lnTo>
                  <a:lnTo>
                    <a:pt x="123270" y="96519"/>
                  </a:lnTo>
                  <a:lnTo>
                    <a:pt x="107188" y="92709"/>
                  </a:lnTo>
                  <a:lnTo>
                    <a:pt x="77498" y="87629"/>
                  </a:lnTo>
                  <a:close/>
                </a:path>
                <a:path w="394335" h="447039">
                  <a:moveTo>
                    <a:pt x="101476" y="240029"/>
                  </a:moveTo>
                  <a:lnTo>
                    <a:pt x="68289" y="240029"/>
                  </a:lnTo>
                  <a:lnTo>
                    <a:pt x="77980" y="248919"/>
                  </a:lnTo>
                  <a:lnTo>
                    <a:pt x="88082" y="257809"/>
                  </a:lnTo>
                  <a:lnTo>
                    <a:pt x="98598" y="265429"/>
                  </a:lnTo>
                  <a:lnTo>
                    <a:pt x="109525" y="274319"/>
                  </a:lnTo>
                  <a:lnTo>
                    <a:pt x="110968" y="288289"/>
                  </a:lnTo>
                  <a:lnTo>
                    <a:pt x="112824" y="303529"/>
                  </a:lnTo>
                  <a:lnTo>
                    <a:pt x="115092" y="316229"/>
                  </a:lnTo>
                  <a:lnTo>
                    <a:pt x="117772" y="330199"/>
                  </a:lnTo>
                  <a:lnTo>
                    <a:pt x="104293" y="334009"/>
                  </a:lnTo>
                  <a:lnTo>
                    <a:pt x="66640" y="337819"/>
                  </a:lnTo>
                  <a:lnTo>
                    <a:pt x="166869" y="337820"/>
                  </a:lnTo>
                  <a:lnTo>
                    <a:pt x="183441" y="331470"/>
                  </a:lnTo>
                  <a:lnTo>
                    <a:pt x="196946" y="325120"/>
                  </a:lnTo>
                  <a:lnTo>
                    <a:pt x="274315" y="325120"/>
                  </a:lnTo>
                  <a:lnTo>
                    <a:pt x="274552" y="323850"/>
                  </a:lnTo>
                  <a:lnTo>
                    <a:pt x="139215" y="323849"/>
                  </a:lnTo>
                  <a:lnTo>
                    <a:pt x="137660" y="316229"/>
                  </a:lnTo>
                  <a:lnTo>
                    <a:pt x="136260" y="307339"/>
                  </a:lnTo>
                  <a:lnTo>
                    <a:pt x="134963" y="299719"/>
                  </a:lnTo>
                  <a:lnTo>
                    <a:pt x="133717" y="290829"/>
                  </a:lnTo>
                  <a:lnTo>
                    <a:pt x="177462" y="290830"/>
                  </a:lnTo>
                  <a:lnTo>
                    <a:pt x="162307" y="281939"/>
                  </a:lnTo>
                  <a:lnTo>
                    <a:pt x="145950" y="271779"/>
                  </a:lnTo>
                  <a:lnTo>
                    <a:pt x="138030" y="266699"/>
                  </a:lnTo>
                  <a:lnTo>
                    <a:pt x="130418" y="261619"/>
                  </a:lnTo>
                  <a:lnTo>
                    <a:pt x="129873" y="253999"/>
                  </a:lnTo>
                  <a:lnTo>
                    <a:pt x="129782" y="252729"/>
                  </a:lnTo>
                  <a:lnTo>
                    <a:pt x="129689" y="250189"/>
                  </a:lnTo>
                  <a:lnTo>
                    <a:pt x="129596" y="247649"/>
                  </a:lnTo>
                  <a:lnTo>
                    <a:pt x="129503" y="245109"/>
                  </a:lnTo>
                  <a:lnTo>
                    <a:pt x="107876" y="245109"/>
                  </a:lnTo>
                  <a:lnTo>
                    <a:pt x="101476" y="240029"/>
                  </a:lnTo>
                  <a:close/>
                </a:path>
                <a:path w="394335" h="447039">
                  <a:moveTo>
                    <a:pt x="352530" y="240030"/>
                  </a:moveTo>
                  <a:lnTo>
                    <a:pt x="325603" y="240030"/>
                  </a:lnTo>
                  <a:lnTo>
                    <a:pt x="348051" y="266700"/>
                  </a:lnTo>
                  <a:lnTo>
                    <a:pt x="362509" y="290830"/>
                  </a:lnTo>
                  <a:lnTo>
                    <a:pt x="368823" y="309880"/>
                  </a:lnTo>
                  <a:lnTo>
                    <a:pt x="366839" y="325120"/>
                  </a:lnTo>
                  <a:lnTo>
                    <a:pt x="361427" y="330200"/>
                  </a:lnTo>
                  <a:lnTo>
                    <a:pt x="352819" y="334010"/>
                  </a:lnTo>
                  <a:lnTo>
                    <a:pt x="341324" y="336550"/>
                  </a:lnTo>
                  <a:lnTo>
                    <a:pt x="327252" y="337820"/>
                  </a:lnTo>
                  <a:lnTo>
                    <a:pt x="384393" y="337820"/>
                  </a:lnTo>
                  <a:lnTo>
                    <a:pt x="385533" y="336550"/>
                  </a:lnTo>
                  <a:lnTo>
                    <a:pt x="390558" y="313690"/>
                  </a:lnTo>
                  <a:lnTo>
                    <a:pt x="384089" y="287020"/>
                  </a:lnTo>
                  <a:lnTo>
                    <a:pt x="367208" y="257810"/>
                  </a:lnTo>
                  <a:lnTo>
                    <a:pt x="352530" y="240030"/>
                  </a:lnTo>
                  <a:close/>
                </a:path>
                <a:path w="394335" h="447039">
                  <a:moveTo>
                    <a:pt x="177462" y="290830"/>
                  </a:moveTo>
                  <a:lnTo>
                    <a:pt x="133717" y="290829"/>
                  </a:lnTo>
                  <a:lnTo>
                    <a:pt x="139765" y="294639"/>
                  </a:lnTo>
                  <a:lnTo>
                    <a:pt x="145263" y="297179"/>
                  </a:lnTo>
                  <a:lnTo>
                    <a:pt x="151861" y="300989"/>
                  </a:lnTo>
                  <a:lnTo>
                    <a:pt x="157909" y="304799"/>
                  </a:lnTo>
                  <a:lnTo>
                    <a:pt x="171105" y="312420"/>
                  </a:lnTo>
                  <a:lnTo>
                    <a:pt x="162952" y="314960"/>
                  </a:lnTo>
                  <a:lnTo>
                    <a:pt x="154954" y="318769"/>
                  </a:lnTo>
                  <a:lnTo>
                    <a:pt x="139215" y="323849"/>
                  </a:lnTo>
                  <a:lnTo>
                    <a:pt x="251927" y="323850"/>
                  </a:lnTo>
                  <a:lnTo>
                    <a:pt x="237564" y="318770"/>
                  </a:lnTo>
                  <a:lnTo>
                    <a:pt x="230201" y="314960"/>
                  </a:lnTo>
                  <a:lnTo>
                    <a:pt x="222787" y="312420"/>
                  </a:lnTo>
                  <a:lnTo>
                    <a:pt x="242581" y="300990"/>
                  </a:lnTo>
                  <a:lnTo>
                    <a:pt x="196946" y="300990"/>
                  </a:lnTo>
                  <a:lnTo>
                    <a:pt x="188286" y="295910"/>
                  </a:lnTo>
                  <a:lnTo>
                    <a:pt x="179627" y="292100"/>
                  </a:lnTo>
                  <a:lnTo>
                    <a:pt x="177462" y="290830"/>
                  </a:lnTo>
                  <a:close/>
                </a:path>
                <a:path w="394335" h="447039">
                  <a:moveTo>
                    <a:pt x="279453" y="292100"/>
                  </a:moveTo>
                  <a:lnTo>
                    <a:pt x="256876" y="292100"/>
                  </a:lnTo>
                  <a:lnTo>
                    <a:pt x="254402" y="308610"/>
                  </a:lnTo>
                  <a:lnTo>
                    <a:pt x="251927" y="323850"/>
                  </a:lnTo>
                  <a:lnTo>
                    <a:pt x="274552" y="323850"/>
                  </a:lnTo>
                  <a:lnTo>
                    <a:pt x="275733" y="317500"/>
                  </a:lnTo>
                  <a:lnTo>
                    <a:pt x="277838" y="303530"/>
                  </a:lnTo>
                  <a:lnTo>
                    <a:pt x="279453" y="292100"/>
                  </a:lnTo>
                  <a:close/>
                </a:path>
                <a:path w="394335" h="447039">
                  <a:moveTo>
                    <a:pt x="243680" y="148590"/>
                  </a:moveTo>
                  <a:lnTo>
                    <a:pt x="196946" y="148590"/>
                  </a:lnTo>
                  <a:lnTo>
                    <a:pt x="212616" y="156210"/>
                  </a:lnTo>
                  <a:lnTo>
                    <a:pt x="220450" y="161290"/>
                  </a:lnTo>
                  <a:lnTo>
                    <a:pt x="260175" y="185420"/>
                  </a:lnTo>
                  <a:lnTo>
                    <a:pt x="260810" y="195580"/>
                  </a:lnTo>
                  <a:lnTo>
                    <a:pt x="260797" y="245110"/>
                  </a:lnTo>
                  <a:lnTo>
                    <a:pt x="260411" y="252730"/>
                  </a:lnTo>
                  <a:lnTo>
                    <a:pt x="260346" y="254000"/>
                  </a:lnTo>
                  <a:lnTo>
                    <a:pt x="259625" y="264160"/>
                  </a:lnTo>
                  <a:lnTo>
                    <a:pt x="252924" y="269240"/>
                  </a:lnTo>
                  <a:lnTo>
                    <a:pt x="246017" y="273050"/>
                  </a:lnTo>
                  <a:lnTo>
                    <a:pt x="231584" y="281940"/>
                  </a:lnTo>
                  <a:lnTo>
                    <a:pt x="214265" y="292100"/>
                  </a:lnTo>
                  <a:lnTo>
                    <a:pt x="205605" y="295910"/>
                  </a:lnTo>
                  <a:lnTo>
                    <a:pt x="196946" y="300990"/>
                  </a:lnTo>
                  <a:lnTo>
                    <a:pt x="242581" y="300990"/>
                  </a:lnTo>
                  <a:lnTo>
                    <a:pt x="252477" y="295910"/>
                  </a:lnTo>
                  <a:lnTo>
                    <a:pt x="256876" y="292100"/>
                  </a:lnTo>
                  <a:lnTo>
                    <a:pt x="279453" y="292100"/>
                  </a:lnTo>
                  <a:lnTo>
                    <a:pt x="279633" y="290830"/>
                  </a:lnTo>
                  <a:lnTo>
                    <a:pt x="281068" y="276860"/>
                  </a:lnTo>
                  <a:lnTo>
                    <a:pt x="293129" y="267970"/>
                  </a:lnTo>
                  <a:lnTo>
                    <a:pt x="304572" y="259080"/>
                  </a:lnTo>
                  <a:lnTo>
                    <a:pt x="315397" y="250190"/>
                  </a:lnTo>
                  <a:lnTo>
                    <a:pt x="317948" y="247650"/>
                  </a:lnTo>
                  <a:lnTo>
                    <a:pt x="282717" y="247650"/>
                  </a:lnTo>
                  <a:lnTo>
                    <a:pt x="283267" y="240030"/>
                  </a:lnTo>
                  <a:lnTo>
                    <a:pt x="283157" y="208280"/>
                  </a:lnTo>
                  <a:lnTo>
                    <a:pt x="282937" y="205740"/>
                  </a:lnTo>
                  <a:lnTo>
                    <a:pt x="282827" y="204470"/>
                  </a:lnTo>
                  <a:lnTo>
                    <a:pt x="282717" y="203200"/>
                  </a:lnTo>
                  <a:lnTo>
                    <a:pt x="318313" y="203200"/>
                  </a:lnTo>
                  <a:lnTo>
                    <a:pt x="315397" y="200660"/>
                  </a:lnTo>
                  <a:lnTo>
                    <a:pt x="304572" y="191770"/>
                  </a:lnTo>
                  <a:lnTo>
                    <a:pt x="293129" y="182880"/>
                  </a:lnTo>
                  <a:lnTo>
                    <a:pt x="281068" y="173990"/>
                  </a:lnTo>
                  <a:lnTo>
                    <a:pt x="279985" y="162560"/>
                  </a:lnTo>
                  <a:lnTo>
                    <a:pt x="279865" y="161290"/>
                  </a:lnTo>
                  <a:lnTo>
                    <a:pt x="279745" y="160020"/>
                  </a:lnTo>
                  <a:lnTo>
                    <a:pt x="279624" y="158750"/>
                  </a:lnTo>
                  <a:lnTo>
                    <a:pt x="279439" y="157480"/>
                  </a:lnTo>
                  <a:lnTo>
                    <a:pt x="257426" y="157480"/>
                  </a:lnTo>
                  <a:lnTo>
                    <a:pt x="251378" y="153670"/>
                  </a:lnTo>
                  <a:lnTo>
                    <a:pt x="245879" y="149860"/>
                  </a:lnTo>
                  <a:lnTo>
                    <a:pt x="243680" y="148590"/>
                  </a:lnTo>
                  <a:close/>
                </a:path>
                <a:path w="394335" h="447039">
                  <a:moveTo>
                    <a:pt x="318313" y="203200"/>
                  </a:moveTo>
                  <a:lnTo>
                    <a:pt x="282717" y="203200"/>
                  </a:lnTo>
                  <a:lnTo>
                    <a:pt x="289942" y="208280"/>
                  </a:lnTo>
                  <a:lnTo>
                    <a:pt x="296806" y="214630"/>
                  </a:lnTo>
                  <a:lnTo>
                    <a:pt x="303361" y="219710"/>
                  </a:lnTo>
                  <a:lnTo>
                    <a:pt x="309658" y="226060"/>
                  </a:lnTo>
                  <a:lnTo>
                    <a:pt x="303361" y="231140"/>
                  </a:lnTo>
                  <a:lnTo>
                    <a:pt x="296806" y="236220"/>
                  </a:lnTo>
                  <a:lnTo>
                    <a:pt x="289942" y="242570"/>
                  </a:lnTo>
                  <a:lnTo>
                    <a:pt x="282717" y="247650"/>
                  </a:lnTo>
                  <a:lnTo>
                    <a:pt x="317948" y="247650"/>
                  </a:lnTo>
                  <a:lnTo>
                    <a:pt x="325603" y="240030"/>
                  </a:lnTo>
                  <a:lnTo>
                    <a:pt x="352530" y="240030"/>
                  </a:lnTo>
                  <a:lnTo>
                    <a:pt x="340998" y="226060"/>
                  </a:lnTo>
                  <a:lnTo>
                    <a:pt x="354979" y="209550"/>
                  </a:lnTo>
                  <a:lnTo>
                    <a:pt x="325603" y="209550"/>
                  </a:lnTo>
                  <a:lnTo>
                    <a:pt x="318313" y="203200"/>
                  </a:lnTo>
                  <a:close/>
                </a:path>
                <a:path w="394335" h="447039">
                  <a:moveTo>
                    <a:pt x="129712" y="204469"/>
                  </a:moveTo>
                  <a:lnTo>
                    <a:pt x="107876" y="204469"/>
                  </a:lnTo>
                  <a:lnTo>
                    <a:pt x="107876" y="210819"/>
                  </a:lnTo>
                  <a:lnTo>
                    <a:pt x="107546" y="214629"/>
                  </a:lnTo>
                  <a:lnTo>
                    <a:pt x="129503" y="245109"/>
                  </a:lnTo>
                  <a:lnTo>
                    <a:pt x="129591" y="208279"/>
                  </a:lnTo>
                  <a:lnTo>
                    <a:pt x="129712" y="204469"/>
                  </a:lnTo>
                  <a:close/>
                </a:path>
                <a:path w="394335" h="447039">
                  <a:moveTo>
                    <a:pt x="166869" y="110489"/>
                  </a:moveTo>
                  <a:lnTo>
                    <a:pt x="75703" y="110489"/>
                  </a:lnTo>
                  <a:lnTo>
                    <a:pt x="88838" y="111759"/>
                  </a:lnTo>
                  <a:lnTo>
                    <a:pt x="102695" y="114299"/>
                  </a:lnTo>
                  <a:lnTo>
                    <a:pt x="117223" y="118109"/>
                  </a:lnTo>
                  <a:lnTo>
                    <a:pt x="114542" y="132079"/>
                  </a:lnTo>
                  <a:lnTo>
                    <a:pt x="112274" y="146049"/>
                  </a:lnTo>
                  <a:lnTo>
                    <a:pt x="110419" y="161289"/>
                  </a:lnTo>
                  <a:lnTo>
                    <a:pt x="108975" y="175259"/>
                  </a:lnTo>
                  <a:lnTo>
                    <a:pt x="97738" y="184149"/>
                  </a:lnTo>
                  <a:lnTo>
                    <a:pt x="87120" y="193039"/>
                  </a:lnTo>
                  <a:lnTo>
                    <a:pt x="77120" y="200659"/>
                  </a:lnTo>
                  <a:lnTo>
                    <a:pt x="67739" y="209549"/>
                  </a:lnTo>
                  <a:lnTo>
                    <a:pt x="101707" y="209549"/>
                  </a:lnTo>
                  <a:lnTo>
                    <a:pt x="107876" y="204469"/>
                  </a:lnTo>
                  <a:lnTo>
                    <a:pt x="129712" y="204469"/>
                  </a:lnTo>
                  <a:lnTo>
                    <a:pt x="156320" y="171449"/>
                  </a:lnTo>
                  <a:lnTo>
                    <a:pt x="165606" y="165099"/>
                  </a:lnTo>
                  <a:lnTo>
                    <a:pt x="173441" y="161289"/>
                  </a:lnTo>
                  <a:lnTo>
                    <a:pt x="175400" y="160019"/>
                  </a:lnTo>
                  <a:lnTo>
                    <a:pt x="133167" y="160019"/>
                  </a:lnTo>
                  <a:lnTo>
                    <a:pt x="134413" y="149859"/>
                  </a:lnTo>
                  <a:lnTo>
                    <a:pt x="135710" y="140969"/>
                  </a:lnTo>
                  <a:lnTo>
                    <a:pt x="137110" y="133349"/>
                  </a:lnTo>
                  <a:lnTo>
                    <a:pt x="138665" y="124459"/>
                  </a:lnTo>
                  <a:lnTo>
                    <a:pt x="274039" y="124460"/>
                  </a:lnTo>
                  <a:lnTo>
                    <a:pt x="273795" y="123190"/>
                  </a:lnTo>
                  <a:lnTo>
                    <a:pt x="196946" y="123190"/>
                  </a:lnTo>
                  <a:lnTo>
                    <a:pt x="183441" y="118110"/>
                  </a:lnTo>
                  <a:lnTo>
                    <a:pt x="170142" y="111759"/>
                  </a:lnTo>
                  <a:lnTo>
                    <a:pt x="166869" y="110489"/>
                  </a:lnTo>
                  <a:close/>
                </a:path>
                <a:path w="394335" h="447039">
                  <a:moveTo>
                    <a:pt x="387692" y="110490"/>
                  </a:moveTo>
                  <a:lnTo>
                    <a:pt x="330001" y="110490"/>
                  </a:lnTo>
                  <a:lnTo>
                    <a:pt x="344150" y="111760"/>
                  </a:lnTo>
                  <a:lnTo>
                    <a:pt x="355774" y="114300"/>
                  </a:lnTo>
                  <a:lnTo>
                    <a:pt x="364408" y="118110"/>
                  </a:lnTo>
                  <a:lnTo>
                    <a:pt x="369588" y="123190"/>
                  </a:lnTo>
                  <a:lnTo>
                    <a:pt x="371452" y="137160"/>
                  </a:lnTo>
                  <a:lnTo>
                    <a:pt x="364708" y="157480"/>
                  </a:lnTo>
                  <a:lnTo>
                    <a:pt x="349408" y="182880"/>
                  </a:lnTo>
                  <a:lnTo>
                    <a:pt x="325603" y="209550"/>
                  </a:lnTo>
                  <a:lnTo>
                    <a:pt x="354979" y="209550"/>
                  </a:lnTo>
                  <a:lnTo>
                    <a:pt x="368961" y="193040"/>
                  </a:lnTo>
                  <a:lnTo>
                    <a:pt x="386976" y="162560"/>
                  </a:lnTo>
                  <a:lnTo>
                    <a:pt x="393960" y="134620"/>
                  </a:lnTo>
                  <a:lnTo>
                    <a:pt x="388831" y="111760"/>
                  </a:lnTo>
                  <a:lnTo>
                    <a:pt x="387692" y="110490"/>
                  </a:lnTo>
                  <a:close/>
                </a:path>
                <a:path w="394335" h="447039">
                  <a:moveTo>
                    <a:pt x="274039" y="124460"/>
                  </a:moveTo>
                  <a:lnTo>
                    <a:pt x="138665" y="124459"/>
                  </a:lnTo>
                  <a:lnTo>
                    <a:pt x="154679" y="129539"/>
                  </a:lnTo>
                  <a:lnTo>
                    <a:pt x="171104" y="137159"/>
                  </a:lnTo>
                  <a:lnTo>
                    <a:pt x="165606" y="139699"/>
                  </a:lnTo>
                  <a:lnTo>
                    <a:pt x="159558" y="142239"/>
                  </a:lnTo>
                  <a:lnTo>
                    <a:pt x="154060" y="146049"/>
                  </a:lnTo>
                  <a:lnTo>
                    <a:pt x="147462" y="151129"/>
                  </a:lnTo>
                  <a:lnTo>
                    <a:pt x="133167" y="160019"/>
                  </a:lnTo>
                  <a:lnTo>
                    <a:pt x="175400" y="160019"/>
                  </a:lnTo>
                  <a:lnTo>
                    <a:pt x="181276" y="156210"/>
                  </a:lnTo>
                  <a:lnTo>
                    <a:pt x="196946" y="148590"/>
                  </a:lnTo>
                  <a:lnTo>
                    <a:pt x="243680" y="148590"/>
                  </a:lnTo>
                  <a:lnTo>
                    <a:pt x="239282" y="146050"/>
                  </a:lnTo>
                  <a:lnTo>
                    <a:pt x="233783" y="143510"/>
                  </a:lnTo>
                  <a:lnTo>
                    <a:pt x="228285" y="139700"/>
                  </a:lnTo>
                  <a:lnTo>
                    <a:pt x="222237" y="137160"/>
                  </a:lnTo>
                  <a:lnTo>
                    <a:pt x="229660" y="133350"/>
                  </a:lnTo>
                  <a:lnTo>
                    <a:pt x="251927" y="125730"/>
                  </a:lnTo>
                  <a:lnTo>
                    <a:pt x="274282" y="125730"/>
                  </a:lnTo>
                  <a:lnTo>
                    <a:pt x="274039" y="124460"/>
                  </a:lnTo>
                  <a:close/>
                </a:path>
                <a:path w="394335" h="447039">
                  <a:moveTo>
                    <a:pt x="274282" y="125730"/>
                  </a:moveTo>
                  <a:lnTo>
                    <a:pt x="251927" y="125730"/>
                  </a:lnTo>
                  <a:lnTo>
                    <a:pt x="253482" y="133350"/>
                  </a:lnTo>
                  <a:lnTo>
                    <a:pt x="254883" y="140970"/>
                  </a:lnTo>
                  <a:lnTo>
                    <a:pt x="256180" y="148590"/>
                  </a:lnTo>
                  <a:lnTo>
                    <a:pt x="257426" y="157480"/>
                  </a:lnTo>
                  <a:lnTo>
                    <a:pt x="279439" y="157480"/>
                  </a:lnTo>
                  <a:lnTo>
                    <a:pt x="277769" y="146050"/>
                  </a:lnTo>
                  <a:lnTo>
                    <a:pt x="275501" y="132080"/>
                  </a:lnTo>
                  <a:lnTo>
                    <a:pt x="274282" y="125730"/>
                  </a:lnTo>
                  <a:close/>
                </a:path>
                <a:path w="394335" h="447039">
                  <a:moveTo>
                    <a:pt x="233234" y="22860"/>
                  </a:moveTo>
                  <a:lnTo>
                    <a:pt x="195296" y="22860"/>
                  </a:lnTo>
                  <a:lnTo>
                    <a:pt x="208397" y="27940"/>
                  </a:lnTo>
                  <a:lnTo>
                    <a:pt x="222169" y="43180"/>
                  </a:lnTo>
                  <a:lnTo>
                    <a:pt x="235424" y="68580"/>
                  </a:lnTo>
                  <a:lnTo>
                    <a:pt x="246979" y="104140"/>
                  </a:lnTo>
                  <a:lnTo>
                    <a:pt x="234831" y="107950"/>
                  </a:lnTo>
                  <a:lnTo>
                    <a:pt x="196946" y="123190"/>
                  </a:lnTo>
                  <a:lnTo>
                    <a:pt x="273795" y="123190"/>
                  </a:lnTo>
                  <a:lnTo>
                    <a:pt x="272820" y="118110"/>
                  </a:lnTo>
                  <a:lnTo>
                    <a:pt x="288250" y="115570"/>
                  </a:lnTo>
                  <a:lnTo>
                    <a:pt x="303060" y="111760"/>
                  </a:lnTo>
                  <a:lnTo>
                    <a:pt x="317046" y="110490"/>
                  </a:lnTo>
                  <a:lnTo>
                    <a:pt x="387692" y="110490"/>
                  </a:lnTo>
                  <a:lnTo>
                    <a:pt x="379716" y="101600"/>
                  </a:lnTo>
                  <a:lnTo>
                    <a:pt x="373175" y="97790"/>
                  </a:lnTo>
                  <a:lnTo>
                    <a:pt x="267872" y="97790"/>
                  </a:lnTo>
                  <a:lnTo>
                    <a:pt x="254058" y="57150"/>
                  </a:lnTo>
                  <a:lnTo>
                    <a:pt x="236945" y="26670"/>
                  </a:lnTo>
                  <a:lnTo>
                    <a:pt x="233234" y="22860"/>
                  </a:lnTo>
                  <a:close/>
                </a:path>
                <a:path w="394335" h="447039">
                  <a:moveTo>
                    <a:pt x="330001" y="87630"/>
                  </a:moveTo>
                  <a:lnTo>
                    <a:pt x="300792" y="90170"/>
                  </a:lnTo>
                  <a:lnTo>
                    <a:pt x="284770" y="92710"/>
                  </a:lnTo>
                  <a:lnTo>
                    <a:pt x="267872" y="97790"/>
                  </a:lnTo>
                  <a:lnTo>
                    <a:pt x="373175" y="97790"/>
                  </a:lnTo>
                  <a:lnTo>
                    <a:pt x="366633" y="93980"/>
                  </a:lnTo>
                  <a:lnTo>
                    <a:pt x="349941" y="88900"/>
                  </a:lnTo>
                  <a:lnTo>
                    <a:pt x="330001" y="87630"/>
                  </a:lnTo>
                  <a:close/>
                </a:path>
                <a:path w="394335" h="447039">
                  <a:moveTo>
                    <a:pt x="195296" y="0"/>
                  </a:moveTo>
                  <a:lnTo>
                    <a:pt x="173682" y="6349"/>
                  </a:lnTo>
                  <a:lnTo>
                    <a:pt x="153923" y="26669"/>
                  </a:lnTo>
                  <a:lnTo>
                    <a:pt x="136844" y="57149"/>
                  </a:lnTo>
                  <a:lnTo>
                    <a:pt x="123270" y="96519"/>
                  </a:lnTo>
                  <a:lnTo>
                    <a:pt x="146287" y="96519"/>
                  </a:lnTo>
                  <a:lnTo>
                    <a:pt x="155632" y="68579"/>
                  </a:lnTo>
                  <a:lnTo>
                    <a:pt x="168699" y="43179"/>
                  </a:lnTo>
                  <a:lnTo>
                    <a:pt x="182281" y="27939"/>
                  </a:lnTo>
                  <a:lnTo>
                    <a:pt x="195296" y="22860"/>
                  </a:lnTo>
                  <a:lnTo>
                    <a:pt x="233234" y="22860"/>
                  </a:lnTo>
                  <a:lnTo>
                    <a:pt x="217151" y="6350"/>
                  </a:lnTo>
                  <a:lnTo>
                    <a:pt x="195296" y="0"/>
                  </a:lnTo>
                  <a:close/>
                </a:path>
              </a:pathLst>
            </a:custGeom>
            <a:solidFill>
              <a:srgbClr val="F7954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5339460" y="4329112"/>
            <a:ext cx="3359150" cy="183197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 marR="5080" indent="236220">
              <a:lnSpc>
                <a:spcPct val="105000"/>
              </a:lnSpc>
              <a:spcBef>
                <a:spcPts val="20"/>
              </a:spcBef>
              <a:buAutoNum type="arabicPeriod" startAt="4"/>
              <a:tabLst>
                <a:tab pos="248920" algn="l"/>
              </a:tabLst>
            </a:pPr>
            <a:r>
              <a:rPr sz="1850" dirty="0">
                <a:latin typeface="Calibri" panose="020F0502020204030204"/>
                <a:cs typeface="Calibri" panose="020F0502020204030204"/>
              </a:rPr>
              <a:t>Validate</a:t>
            </a:r>
            <a:r>
              <a:rPr sz="185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850" dirty="0">
                <a:latin typeface="Calibri" panose="020F0502020204030204"/>
                <a:cs typeface="Calibri" panose="020F0502020204030204"/>
              </a:rPr>
              <a:t>results</a:t>
            </a:r>
            <a:r>
              <a:rPr sz="1850" spc="45" dirty="0">
                <a:latin typeface="Calibri" panose="020F0502020204030204"/>
                <a:cs typeface="Calibri" panose="020F0502020204030204"/>
              </a:rPr>
              <a:t> </a:t>
            </a:r>
            <a:r>
              <a:rPr sz="1850" spc="-20" dirty="0">
                <a:latin typeface="Calibri" panose="020F0502020204030204"/>
                <a:cs typeface="Calibri" panose="020F0502020204030204"/>
              </a:rPr>
              <a:t>using </a:t>
            </a:r>
            <a:r>
              <a:rPr sz="1850" dirty="0">
                <a:latin typeface="Calibri" panose="020F0502020204030204"/>
                <a:cs typeface="Calibri" panose="020F0502020204030204"/>
              </a:rPr>
              <a:t>programming</a:t>
            </a:r>
            <a:r>
              <a:rPr sz="1850" spc="120" dirty="0">
                <a:latin typeface="Calibri" panose="020F0502020204030204"/>
                <a:cs typeface="Calibri" panose="020F0502020204030204"/>
              </a:rPr>
              <a:t> </a:t>
            </a:r>
            <a:r>
              <a:rPr sz="1850" spc="-10" dirty="0">
                <a:latin typeface="Calibri" panose="020F0502020204030204"/>
                <a:cs typeface="Calibri" panose="020F0502020204030204"/>
              </a:rPr>
              <a:t>(Python/Excel/C++).</a:t>
            </a:r>
            <a:endParaRPr sz="185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buFont typeface="Calibri" panose="020F0502020204030204"/>
              <a:buAutoNum type="arabicPeriod" startAt="4"/>
            </a:pPr>
            <a:endParaRPr sz="185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465"/>
              </a:spcBef>
              <a:buFont typeface="Calibri" panose="020F0502020204030204"/>
              <a:buAutoNum type="arabicPeriod" startAt="4"/>
            </a:pPr>
            <a:endParaRPr sz="1850">
              <a:latin typeface="Calibri" panose="020F0502020204030204"/>
              <a:cs typeface="Calibri" panose="020F0502020204030204"/>
            </a:endParaRPr>
          </a:p>
          <a:p>
            <a:pPr marL="12700" marR="337820" indent="236220">
              <a:lnSpc>
                <a:spcPct val="105000"/>
              </a:lnSpc>
              <a:buAutoNum type="arabicPeriod" startAt="4"/>
              <a:tabLst>
                <a:tab pos="248920" algn="l"/>
              </a:tabLst>
            </a:pPr>
            <a:r>
              <a:rPr sz="1850" dirty="0">
                <a:latin typeface="Calibri" panose="020F0502020204030204"/>
                <a:cs typeface="Calibri" panose="020F0502020204030204"/>
              </a:rPr>
              <a:t>Apply</a:t>
            </a:r>
            <a:r>
              <a:rPr sz="1850" spc="65" dirty="0">
                <a:latin typeface="Calibri" panose="020F0502020204030204"/>
                <a:cs typeface="Calibri" panose="020F0502020204030204"/>
              </a:rPr>
              <a:t> </a:t>
            </a:r>
            <a:r>
              <a:rPr sz="1850" dirty="0">
                <a:latin typeface="Calibri" panose="020F0502020204030204"/>
                <a:cs typeface="Calibri" panose="020F0502020204030204"/>
              </a:rPr>
              <a:t>SOM</a:t>
            </a:r>
            <a:r>
              <a:rPr sz="1850" spc="65" dirty="0">
                <a:latin typeface="Calibri" panose="020F0502020204030204"/>
                <a:cs typeface="Calibri" panose="020F0502020204030204"/>
              </a:rPr>
              <a:t> </a:t>
            </a:r>
            <a:r>
              <a:rPr sz="1850" dirty="0">
                <a:latin typeface="Calibri" panose="020F0502020204030204"/>
                <a:cs typeface="Calibri" panose="020F0502020204030204"/>
              </a:rPr>
              <a:t>concepts:</a:t>
            </a:r>
            <a:r>
              <a:rPr sz="1850" spc="125" dirty="0">
                <a:latin typeface="Calibri" panose="020F0502020204030204"/>
                <a:cs typeface="Calibri" panose="020F0502020204030204"/>
              </a:rPr>
              <a:t> </a:t>
            </a:r>
            <a:r>
              <a:rPr sz="1850" spc="-10" dirty="0">
                <a:latin typeface="Calibri" panose="020F0502020204030204"/>
                <a:cs typeface="Calibri" panose="020F0502020204030204"/>
              </a:rPr>
              <a:t>stress, </a:t>
            </a:r>
            <a:r>
              <a:rPr sz="1850" dirty="0">
                <a:latin typeface="Calibri" panose="020F0502020204030204"/>
                <a:cs typeface="Calibri" panose="020F0502020204030204"/>
              </a:rPr>
              <a:t>torsion,</a:t>
            </a:r>
            <a:r>
              <a:rPr sz="1850" spc="75" dirty="0">
                <a:latin typeface="Calibri" panose="020F0502020204030204"/>
                <a:cs typeface="Calibri" panose="020F0502020204030204"/>
              </a:rPr>
              <a:t> </a:t>
            </a:r>
            <a:r>
              <a:rPr sz="1850" dirty="0">
                <a:latin typeface="Calibri" panose="020F0502020204030204"/>
                <a:cs typeface="Calibri" panose="020F0502020204030204"/>
              </a:rPr>
              <a:t>bending,</a:t>
            </a:r>
            <a:r>
              <a:rPr sz="1850" spc="75" dirty="0">
                <a:latin typeface="Calibri" panose="020F0502020204030204"/>
                <a:cs typeface="Calibri" panose="020F0502020204030204"/>
              </a:rPr>
              <a:t> </a:t>
            </a:r>
            <a:r>
              <a:rPr sz="1850" spc="-10" dirty="0">
                <a:latin typeface="Calibri" panose="020F0502020204030204"/>
                <a:cs typeface="Calibri" panose="020F0502020204030204"/>
              </a:rPr>
              <a:t>deformation.</a:t>
            </a:r>
            <a:endParaRPr sz="185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6391275" cy="2751455"/>
            <a:chOff x="0" y="0"/>
            <a:chExt cx="6391275" cy="2751455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0"/>
              <a:ext cx="6349840" cy="275104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6391275" cy="2286000"/>
            </a:xfrm>
            <a:custGeom>
              <a:avLst/>
              <a:gdLst/>
              <a:ahLst/>
              <a:cxnLst/>
              <a:rect l="l" t="t" r="r" b="b"/>
              <a:pathLst>
                <a:path w="6391275" h="2286000">
                  <a:moveTo>
                    <a:pt x="6391275" y="0"/>
                  </a:moveTo>
                  <a:lnTo>
                    <a:pt x="0" y="0"/>
                  </a:lnTo>
                  <a:lnTo>
                    <a:pt x="0" y="2286000"/>
                  </a:lnTo>
                  <a:lnTo>
                    <a:pt x="6391275" y="2286000"/>
                  </a:lnTo>
                  <a:lnTo>
                    <a:pt x="63912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7596" rIns="0" bIns="0" rtlCol="0">
            <a:spAutoFit/>
          </a:bodyPr>
          <a:lstStyle/>
          <a:p>
            <a:pPr marL="76835">
              <a:lnSpc>
                <a:spcPct val="100000"/>
              </a:lnSpc>
              <a:spcBef>
                <a:spcPts val="130"/>
              </a:spcBef>
            </a:pPr>
            <a:r>
              <a:rPr dirty="0"/>
              <a:t>CAD</a:t>
            </a:r>
            <a:r>
              <a:rPr spc="-35" dirty="0"/>
              <a:t> </a:t>
            </a:r>
            <a:r>
              <a:rPr spc="-10" dirty="0"/>
              <a:t>Modeling</a:t>
            </a:r>
            <a:endParaRPr spc="-10" dirty="0"/>
          </a:p>
        </p:txBody>
      </p:sp>
      <p:sp>
        <p:nvSpPr>
          <p:cNvPr id="6" name="object 6"/>
          <p:cNvSpPr txBox="1"/>
          <p:nvPr/>
        </p:nvSpPr>
        <p:spPr>
          <a:xfrm>
            <a:off x="650875" y="3382581"/>
            <a:ext cx="3317875" cy="231140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355600" marR="101600" indent="-343535">
              <a:lnSpc>
                <a:spcPts val="2030"/>
              </a:lnSpc>
              <a:spcBef>
                <a:spcPts val="200"/>
              </a:spcBef>
              <a:buFont typeface="Arial MT"/>
              <a:buChar char="•"/>
              <a:tabLst>
                <a:tab pos="355600" algn="l"/>
              </a:tabLst>
            </a:pPr>
            <a:r>
              <a:rPr sz="1700" dirty="0">
                <a:latin typeface="Calibri" panose="020F0502020204030204"/>
                <a:cs typeface="Calibri" panose="020F0502020204030204"/>
              </a:rPr>
              <a:t>Geometry</a:t>
            </a:r>
            <a:r>
              <a:rPr sz="17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700" dirty="0">
                <a:latin typeface="Calibri" panose="020F0502020204030204"/>
                <a:cs typeface="Calibri" panose="020F0502020204030204"/>
              </a:rPr>
              <a:t>modelled</a:t>
            </a:r>
            <a:r>
              <a:rPr sz="17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700" spc="-10" dirty="0">
                <a:latin typeface="Calibri" panose="020F0502020204030204"/>
                <a:cs typeface="Calibri" panose="020F0502020204030204"/>
              </a:rPr>
              <a:t>usingFusion </a:t>
            </a:r>
            <a:r>
              <a:rPr sz="1700" spc="-20" dirty="0">
                <a:latin typeface="Calibri" panose="020F0502020204030204"/>
                <a:cs typeface="Calibri" panose="020F0502020204030204"/>
              </a:rPr>
              <a:t>360.</a:t>
            </a:r>
            <a:endParaRPr sz="1700">
              <a:latin typeface="Calibri" panose="020F0502020204030204"/>
              <a:cs typeface="Calibri" panose="020F0502020204030204"/>
            </a:endParaRPr>
          </a:p>
          <a:p>
            <a:pPr marL="355600" indent="-342900">
              <a:lnSpc>
                <a:spcPct val="100000"/>
              </a:lnSpc>
              <a:spcBef>
                <a:spcPts val="375"/>
              </a:spcBef>
              <a:buFont typeface="Arial MT"/>
              <a:buChar char="•"/>
              <a:tabLst>
                <a:tab pos="355600" algn="l"/>
              </a:tabLst>
            </a:pPr>
            <a:r>
              <a:rPr sz="1700" spc="-10" dirty="0">
                <a:latin typeface="Calibri" panose="020F0502020204030204"/>
                <a:cs typeface="Calibri" panose="020F0502020204030204"/>
              </a:rPr>
              <a:t>Steps:</a:t>
            </a:r>
            <a:endParaRPr sz="1700">
              <a:latin typeface="Calibri" panose="020F0502020204030204"/>
              <a:cs typeface="Calibri" panose="020F0502020204030204"/>
            </a:endParaRPr>
          </a:p>
          <a:p>
            <a:pPr marL="355600" marR="283210" indent="-343535">
              <a:lnSpc>
                <a:spcPts val="2030"/>
              </a:lnSpc>
              <a:spcBef>
                <a:spcPts val="515"/>
              </a:spcBef>
              <a:buFont typeface="Arial MT"/>
              <a:buChar char="•"/>
              <a:tabLst>
                <a:tab pos="355600" algn="l"/>
              </a:tabLst>
            </a:pPr>
            <a:r>
              <a:rPr sz="1700" dirty="0">
                <a:latin typeface="Calibri" panose="020F0502020204030204"/>
                <a:cs typeface="Calibri" panose="020F0502020204030204"/>
              </a:rPr>
              <a:t>1.</a:t>
            </a:r>
            <a:r>
              <a:rPr sz="1700" spc="-85" dirty="0">
                <a:latin typeface="Calibri" panose="020F0502020204030204"/>
                <a:cs typeface="Calibri" panose="020F0502020204030204"/>
              </a:rPr>
              <a:t> </a:t>
            </a:r>
            <a:r>
              <a:rPr sz="1700" dirty="0">
                <a:latin typeface="Calibri" panose="020F0502020204030204"/>
                <a:cs typeface="Calibri" panose="020F0502020204030204"/>
              </a:rPr>
              <a:t>Revolve</a:t>
            </a:r>
            <a:r>
              <a:rPr sz="17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700" dirty="0">
                <a:latin typeface="Calibri" panose="020F0502020204030204"/>
                <a:cs typeface="Calibri" panose="020F0502020204030204"/>
              </a:rPr>
              <a:t>base</a:t>
            </a:r>
            <a:r>
              <a:rPr sz="17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700" spc="-10" dirty="0">
                <a:latin typeface="Calibri" panose="020F0502020204030204"/>
                <a:cs typeface="Calibri" panose="020F0502020204030204"/>
              </a:rPr>
              <a:t>sketch</a:t>
            </a:r>
            <a:r>
              <a:rPr sz="17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700" dirty="0">
                <a:latin typeface="Calibri" panose="020F0502020204030204"/>
                <a:cs typeface="Calibri" panose="020F0502020204030204"/>
              </a:rPr>
              <a:t>to</a:t>
            </a:r>
            <a:r>
              <a:rPr sz="17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700" spc="-20" dirty="0">
                <a:latin typeface="Calibri" panose="020F0502020204030204"/>
                <a:cs typeface="Calibri" panose="020F0502020204030204"/>
              </a:rPr>
              <a:t>form </a:t>
            </a:r>
            <a:r>
              <a:rPr sz="1700" spc="-10" dirty="0">
                <a:latin typeface="Calibri" panose="020F0502020204030204"/>
                <a:cs typeface="Calibri" panose="020F0502020204030204"/>
              </a:rPr>
              <a:t>shaft.</a:t>
            </a:r>
            <a:endParaRPr sz="1700">
              <a:latin typeface="Calibri" panose="020F0502020204030204"/>
              <a:cs typeface="Calibri" panose="020F0502020204030204"/>
            </a:endParaRPr>
          </a:p>
          <a:p>
            <a:pPr marL="355600" marR="520065" indent="-343535">
              <a:lnSpc>
                <a:spcPts val="2030"/>
              </a:lnSpc>
              <a:spcBef>
                <a:spcPts val="445"/>
              </a:spcBef>
              <a:buFont typeface="Arial MT"/>
              <a:buChar char="•"/>
              <a:tabLst>
                <a:tab pos="355600" algn="l"/>
              </a:tabLst>
            </a:pPr>
            <a:r>
              <a:rPr sz="1700" dirty="0">
                <a:latin typeface="Calibri" panose="020F0502020204030204"/>
                <a:cs typeface="Calibri" panose="020F0502020204030204"/>
              </a:rPr>
              <a:t>2.</a:t>
            </a:r>
            <a:r>
              <a:rPr sz="1700" spc="-90" dirty="0">
                <a:latin typeface="Calibri" panose="020F0502020204030204"/>
                <a:cs typeface="Calibri" panose="020F0502020204030204"/>
              </a:rPr>
              <a:t> </a:t>
            </a:r>
            <a:r>
              <a:rPr sz="1700" dirty="0">
                <a:latin typeface="Calibri" panose="020F0502020204030204"/>
                <a:cs typeface="Calibri" panose="020F0502020204030204"/>
              </a:rPr>
              <a:t>Apply</a:t>
            </a:r>
            <a:r>
              <a:rPr sz="17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1700" dirty="0">
                <a:latin typeface="Calibri" panose="020F0502020204030204"/>
                <a:cs typeface="Calibri" panose="020F0502020204030204"/>
              </a:rPr>
              <a:t>circular</a:t>
            </a:r>
            <a:r>
              <a:rPr sz="17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700" spc="-10" dirty="0">
                <a:latin typeface="Calibri" panose="020F0502020204030204"/>
                <a:cs typeface="Calibri" panose="020F0502020204030204"/>
              </a:rPr>
              <a:t>pattern</a:t>
            </a:r>
            <a:r>
              <a:rPr sz="17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700" spc="-25" dirty="0">
                <a:latin typeface="Calibri" panose="020F0502020204030204"/>
                <a:cs typeface="Calibri" panose="020F0502020204030204"/>
              </a:rPr>
              <a:t>(22 </a:t>
            </a:r>
            <a:r>
              <a:rPr sz="1700" spc="-10" dirty="0">
                <a:latin typeface="Calibri" panose="020F0502020204030204"/>
                <a:cs typeface="Calibri" panose="020F0502020204030204"/>
              </a:rPr>
              <a:t>splines).</a:t>
            </a:r>
            <a:endParaRPr sz="1700">
              <a:latin typeface="Calibri" panose="020F0502020204030204"/>
              <a:cs typeface="Calibri" panose="020F0502020204030204"/>
            </a:endParaRPr>
          </a:p>
          <a:p>
            <a:pPr marL="355600" indent="-342900">
              <a:lnSpc>
                <a:spcPct val="100000"/>
              </a:lnSpc>
              <a:spcBef>
                <a:spcPts val="295"/>
              </a:spcBef>
              <a:buFont typeface="Arial MT"/>
              <a:buChar char="•"/>
              <a:tabLst>
                <a:tab pos="355600" algn="l"/>
              </a:tabLst>
            </a:pPr>
            <a:r>
              <a:rPr sz="1700" dirty="0">
                <a:latin typeface="Calibri" panose="020F0502020204030204"/>
                <a:cs typeface="Calibri" panose="020F0502020204030204"/>
              </a:rPr>
              <a:t>3.</a:t>
            </a:r>
            <a:r>
              <a:rPr sz="1700" spc="-95" dirty="0">
                <a:latin typeface="Calibri" panose="020F0502020204030204"/>
                <a:cs typeface="Calibri" panose="020F0502020204030204"/>
              </a:rPr>
              <a:t> </a:t>
            </a:r>
            <a:r>
              <a:rPr sz="1700" dirty="0">
                <a:latin typeface="Calibri" panose="020F0502020204030204"/>
                <a:cs typeface="Calibri" panose="020F0502020204030204"/>
              </a:rPr>
              <a:t>Mirror</a:t>
            </a:r>
            <a:r>
              <a:rPr sz="17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700" dirty="0">
                <a:latin typeface="Calibri" panose="020F0502020204030204"/>
                <a:cs typeface="Calibri" panose="020F0502020204030204"/>
              </a:rPr>
              <a:t>operation</a:t>
            </a:r>
            <a:r>
              <a:rPr sz="17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700" dirty="0">
                <a:latin typeface="Calibri" panose="020F0502020204030204"/>
                <a:cs typeface="Calibri" panose="020F0502020204030204"/>
              </a:rPr>
              <a:t>for</a:t>
            </a:r>
            <a:r>
              <a:rPr sz="17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700" spc="-10" dirty="0">
                <a:latin typeface="Calibri" panose="020F0502020204030204"/>
                <a:cs typeface="Calibri" panose="020F0502020204030204"/>
              </a:rPr>
              <a:t>symmetry.</a:t>
            </a:r>
            <a:endParaRPr sz="17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393700"/>
            <a:ext cx="4437380" cy="14986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750820"/>
            <a:ext cx="4119245" cy="30099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Placeholder 2"/>
          <p:cNvSpPr>
            <a:spLocks noGrp="1"/>
          </p:cNvSpPr>
          <p:nvPr/>
        </p:nvSpPr>
        <p:spPr>
          <a:xfrm>
            <a:off x="76200" y="76200"/>
            <a:ext cx="9248140" cy="315849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>
              <a:defRPr sz="2000" b="0" i="0">
                <a:solidFill>
                  <a:schemeClr val="tx1"/>
                </a:solidFill>
                <a:latin typeface="Calibri" panose="020F0502020204030204"/>
                <a:ea typeface="+mn-ea"/>
                <a:cs typeface="Calibri" panose="020F0502020204030204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/>
              <a:t>In this project, the gearbox shaft was designed using Autodesk Fusion 360.</a:t>
            </a:r>
            <a:endParaRPr lang="en-US" altLang="en-US"/>
          </a:p>
          <a:p>
            <a:r>
              <a:rPr lang="en-US" altLang="en-US"/>
              <a:t>We first created a 2D sketch based on actual dimensions, including total shaft length, diameters, spline width, keyway depth, and fillet radius.</a:t>
            </a:r>
            <a:endParaRPr lang="en-US" altLang="en-US"/>
          </a:p>
          <a:p>
            <a:r>
              <a:rPr lang="en-US" altLang="en-US"/>
              <a:t>After fully constraining the sketch, we used the revolve tool to generate a 3D solid shaft.</a:t>
            </a:r>
            <a:endParaRPr lang="en-US" altLang="en-US"/>
          </a:p>
          <a:p>
            <a:r>
              <a:rPr lang="en-US" altLang="en-US"/>
              <a:t>The splines were created using extruded cuts and then patterned using the circular pattern feature with 22 repetitions.</a:t>
            </a:r>
            <a:endParaRPr lang="en-US" altLang="en-US"/>
          </a:p>
          <a:p>
            <a:r>
              <a:rPr lang="en-US" altLang="en-US"/>
              <a:t>A mirror operation was used to maintain symmetry.</a:t>
            </a:r>
            <a:endParaRPr lang="en-US" altLang="en-US"/>
          </a:p>
          <a:p>
            <a:r>
              <a:rPr lang="en-US" altLang="en-US"/>
              <a:t>Chamfers and 1 mm fillets were added to remove sharp edges and reduce stress concentration, which is important from a Strength of Materials perspective.</a:t>
            </a:r>
            <a:endParaRPr lang="en-US" altLang="en-US"/>
          </a:p>
          <a:p>
            <a:r>
              <a:rPr lang="en-US" altLang="en-US"/>
              <a:t>The final model was exported as a STEP/STL file for FEA analysis in ANSYS.</a:t>
            </a:r>
            <a:endParaRPr lang="en-US" alt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5400" y="3232150"/>
            <a:ext cx="6179820" cy="35998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" y="76200"/>
            <a:ext cx="8707755" cy="3148330"/>
          </a:xfrm>
        </p:spPr>
        <p:txBody>
          <a:bodyPr wrap="square">
            <a:noAutofit/>
          </a:bodyPr>
          <a:p>
            <a:r>
              <a:rPr lang="en-US" altLang="en-US"/>
              <a:t>Here are the key SOM-based decisions for my differential shaft:</a:t>
            </a:r>
            <a:endParaRPr lang="en-US" altLang="en-US"/>
          </a:p>
          <a:p>
            <a:r>
              <a:rPr lang="en-US" altLang="en-US"/>
              <a:t>• Fillets: Used to reduce stress concentration and prevent fatigue.</a:t>
            </a:r>
            <a:endParaRPr lang="en-US" altLang="en-US"/>
          </a:p>
          <a:p>
            <a:r>
              <a:rPr lang="en-US" altLang="en-US"/>
              <a:t>• Diameter: Calculated to get the right polar moment of inertia (J) for handling torsion.</a:t>
            </a:r>
            <a:endParaRPr lang="en-US" altLang="en-US"/>
          </a:p>
          <a:p>
            <a:r>
              <a:rPr lang="en-US" altLang="en-US"/>
              <a:t>• Splines: Added to maximize torque transmission capacity.</a:t>
            </a:r>
            <a:endParaRPr lang="en-US" altLang="en-US"/>
          </a:p>
          <a:p>
            <a:r>
              <a:rPr lang="en-US" altLang="en-US"/>
              <a:t>• Chamfering: Applied to the ends to avoid crack initiation.</a:t>
            </a:r>
            <a:endParaRPr lang="en-US" altLang="en-US"/>
          </a:p>
          <a:p>
            <a:r>
              <a:rPr lang="en-US" altLang="en-US"/>
              <a:t>• Length/Thickness: Balanced to ensure rigidity and control deflection.</a:t>
            </a:r>
            <a:endParaRPr lang="en-US" altLang="en-US"/>
          </a:p>
          <a:p>
            <a:r>
              <a:rPr lang="en-US" altLang="en-US"/>
              <a:t>• Material: I used Structural Steel, selected for its high stiffness (210 GPa Young's Modulus) and reliable yield strength (250 MPa).</a:t>
            </a:r>
            <a:endParaRPr lang="en-US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200400"/>
            <a:ext cx="9144000" cy="33604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3772" y="1471231"/>
            <a:ext cx="2293620" cy="7467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700" spc="-50" dirty="0"/>
              <a:t>ANALYSIS</a:t>
            </a:r>
            <a:endParaRPr sz="4700"/>
          </a:p>
        </p:txBody>
      </p:sp>
      <p:grpSp>
        <p:nvGrpSpPr>
          <p:cNvPr id="3" name="object 3"/>
          <p:cNvGrpSpPr/>
          <p:nvPr/>
        </p:nvGrpSpPr>
        <p:grpSpPr>
          <a:xfrm>
            <a:off x="458063" y="2560398"/>
            <a:ext cx="2656205" cy="88900"/>
            <a:chOff x="458063" y="2560398"/>
            <a:chExt cx="2656205" cy="88900"/>
          </a:xfrm>
        </p:grpSpPr>
        <p:sp>
          <p:nvSpPr>
            <p:cNvPr id="4" name="object 4"/>
            <p:cNvSpPr/>
            <p:nvPr/>
          </p:nvSpPr>
          <p:spPr>
            <a:xfrm>
              <a:off x="480174" y="2592054"/>
              <a:ext cx="2611755" cy="30480"/>
            </a:xfrm>
            <a:custGeom>
              <a:avLst/>
              <a:gdLst/>
              <a:ahLst/>
              <a:cxnLst/>
              <a:rect l="l" t="t" r="r" b="b"/>
              <a:pathLst>
                <a:path w="2611755" h="30480">
                  <a:moveTo>
                    <a:pt x="433488" y="0"/>
                  </a:moveTo>
                  <a:lnTo>
                    <a:pt x="382337" y="100"/>
                  </a:lnTo>
                  <a:lnTo>
                    <a:pt x="332884" y="608"/>
                  </a:lnTo>
                  <a:lnTo>
                    <a:pt x="144093" y="3857"/>
                  </a:lnTo>
                  <a:lnTo>
                    <a:pt x="97162" y="4259"/>
                  </a:lnTo>
                  <a:lnTo>
                    <a:pt x="49543" y="4212"/>
                  </a:lnTo>
                  <a:lnTo>
                    <a:pt x="838" y="3571"/>
                  </a:lnTo>
                  <a:lnTo>
                    <a:pt x="0" y="9794"/>
                  </a:lnTo>
                  <a:lnTo>
                    <a:pt x="838" y="22621"/>
                  </a:lnTo>
                  <a:lnTo>
                    <a:pt x="33806" y="18068"/>
                  </a:lnTo>
                  <a:lnTo>
                    <a:pt x="71875" y="14159"/>
                  </a:lnTo>
                  <a:lnTo>
                    <a:pt x="114435" y="10926"/>
                  </a:lnTo>
                  <a:lnTo>
                    <a:pt x="160879" y="8400"/>
                  </a:lnTo>
                  <a:lnTo>
                    <a:pt x="210598" y="6611"/>
                  </a:lnTo>
                  <a:lnTo>
                    <a:pt x="262985" y="5592"/>
                  </a:lnTo>
                  <a:lnTo>
                    <a:pt x="317431" y="5374"/>
                  </a:lnTo>
                  <a:lnTo>
                    <a:pt x="373328" y="5987"/>
                  </a:lnTo>
                  <a:lnTo>
                    <a:pt x="430068" y="7463"/>
                  </a:lnTo>
                  <a:lnTo>
                    <a:pt x="487044" y="9834"/>
                  </a:lnTo>
                  <a:lnTo>
                    <a:pt x="543646" y="13129"/>
                  </a:lnTo>
                  <a:lnTo>
                    <a:pt x="599268" y="17381"/>
                  </a:lnTo>
                  <a:lnTo>
                    <a:pt x="653300" y="22621"/>
                  </a:lnTo>
                  <a:lnTo>
                    <a:pt x="710098" y="27467"/>
                  </a:lnTo>
                  <a:lnTo>
                    <a:pt x="765641" y="29924"/>
                  </a:lnTo>
                  <a:lnTo>
                    <a:pt x="820053" y="30444"/>
                  </a:lnTo>
                  <a:lnTo>
                    <a:pt x="873462" y="29479"/>
                  </a:lnTo>
                  <a:lnTo>
                    <a:pt x="925992" y="27483"/>
                  </a:lnTo>
                  <a:lnTo>
                    <a:pt x="1028920" y="22205"/>
                  </a:lnTo>
                  <a:lnTo>
                    <a:pt x="1079569" y="19827"/>
                  </a:lnTo>
                  <a:lnTo>
                    <a:pt x="1129842" y="18228"/>
                  </a:lnTo>
                  <a:lnTo>
                    <a:pt x="1179865" y="17859"/>
                  </a:lnTo>
                  <a:lnTo>
                    <a:pt x="1229764" y="19173"/>
                  </a:lnTo>
                  <a:lnTo>
                    <a:pt x="1323850" y="25735"/>
                  </a:lnTo>
                  <a:lnTo>
                    <a:pt x="1370533" y="27307"/>
                  </a:lnTo>
                  <a:lnTo>
                    <a:pt x="1419324" y="27602"/>
                  </a:lnTo>
                  <a:lnTo>
                    <a:pt x="1469836" y="26887"/>
                  </a:lnTo>
                  <a:lnTo>
                    <a:pt x="1521681" y="25427"/>
                  </a:lnTo>
                  <a:lnTo>
                    <a:pt x="1681335" y="19236"/>
                  </a:lnTo>
                  <a:lnTo>
                    <a:pt x="1734633" y="17454"/>
                  </a:lnTo>
                  <a:lnTo>
                    <a:pt x="1787324" y="16257"/>
                  </a:lnTo>
                  <a:lnTo>
                    <a:pt x="1839020" y="15909"/>
                  </a:lnTo>
                  <a:lnTo>
                    <a:pt x="1889333" y="16676"/>
                  </a:lnTo>
                  <a:lnTo>
                    <a:pt x="1937876" y="18825"/>
                  </a:lnTo>
                  <a:lnTo>
                    <a:pt x="2036826" y="26890"/>
                  </a:lnTo>
                  <a:lnTo>
                    <a:pt x="2089096" y="29042"/>
                  </a:lnTo>
                  <a:lnTo>
                    <a:pt x="2141139" y="29479"/>
                  </a:lnTo>
                  <a:lnTo>
                    <a:pt x="2193025" y="28604"/>
                  </a:lnTo>
                  <a:lnTo>
                    <a:pt x="2244822" y="26819"/>
                  </a:lnTo>
                  <a:lnTo>
                    <a:pt x="2348430" y="22127"/>
                  </a:lnTo>
                  <a:lnTo>
                    <a:pt x="2400378" y="20025"/>
                  </a:lnTo>
                  <a:lnTo>
                    <a:pt x="2452515" y="18621"/>
                  </a:lnTo>
                  <a:lnTo>
                    <a:pt x="2504910" y="18317"/>
                  </a:lnTo>
                  <a:lnTo>
                    <a:pt x="2557632" y="19517"/>
                  </a:lnTo>
                  <a:lnTo>
                    <a:pt x="2610751" y="22621"/>
                  </a:lnTo>
                  <a:lnTo>
                    <a:pt x="2611132" y="17668"/>
                  </a:lnTo>
                  <a:lnTo>
                    <a:pt x="2610116" y="12715"/>
                  </a:lnTo>
                  <a:lnTo>
                    <a:pt x="2610751" y="3571"/>
                  </a:lnTo>
                  <a:lnTo>
                    <a:pt x="2569781" y="6909"/>
                  </a:lnTo>
                  <a:lnTo>
                    <a:pt x="2522852" y="9036"/>
                  </a:lnTo>
                  <a:lnTo>
                    <a:pt x="2471022" y="10128"/>
                  </a:lnTo>
                  <a:lnTo>
                    <a:pt x="2415348" y="10358"/>
                  </a:lnTo>
                  <a:lnTo>
                    <a:pt x="2356889" y="9901"/>
                  </a:lnTo>
                  <a:lnTo>
                    <a:pt x="2296703" y="8930"/>
                  </a:lnTo>
                  <a:lnTo>
                    <a:pt x="2059845" y="3394"/>
                  </a:lnTo>
                  <a:lnTo>
                    <a:pt x="2006893" y="2467"/>
                  </a:lnTo>
                  <a:lnTo>
                    <a:pt x="1958561" y="2072"/>
                  </a:lnTo>
                  <a:lnTo>
                    <a:pt x="1915909" y="2382"/>
                  </a:lnTo>
                  <a:lnTo>
                    <a:pt x="1840033" y="5117"/>
                  </a:lnTo>
                  <a:lnTo>
                    <a:pt x="1801346" y="5679"/>
                  </a:lnTo>
                  <a:lnTo>
                    <a:pt x="1762692" y="5481"/>
                  </a:lnTo>
                  <a:lnTo>
                    <a:pt x="1722830" y="4750"/>
                  </a:lnTo>
                  <a:lnTo>
                    <a:pt x="1583600" y="1600"/>
                  </a:lnTo>
                  <a:lnTo>
                    <a:pt x="1526508" y="981"/>
                  </a:lnTo>
                  <a:lnTo>
                    <a:pt x="1462008" y="954"/>
                  </a:lnTo>
                  <a:lnTo>
                    <a:pt x="1388861" y="1742"/>
                  </a:lnTo>
                  <a:lnTo>
                    <a:pt x="1305826" y="3571"/>
                  </a:lnTo>
                  <a:lnTo>
                    <a:pt x="1177335" y="6837"/>
                  </a:lnTo>
                  <a:lnTo>
                    <a:pt x="1066443" y="9092"/>
                  </a:lnTo>
                  <a:lnTo>
                    <a:pt x="968155" y="10289"/>
                  </a:lnTo>
                  <a:lnTo>
                    <a:pt x="922175" y="10477"/>
                  </a:lnTo>
                  <a:lnTo>
                    <a:pt x="877473" y="10383"/>
                  </a:lnTo>
                  <a:lnTo>
                    <a:pt x="833423" y="10001"/>
                  </a:lnTo>
                  <a:lnTo>
                    <a:pt x="789401" y="9325"/>
                  </a:lnTo>
                  <a:lnTo>
                    <a:pt x="744783" y="8350"/>
                  </a:lnTo>
                  <a:lnTo>
                    <a:pt x="698943" y="7070"/>
                  </a:lnTo>
                  <a:lnTo>
                    <a:pt x="542474" y="1592"/>
                  </a:lnTo>
                  <a:lnTo>
                    <a:pt x="486734" y="449"/>
                  </a:lnTo>
                  <a:lnTo>
                    <a:pt x="433488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480288" y="2582623"/>
              <a:ext cx="2611755" cy="44450"/>
            </a:xfrm>
            <a:custGeom>
              <a:avLst/>
              <a:gdLst/>
              <a:ahLst/>
              <a:cxnLst/>
              <a:rect l="l" t="t" r="r" b="b"/>
              <a:pathLst>
                <a:path w="2611755" h="44450">
                  <a:moveTo>
                    <a:pt x="723" y="13002"/>
                  </a:moveTo>
                  <a:lnTo>
                    <a:pt x="63383" y="12932"/>
                  </a:lnTo>
                  <a:lnTo>
                    <a:pt x="118837" y="13011"/>
                  </a:lnTo>
                  <a:lnTo>
                    <a:pt x="168677" y="13199"/>
                  </a:lnTo>
                  <a:lnTo>
                    <a:pt x="214493" y="13454"/>
                  </a:lnTo>
                  <a:lnTo>
                    <a:pt x="257876" y="13735"/>
                  </a:lnTo>
                  <a:lnTo>
                    <a:pt x="300418" y="14002"/>
                  </a:lnTo>
                  <a:lnTo>
                    <a:pt x="343709" y="14214"/>
                  </a:lnTo>
                  <a:lnTo>
                    <a:pt x="389341" y="14329"/>
                  </a:lnTo>
                  <a:lnTo>
                    <a:pt x="438903" y="14306"/>
                  </a:lnTo>
                  <a:lnTo>
                    <a:pt x="493988" y="14105"/>
                  </a:lnTo>
                  <a:lnTo>
                    <a:pt x="556186" y="13684"/>
                  </a:lnTo>
                  <a:lnTo>
                    <a:pt x="627087" y="13002"/>
                  </a:lnTo>
                  <a:lnTo>
                    <a:pt x="697658" y="12466"/>
                  </a:lnTo>
                  <a:lnTo>
                    <a:pt x="758939" y="12482"/>
                  </a:lnTo>
                  <a:lnTo>
                    <a:pt x="812596" y="12913"/>
                  </a:lnTo>
                  <a:lnTo>
                    <a:pt x="860295" y="13623"/>
                  </a:lnTo>
                  <a:lnTo>
                    <a:pt x="903702" y="14476"/>
                  </a:lnTo>
                  <a:lnTo>
                    <a:pt x="944484" y="15336"/>
                  </a:lnTo>
                  <a:lnTo>
                    <a:pt x="984307" y="16066"/>
                  </a:lnTo>
                  <a:lnTo>
                    <a:pt x="1024837" y="16530"/>
                  </a:lnTo>
                  <a:lnTo>
                    <a:pt x="1067741" y="16592"/>
                  </a:lnTo>
                  <a:lnTo>
                    <a:pt x="1114684" y="16116"/>
                  </a:lnTo>
                  <a:lnTo>
                    <a:pt x="1167332" y="14964"/>
                  </a:lnTo>
                  <a:lnTo>
                    <a:pt x="1227353" y="13002"/>
                  </a:lnTo>
                  <a:lnTo>
                    <a:pt x="1288281" y="11385"/>
                  </a:lnTo>
                  <a:lnTo>
                    <a:pt x="1343321" y="11194"/>
                  </a:lnTo>
                  <a:lnTo>
                    <a:pt x="1393646" y="12091"/>
                  </a:lnTo>
                  <a:lnTo>
                    <a:pt x="1440426" y="13736"/>
                  </a:lnTo>
                  <a:lnTo>
                    <a:pt x="1484834" y="15788"/>
                  </a:lnTo>
                  <a:lnTo>
                    <a:pt x="1528041" y="17908"/>
                  </a:lnTo>
                  <a:lnTo>
                    <a:pt x="1571219" y="19755"/>
                  </a:lnTo>
                  <a:lnTo>
                    <a:pt x="1615540" y="20989"/>
                  </a:lnTo>
                  <a:lnTo>
                    <a:pt x="1662175" y="21271"/>
                  </a:lnTo>
                  <a:lnTo>
                    <a:pt x="1712296" y="20261"/>
                  </a:lnTo>
                  <a:lnTo>
                    <a:pt x="1767074" y="17618"/>
                  </a:lnTo>
                  <a:lnTo>
                    <a:pt x="1827682" y="13002"/>
                  </a:lnTo>
                  <a:lnTo>
                    <a:pt x="1878686" y="8865"/>
                  </a:lnTo>
                  <a:lnTo>
                    <a:pt x="1929537" y="5603"/>
                  </a:lnTo>
                  <a:lnTo>
                    <a:pt x="1980311" y="3151"/>
                  </a:lnTo>
                  <a:lnTo>
                    <a:pt x="2031081" y="1444"/>
                  </a:lnTo>
                  <a:lnTo>
                    <a:pt x="2081922" y="415"/>
                  </a:lnTo>
                  <a:lnTo>
                    <a:pt x="2132909" y="0"/>
                  </a:lnTo>
                  <a:lnTo>
                    <a:pt x="2184116" y="131"/>
                  </a:lnTo>
                  <a:lnTo>
                    <a:pt x="2235617" y="744"/>
                  </a:lnTo>
                  <a:lnTo>
                    <a:pt x="2287488" y="1773"/>
                  </a:lnTo>
                  <a:lnTo>
                    <a:pt x="2339802" y="3153"/>
                  </a:lnTo>
                  <a:lnTo>
                    <a:pt x="2392635" y="4816"/>
                  </a:lnTo>
                  <a:lnTo>
                    <a:pt x="2446060" y="6699"/>
                  </a:lnTo>
                  <a:lnTo>
                    <a:pt x="2500153" y="8735"/>
                  </a:lnTo>
                  <a:lnTo>
                    <a:pt x="2554987" y="10858"/>
                  </a:lnTo>
                  <a:lnTo>
                    <a:pt x="2610637" y="13002"/>
                  </a:lnTo>
                  <a:lnTo>
                    <a:pt x="2610002" y="17955"/>
                  </a:lnTo>
                  <a:lnTo>
                    <a:pt x="2611272" y="25829"/>
                  </a:lnTo>
                  <a:lnTo>
                    <a:pt x="2610637" y="32052"/>
                  </a:lnTo>
                  <a:lnTo>
                    <a:pt x="2539578" y="34101"/>
                  </a:lnTo>
                  <a:lnTo>
                    <a:pt x="2475688" y="34625"/>
                  </a:lnTo>
                  <a:lnTo>
                    <a:pt x="2417971" y="33926"/>
                  </a:lnTo>
                  <a:lnTo>
                    <a:pt x="2365434" y="32308"/>
                  </a:lnTo>
                  <a:lnTo>
                    <a:pt x="2317079" y="30072"/>
                  </a:lnTo>
                  <a:lnTo>
                    <a:pt x="2271912" y="27520"/>
                  </a:lnTo>
                  <a:lnTo>
                    <a:pt x="2228938" y="24956"/>
                  </a:lnTo>
                  <a:lnTo>
                    <a:pt x="2187162" y="22682"/>
                  </a:lnTo>
                  <a:lnTo>
                    <a:pt x="2145588" y="20999"/>
                  </a:lnTo>
                  <a:lnTo>
                    <a:pt x="2103220" y="20211"/>
                  </a:lnTo>
                  <a:lnTo>
                    <a:pt x="2059064" y="20620"/>
                  </a:lnTo>
                  <a:lnTo>
                    <a:pt x="2012125" y="22528"/>
                  </a:lnTo>
                  <a:lnTo>
                    <a:pt x="1961406" y="26238"/>
                  </a:lnTo>
                  <a:lnTo>
                    <a:pt x="1905914" y="32052"/>
                  </a:lnTo>
                  <a:lnTo>
                    <a:pt x="1840050" y="38598"/>
                  </a:lnTo>
                  <a:lnTo>
                    <a:pt x="1778016" y="42362"/>
                  </a:lnTo>
                  <a:lnTo>
                    <a:pt x="1719408" y="43822"/>
                  </a:lnTo>
                  <a:lnTo>
                    <a:pt x="1663824" y="43454"/>
                  </a:lnTo>
                  <a:lnTo>
                    <a:pt x="1610858" y="41737"/>
                  </a:lnTo>
                  <a:lnTo>
                    <a:pt x="1560109" y="39148"/>
                  </a:lnTo>
                  <a:lnTo>
                    <a:pt x="1511172" y="36165"/>
                  </a:lnTo>
                  <a:lnTo>
                    <a:pt x="1463643" y="33266"/>
                  </a:lnTo>
                  <a:lnTo>
                    <a:pt x="1417121" y="30927"/>
                  </a:lnTo>
                  <a:lnTo>
                    <a:pt x="1371200" y="29627"/>
                  </a:lnTo>
                  <a:lnTo>
                    <a:pt x="1325477" y="29843"/>
                  </a:lnTo>
                  <a:lnTo>
                    <a:pt x="1279550" y="32052"/>
                  </a:lnTo>
                  <a:lnTo>
                    <a:pt x="1233019" y="34752"/>
                  </a:lnTo>
                  <a:lnTo>
                    <a:pt x="1185772" y="36312"/>
                  </a:lnTo>
                  <a:lnTo>
                    <a:pt x="1137833" y="36928"/>
                  </a:lnTo>
                  <a:lnTo>
                    <a:pt x="1089226" y="36794"/>
                  </a:lnTo>
                  <a:lnTo>
                    <a:pt x="1039977" y="36104"/>
                  </a:lnTo>
                  <a:lnTo>
                    <a:pt x="990109" y="35053"/>
                  </a:lnTo>
                  <a:lnTo>
                    <a:pt x="939647" y="33835"/>
                  </a:lnTo>
                  <a:lnTo>
                    <a:pt x="888616" y="32645"/>
                  </a:lnTo>
                  <a:lnTo>
                    <a:pt x="837039" y="31677"/>
                  </a:lnTo>
                  <a:lnTo>
                    <a:pt x="784942" y="31126"/>
                  </a:lnTo>
                  <a:lnTo>
                    <a:pt x="732349" y="31186"/>
                  </a:lnTo>
                  <a:lnTo>
                    <a:pt x="679284" y="32052"/>
                  </a:lnTo>
                  <a:lnTo>
                    <a:pt x="629018" y="33374"/>
                  </a:lnTo>
                  <a:lnTo>
                    <a:pt x="576889" y="34864"/>
                  </a:lnTo>
                  <a:lnTo>
                    <a:pt x="523318" y="36417"/>
                  </a:lnTo>
                  <a:lnTo>
                    <a:pt x="468726" y="37927"/>
                  </a:lnTo>
                  <a:lnTo>
                    <a:pt x="413532" y="39287"/>
                  </a:lnTo>
                  <a:lnTo>
                    <a:pt x="358156" y="40392"/>
                  </a:lnTo>
                  <a:lnTo>
                    <a:pt x="303019" y="41135"/>
                  </a:lnTo>
                  <a:lnTo>
                    <a:pt x="248540" y="41410"/>
                  </a:lnTo>
                  <a:lnTo>
                    <a:pt x="195139" y="41111"/>
                  </a:lnTo>
                  <a:lnTo>
                    <a:pt x="143237" y="40132"/>
                  </a:lnTo>
                  <a:lnTo>
                    <a:pt x="93254" y="38366"/>
                  </a:lnTo>
                  <a:lnTo>
                    <a:pt x="45609" y="35709"/>
                  </a:lnTo>
                  <a:lnTo>
                    <a:pt x="723" y="32052"/>
                  </a:lnTo>
                  <a:lnTo>
                    <a:pt x="1562" y="26337"/>
                  </a:lnTo>
                  <a:lnTo>
                    <a:pt x="0" y="17066"/>
                  </a:lnTo>
                  <a:lnTo>
                    <a:pt x="723" y="13002"/>
                  </a:lnTo>
                  <a:close/>
                </a:path>
              </a:pathLst>
            </a:custGeom>
            <a:ln w="44450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559434" y="2900362"/>
            <a:ext cx="2773680" cy="15233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54330" indent="-341630" algn="just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354330" algn="l"/>
              </a:tabLst>
            </a:pPr>
            <a:r>
              <a:rPr sz="1850" dirty="0">
                <a:latin typeface="Calibri" panose="020F0502020204030204"/>
                <a:cs typeface="Calibri" panose="020F0502020204030204"/>
              </a:rPr>
              <a:t>Fillet</a:t>
            </a:r>
            <a:r>
              <a:rPr sz="1850" spc="35" dirty="0">
                <a:latin typeface="Calibri" panose="020F0502020204030204"/>
                <a:cs typeface="Calibri" panose="020F0502020204030204"/>
              </a:rPr>
              <a:t> </a:t>
            </a:r>
            <a:r>
              <a:rPr sz="1850" dirty="0">
                <a:latin typeface="Calibri" panose="020F0502020204030204"/>
                <a:cs typeface="Calibri" panose="020F0502020204030204"/>
              </a:rPr>
              <a:t>applied</a:t>
            </a:r>
            <a:r>
              <a:rPr sz="1850" spc="50" dirty="0">
                <a:latin typeface="Calibri" panose="020F0502020204030204"/>
                <a:cs typeface="Calibri" panose="020F0502020204030204"/>
              </a:rPr>
              <a:t> </a:t>
            </a:r>
            <a:r>
              <a:rPr sz="1850" dirty="0">
                <a:latin typeface="Calibri" panose="020F0502020204030204"/>
                <a:cs typeface="Calibri" panose="020F0502020204030204"/>
              </a:rPr>
              <a:t>to</a:t>
            </a:r>
            <a:r>
              <a:rPr sz="1850" spc="50" dirty="0">
                <a:latin typeface="Calibri" panose="020F0502020204030204"/>
                <a:cs typeface="Calibri" panose="020F0502020204030204"/>
              </a:rPr>
              <a:t> </a:t>
            </a:r>
            <a:r>
              <a:rPr sz="1850" spc="-10" dirty="0">
                <a:latin typeface="Calibri" panose="020F0502020204030204"/>
                <a:cs typeface="Calibri" panose="020F0502020204030204"/>
              </a:rPr>
              <a:t>reduce</a:t>
            </a:r>
            <a:endParaRPr sz="1850">
              <a:latin typeface="Calibri" panose="020F0502020204030204"/>
              <a:cs typeface="Calibri" panose="020F0502020204030204"/>
            </a:endParaRPr>
          </a:p>
          <a:p>
            <a:pPr marL="355600" algn="just">
              <a:lnSpc>
                <a:spcPct val="100000"/>
              </a:lnSpc>
              <a:spcBef>
                <a:spcPts val="35"/>
              </a:spcBef>
            </a:pPr>
            <a:r>
              <a:rPr sz="1850" dirty="0">
                <a:latin typeface="Calibri" panose="020F0502020204030204"/>
                <a:cs typeface="Calibri" panose="020F0502020204030204"/>
              </a:rPr>
              <a:t>stress</a:t>
            </a:r>
            <a:r>
              <a:rPr sz="1850" spc="40" dirty="0">
                <a:latin typeface="Calibri" panose="020F0502020204030204"/>
                <a:cs typeface="Calibri" panose="020F0502020204030204"/>
              </a:rPr>
              <a:t> </a:t>
            </a:r>
            <a:r>
              <a:rPr sz="1850" spc="-10" dirty="0">
                <a:latin typeface="Calibri" panose="020F0502020204030204"/>
                <a:cs typeface="Calibri" panose="020F0502020204030204"/>
              </a:rPr>
              <a:t>concentration.</a:t>
            </a:r>
            <a:endParaRPr sz="1850">
              <a:latin typeface="Calibri" panose="020F0502020204030204"/>
              <a:cs typeface="Calibri" panose="020F0502020204030204"/>
            </a:endParaRPr>
          </a:p>
          <a:p>
            <a:pPr marL="353695" marR="5080" indent="-341630" algn="just">
              <a:lnSpc>
                <a:spcPct val="101000"/>
              </a:lnSpc>
              <a:spcBef>
                <a:spcPts val="525"/>
              </a:spcBef>
              <a:buFont typeface="Arial MT"/>
              <a:buChar char="•"/>
              <a:tabLst>
                <a:tab pos="355600" algn="l"/>
              </a:tabLst>
            </a:pPr>
            <a:r>
              <a:rPr sz="1850" dirty="0">
                <a:latin typeface="Calibri" panose="020F0502020204030204"/>
                <a:cs typeface="Calibri" panose="020F0502020204030204"/>
              </a:rPr>
              <a:t>Final</a:t>
            </a:r>
            <a:r>
              <a:rPr sz="18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1850" dirty="0">
                <a:latin typeface="Calibri" panose="020F0502020204030204"/>
                <a:cs typeface="Calibri" panose="020F0502020204030204"/>
              </a:rPr>
              <a:t>3D</a:t>
            </a:r>
            <a:r>
              <a:rPr sz="1850" spc="90" dirty="0">
                <a:latin typeface="Calibri" panose="020F0502020204030204"/>
                <a:cs typeface="Calibri" panose="020F0502020204030204"/>
              </a:rPr>
              <a:t> </a:t>
            </a:r>
            <a:r>
              <a:rPr sz="1850" dirty="0">
                <a:latin typeface="Calibri" panose="020F0502020204030204"/>
                <a:cs typeface="Calibri" panose="020F0502020204030204"/>
              </a:rPr>
              <a:t>model</a:t>
            </a:r>
            <a:r>
              <a:rPr sz="18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1850" dirty="0">
                <a:latin typeface="Calibri" panose="020F0502020204030204"/>
                <a:cs typeface="Calibri" panose="020F0502020204030204"/>
              </a:rPr>
              <a:t>ready</a:t>
            </a:r>
            <a:r>
              <a:rPr sz="1850" spc="90" dirty="0">
                <a:latin typeface="Calibri" panose="020F0502020204030204"/>
                <a:cs typeface="Calibri" panose="020F0502020204030204"/>
              </a:rPr>
              <a:t> </a:t>
            </a:r>
            <a:r>
              <a:rPr sz="1850" spc="-25" dirty="0">
                <a:latin typeface="Calibri" panose="020F0502020204030204"/>
                <a:cs typeface="Calibri" panose="020F0502020204030204"/>
              </a:rPr>
              <a:t>for </a:t>
            </a:r>
            <a:r>
              <a:rPr sz="1850" spc="-25" dirty="0">
                <a:latin typeface="Calibri" panose="020F0502020204030204"/>
                <a:cs typeface="Calibri" panose="020F0502020204030204"/>
              </a:rPr>
              <a:t>	</a:t>
            </a:r>
            <a:r>
              <a:rPr sz="1850" dirty="0">
                <a:latin typeface="Calibri" panose="020F0502020204030204"/>
                <a:cs typeface="Calibri" panose="020F0502020204030204"/>
              </a:rPr>
              <a:t>analysis</a:t>
            </a:r>
            <a:r>
              <a:rPr sz="1850" spc="80" dirty="0">
                <a:latin typeface="Calibri" panose="020F0502020204030204"/>
                <a:cs typeface="Calibri" panose="020F0502020204030204"/>
              </a:rPr>
              <a:t> </a:t>
            </a:r>
            <a:r>
              <a:rPr sz="1850" dirty="0">
                <a:latin typeface="Calibri" panose="020F0502020204030204"/>
                <a:cs typeface="Calibri" panose="020F0502020204030204"/>
              </a:rPr>
              <a:t>and</a:t>
            </a:r>
            <a:r>
              <a:rPr sz="1850" spc="55" dirty="0">
                <a:latin typeface="Calibri" panose="020F0502020204030204"/>
                <a:cs typeface="Calibri" panose="020F0502020204030204"/>
              </a:rPr>
              <a:t> </a:t>
            </a:r>
            <a:r>
              <a:rPr sz="1850" dirty="0">
                <a:latin typeface="Calibri" panose="020F0502020204030204"/>
                <a:cs typeface="Calibri" panose="020F0502020204030204"/>
              </a:rPr>
              <a:t>exported</a:t>
            </a:r>
            <a:r>
              <a:rPr sz="1850" spc="50" dirty="0">
                <a:latin typeface="Calibri" panose="020F0502020204030204"/>
                <a:cs typeface="Calibri" panose="020F0502020204030204"/>
              </a:rPr>
              <a:t> </a:t>
            </a:r>
            <a:r>
              <a:rPr sz="1850" spc="-25" dirty="0">
                <a:latin typeface="Calibri" panose="020F0502020204030204"/>
                <a:cs typeface="Calibri" panose="020F0502020204030204"/>
              </a:rPr>
              <a:t>to </a:t>
            </a:r>
            <a:r>
              <a:rPr sz="1850" spc="-25" dirty="0">
                <a:latin typeface="Calibri" panose="020F0502020204030204"/>
                <a:cs typeface="Calibri" panose="020F0502020204030204"/>
              </a:rPr>
              <a:t>	</a:t>
            </a:r>
            <a:r>
              <a:rPr sz="1850" spc="-10" dirty="0">
                <a:latin typeface="Calibri" panose="020F0502020204030204"/>
                <a:cs typeface="Calibri" panose="020F0502020204030204"/>
              </a:rPr>
              <a:t>ANSYS.</a:t>
            </a:r>
            <a:endParaRPr sz="185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7" name="object 7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981519" y="0"/>
            <a:ext cx="5162480" cy="68579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302895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93457" y="2824480"/>
            <a:ext cx="1679575" cy="10979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 indent="129540">
              <a:lnSpc>
                <a:spcPct val="100000"/>
              </a:lnSpc>
              <a:spcBef>
                <a:spcPts val="130"/>
              </a:spcBef>
            </a:pPr>
            <a:r>
              <a:rPr u="sng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Material</a:t>
            </a:r>
            <a:r>
              <a:rPr u="none" spc="-20" dirty="0">
                <a:solidFill>
                  <a:srgbClr val="FFFFFF"/>
                </a:solidFill>
              </a:rPr>
              <a:t> </a:t>
            </a:r>
            <a:r>
              <a:rPr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Selection</a:t>
            </a:r>
            <a:endParaRPr u="sng" spc="-10" dirty="0">
              <a:solidFill>
                <a:srgbClr val="FFFFFF"/>
              </a:solidFill>
              <a:uFill>
                <a:solidFill>
                  <a:srgbClr val="FFFFFF"/>
                </a:solidFill>
              </a:u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90239" y="2365057"/>
            <a:ext cx="4665980" cy="2038350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50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Calibri" panose="020F0502020204030204"/>
                <a:cs typeface="Calibri" panose="020F0502020204030204"/>
              </a:rPr>
              <a:t>Material:</a:t>
            </a:r>
            <a:r>
              <a:rPr sz="2000" spc="-10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Structural</a:t>
            </a:r>
            <a:r>
              <a:rPr sz="2000" spc="-10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20" dirty="0">
                <a:latin typeface="Calibri" panose="020F0502020204030204"/>
                <a:cs typeface="Calibri" panose="020F0502020204030204"/>
              </a:rPr>
              <a:t>Steel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55600" indent="-342900">
              <a:lnSpc>
                <a:spcPct val="100000"/>
              </a:lnSpc>
              <a:spcBef>
                <a:spcPts val="45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Calibri" panose="020F0502020204030204"/>
                <a:cs typeface="Calibri" panose="020F0502020204030204"/>
              </a:rPr>
              <a:t>E</a:t>
            </a:r>
            <a:r>
              <a:rPr sz="20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=</a:t>
            </a:r>
            <a:r>
              <a:rPr sz="20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2</a:t>
            </a:r>
            <a:r>
              <a:rPr sz="20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×</a:t>
            </a:r>
            <a:r>
              <a:rPr sz="20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10⁵</a:t>
            </a:r>
            <a:r>
              <a:rPr sz="20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MPa</a:t>
            </a:r>
            <a:r>
              <a:rPr sz="20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|</a:t>
            </a:r>
            <a:r>
              <a:rPr sz="20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G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=</a:t>
            </a:r>
            <a:r>
              <a:rPr sz="20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7.7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×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10⁴</a:t>
            </a:r>
            <a:r>
              <a:rPr sz="20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20" dirty="0">
                <a:latin typeface="Calibri" panose="020F0502020204030204"/>
                <a:cs typeface="Calibri" panose="020F0502020204030204"/>
              </a:rPr>
              <a:t>MPa</a:t>
            </a:r>
            <a:r>
              <a:rPr sz="20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|</a:t>
            </a:r>
            <a:r>
              <a:rPr sz="200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σᵧ</a:t>
            </a:r>
            <a:r>
              <a:rPr sz="20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0" dirty="0">
                <a:latin typeface="Calibri" panose="020F0502020204030204"/>
                <a:cs typeface="Calibri" panose="020F0502020204030204"/>
              </a:rPr>
              <a:t>=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55600">
              <a:lnSpc>
                <a:spcPct val="100000"/>
              </a:lnSpc>
            </a:pPr>
            <a:r>
              <a:rPr sz="2000" dirty="0">
                <a:latin typeface="Calibri" panose="020F0502020204030204"/>
                <a:cs typeface="Calibri" panose="020F0502020204030204"/>
              </a:rPr>
              <a:t>250</a:t>
            </a:r>
            <a:r>
              <a:rPr sz="20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25" dirty="0">
                <a:latin typeface="Calibri" panose="020F0502020204030204"/>
                <a:cs typeface="Calibri" panose="020F0502020204030204"/>
              </a:rPr>
              <a:t>MPa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55600" marR="255905" indent="-34353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Calibri" panose="020F0502020204030204"/>
                <a:cs typeface="Calibri" panose="020F0502020204030204"/>
              </a:rPr>
              <a:t>Reason:</a:t>
            </a:r>
            <a:r>
              <a:rPr sz="20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High</a:t>
            </a:r>
            <a:r>
              <a:rPr sz="20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strength,</a:t>
            </a:r>
            <a:r>
              <a:rPr sz="2000" spc="-9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easy</a:t>
            </a:r>
            <a:r>
              <a:rPr sz="20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availability, machinability,</a:t>
            </a:r>
            <a:r>
              <a:rPr sz="20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suitable</a:t>
            </a:r>
            <a:r>
              <a:rPr sz="20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for</a:t>
            </a:r>
            <a:r>
              <a:rPr sz="20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power transmission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shafts.</a:t>
            </a:r>
            <a:endParaRPr sz="20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6391275" cy="2751455"/>
            <a:chOff x="0" y="0"/>
            <a:chExt cx="6391275" cy="2751455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0"/>
              <a:ext cx="6349840" cy="275104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6391275" cy="2286000"/>
            </a:xfrm>
            <a:custGeom>
              <a:avLst/>
              <a:gdLst/>
              <a:ahLst/>
              <a:cxnLst/>
              <a:rect l="l" t="t" r="r" b="b"/>
              <a:pathLst>
                <a:path w="6391275" h="2286000">
                  <a:moveTo>
                    <a:pt x="6391275" y="0"/>
                  </a:moveTo>
                  <a:lnTo>
                    <a:pt x="0" y="0"/>
                  </a:lnTo>
                  <a:lnTo>
                    <a:pt x="0" y="2286000"/>
                  </a:lnTo>
                  <a:lnTo>
                    <a:pt x="6391275" y="2286000"/>
                  </a:lnTo>
                  <a:lnTo>
                    <a:pt x="63912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83310" y="588644"/>
            <a:ext cx="2468245" cy="10979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509905" marR="5080" indent="-497205">
              <a:lnSpc>
                <a:spcPct val="100000"/>
              </a:lnSpc>
              <a:spcBef>
                <a:spcPts val="130"/>
              </a:spcBef>
            </a:pPr>
            <a:r>
              <a:rPr spc="-20" dirty="0"/>
              <a:t>Programming</a:t>
            </a:r>
            <a:r>
              <a:rPr u="none" spc="-20" dirty="0"/>
              <a:t> </a:t>
            </a:r>
            <a:r>
              <a:rPr spc="-10" dirty="0"/>
              <a:t>Support</a:t>
            </a:r>
            <a:endParaRPr spc="-10" dirty="0"/>
          </a:p>
        </p:txBody>
      </p:sp>
      <p:sp>
        <p:nvSpPr>
          <p:cNvPr id="6" name="object 6"/>
          <p:cNvSpPr txBox="1"/>
          <p:nvPr/>
        </p:nvSpPr>
        <p:spPr>
          <a:xfrm>
            <a:off x="650875" y="3578161"/>
            <a:ext cx="3306445" cy="19183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51790" marR="226060" indent="-339725" algn="just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spc="-10" dirty="0">
                <a:latin typeface="Calibri" panose="020F0502020204030204"/>
                <a:cs typeface="Calibri" panose="020F0502020204030204"/>
              </a:rPr>
              <a:t>Calculated</a:t>
            </a:r>
            <a:r>
              <a:rPr sz="2000" spc="-9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torsional</a:t>
            </a:r>
            <a:r>
              <a:rPr sz="20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20" dirty="0">
                <a:latin typeface="Calibri" panose="020F0502020204030204"/>
                <a:cs typeface="Calibri" panose="020F0502020204030204"/>
              </a:rPr>
              <a:t>shear </a:t>
            </a:r>
            <a:r>
              <a:rPr sz="2000" spc="-20" dirty="0">
                <a:latin typeface="Calibri" panose="020F0502020204030204"/>
                <a:cs typeface="Calibri" panose="020F0502020204030204"/>
              </a:rPr>
              <a:t>	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stress,</a:t>
            </a:r>
            <a:r>
              <a:rPr sz="20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bending</a:t>
            </a:r>
            <a:r>
              <a:rPr sz="20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stress,</a:t>
            </a:r>
            <a:r>
              <a:rPr sz="20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25" dirty="0">
                <a:latin typeface="Calibri" panose="020F0502020204030204"/>
                <a:cs typeface="Calibri" panose="020F0502020204030204"/>
              </a:rPr>
              <a:t>and </a:t>
            </a:r>
            <a:r>
              <a:rPr sz="2000" spc="-25" dirty="0">
                <a:latin typeface="Calibri" panose="020F0502020204030204"/>
                <a:cs typeface="Calibri" panose="020F0502020204030204"/>
              </a:rPr>
              <a:t>	</a:t>
            </a:r>
            <a:r>
              <a:rPr sz="2000" dirty="0">
                <a:latin typeface="Calibri" panose="020F0502020204030204"/>
                <a:cs typeface="Calibri" panose="020F0502020204030204"/>
              </a:rPr>
              <a:t>angle</a:t>
            </a:r>
            <a:r>
              <a:rPr sz="20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of</a:t>
            </a:r>
            <a:r>
              <a:rPr sz="20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twist.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55600" marR="5080" indent="-343535">
              <a:lnSpc>
                <a:spcPct val="100000"/>
              </a:lnSpc>
              <a:spcBef>
                <a:spcPts val="460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Calibri" panose="020F0502020204030204"/>
                <a:cs typeface="Calibri" panose="020F0502020204030204"/>
              </a:rPr>
              <a:t>Results</a:t>
            </a:r>
            <a:r>
              <a:rPr sz="20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matched</a:t>
            </a:r>
            <a:r>
              <a:rPr sz="20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with</a:t>
            </a:r>
            <a:r>
              <a:rPr sz="20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20" dirty="0">
                <a:latin typeface="Calibri" panose="020F0502020204030204"/>
                <a:cs typeface="Calibri" panose="020F0502020204030204"/>
              </a:rPr>
              <a:t>ANSYS </a:t>
            </a:r>
            <a:r>
              <a:rPr sz="2000" dirty="0">
                <a:latin typeface="Calibri" panose="020F0502020204030204"/>
                <a:cs typeface="Calibri" panose="020F0502020204030204"/>
              </a:rPr>
              <a:t>(±5%</a:t>
            </a:r>
            <a:r>
              <a:rPr sz="20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error),</a:t>
            </a:r>
            <a:r>
              <a:rPr sz="20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validating theoretical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equations.</a:t>
            </a:r>
            <a:endParaRPr sz="20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0" y="-1"/>
            <a:ext cx="4572000" cy="685731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6391275" cy="2751455"/>
            <a:chOff x="0" y="0"/>
            <a:chExt cx="6391275" cy="2751455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0"/>
              <a:ext cx="6349840" cy="275104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6391275" cy="2286000"/>
            </a:xfrm>
            <a:custGeom>
              <a:avLst/>
              <a:gdLst/>
              <a:ahLst/>
              <a:cxnLst/>
              <a:rect l="l" t="t" r="r" b="b"/>
              <a:pathLst>
                <a:path w="6391275" h="2286000">
                  <a:moveTo>
                    <a:pt x="6391275" y="0"/>
                  </a:moveTo>
                  <a:lnTo>
                    <a:pt x="0" y="0"/>
                  </a:lnTo>
                  <a:lnTo>
                    <a:pt x="0" y="2286000"/>
                  </a:lnTo>
                  <a:lnTo>
                    <a:pt x="6391275" y="2286000"/>
                  </a:lnTo>
                  <a:lnTo>
                    <a:pt x="63912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88402" y="588644"/>
            <a:ext cx="2259330" cy="10979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483235" marR="5080" indent="-471170">
              <a:lnSpc>
                <a:spcPct val="100000"/>
              </a:lnSpc>
              <a:spcBef>
                <a:spcPts val="130"/>
              </a:spcBef>
            </a:pPr>
            <a:r>
              <a:rPr dirty="0"/>
              <a:t>FEA</a:t>
            </a:r>
            <a:r>
              <a:rPr spc="-110" dirty="0"/>
              <a:t> </a:t>
            </a:r>
            <a:r>
              <a:rPr spc="-10" dirty="0"/>
              <a:t>Analysis</a:t>
            </a:r>
            <a:r>
              <a:rPr u="none" spc="-10" dirty="0"/>
              <a:t> </a:t>
            </a:r>
            <a:r>
              <a:rPr spc="-10" dirty="0"/>
              <a:t>Results</a:t>
            </a:r>
            <a:endParaRPr spc="-10" dirty="0"/>
          </a:p>
        </p:txBody>
      </p:sp>
      <p:sp>
        <p:nvSpPr>
          <p:cNvPr id="6" name="object 6"/>
          <p:cNvSpPr txBox="1"/>
          <p:nvPr/>
        </p:nvSpPr>
        <p:spPr>
          <a:xfrm>
            <a:off x="650875" y="3089973"/>
            <a:ext cx="3105150" cy="29000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55600" marR="329565" indent="-343535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Calibri" panose="020F0502020204030204"/>
                <a:cs typeface="Calibri" panose="020F0502020204030204"/>
              </a:rPr>
              <a:t>Solver:</a:t>
            </a:r>
            <a:r>
              <a:rPr sz="2000" spc="-9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Static</a:t>
            </a:r>
            <a:r>
              <a:rPr sz="2000" spc="-10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Structural </a:t>
            </a:r>
            <a:r>
              <a:rPr sz="2000" dirty="0">
                <a:latin typeface="Calibri" panose="020F0502020204030204"/>
                <a:cs typeface="Calibri" panose="020F0502020204030204"/>
              </a:rPr>
              <a:t>(ANSYS</a:t>
            </a:r>
            <a:r>
              <a:rPr sz="20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2025</a:t>
            </a:r>
            <a:r>
              <a:rPr sz="20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25" dirty="0">
                <a:latin typeface="Calibri" panose="020F0502020204030204"/>
                <a:cs typeface="Calibri" panose="020F0502020204030204"/>
              </a:rPr>
              <a:t>R2)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55600" marR="410845" indent="-343535">
              <a:lnSpc>
                <a:spcPct val="100000"/>
              </a:lnSpc>
              <a:spcBef>
                <a:spcPts val="460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Calibri" panose="020F0502020204030204"/>
                <a:cs typeface="Calibri" panose="020F0502020204030204"/>
              </a:rPr>
              <a:t>Max</a:t>
            </a:r>
            <a:r>
              <a:rPr sz="20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Equivalent</a:t>
            </a:r>
            <a:r>
              <a:rPr sz="20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Stress: 1.5223e+008</a:t>
            </a:r>
            <a:r>
              <a:rPr sz="20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Pa</a:t>
            </a:r>
            <a:r>
              <a:rPr sz="20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|</a:t>
            </a:r>
            <a:r>
              <a:rPr sz="2000" spc="5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25" dirty="0">
                <a:latin typeface="Calibri" panose="020F0502020204030204"/>
                <a:cs typeface="Calibri" panose="020F0502020204030204"/>
              </a:rPr>
              <a:t>Max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55600" marR="5080">
              <a:lnSpc>
                <a:spcPct val="100000"/>
              </a:lnSpc>
              <a:spcBef>
                <a:spcPts val="5"/>
              </a:spcBef>
            </a:pPr>
            <a:r>
              <a:rPr sz="2000" spc="-10" dirty="0">
                <a:latin typeface="Calibri" panose="020F0502020204030204"/>
                <a:cs typeface="Calibri" panose="020F0502020204030204"/>
              </a:rPr>
              <a:t>Deformation: 1.1106e-</a:t>
            </a:r>
            <a:r>
              <a:rPr sz="2000" spc="-25" dirty="0">
                <a:latin typeface="Calibri" panose="020F0502020204030204"/>
                <a:cs typeface="Calibri" panose="020F0502020204030204"/>
              </a:rPr>
              <a:t>004 </a:t>
            </a:r>
            <a:r>
              <a:rPr sz="2000" spc="-50" dirty="0">
                <a:latin typeface="Calibri" panose="020F0502020204030204"/>
                <a:cs typeface="Calibri" panose="020F0502020204030204"/>
              </a:rPr>
              <a:t>m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55600" marR="165735" indent="-34353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Calibri" panose="020F0502020204030204"/>
                <a:cs typeface="Calibri" panose="020F0502020204030204"/>
              </a:rPr>
              <a:t>Stress</a:t>
            </a:r>
            <a:r>
              <a:rPr sz="20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concentrated</a:t>
            </a:r>
            <a:r>
              <a:rPr sz="2000" spc="-9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20" dirty="0">
                <a:latin typeface="Calibri" panose="020F0502020204030204"/>
                <a:cs typeface="Calibri" panose="020F0502020204030204"/>
              </a:rPr>
              <a:t>near </a:t>
            </a:r>
            <a:r>
              <a:rPr sz="2000" dirty="0">
                <a:latin typeface="Calibri" panose="020F0502020204030204"/>
                <a:cs typeface="Calibri" panose="020F0502020204030204"/>
              </a:rPr>
              <a:t>spline</a:t>
            </a:r>
            <a:r>
              <a:rPr sz="20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ends;</a:t>
            </a:r>
            <a:r>
              <a:rPr sz="20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design</a:t>
            </a:r>
            <a:r>
              <a:rPr sz="20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20" dirty="0">
                <a:latin typeface="Calibri" panose="020F0502020204030204"/>
                <a:cs typeface="Calibri" panose="020F0502020204030204"/>
              </a:rPr>
              <a:t>safe </a:t>
            </a:r>
            <a:r>
              <a:rPr sz="2000" dirty="0">
                <a:latin typeface="Calibri" panose="020F0502020204030204"/>
                <a:cs typeface="Calibri" panose="020F0502020204030204"/>
              </a:rPr>
              <a:t>under</a:t>
            </a:r>
            <a:r>
              <a:rPr sz="20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given</a:t>
            </a:r>
            <a:r>
              <a:rPr sz="20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torque.</a:t>
            </a:r>
            <a:endParaRPr sz="20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0" y="0"/>
            <a:ext cx="4572000" cy="685799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857250"/>
            <a:ext cx="9144000" cy="573405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68925" y="1563687"/>
            <a:ext cx="2407285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400" spc="-10" dirty="0"/>
              <a:t>Discussion</a:t>
            </a:r>
            <a:endParaRPr sz="4400"/>
          </a:p>
        </p:txBody>
      </p:sp>
      <p:grpSp>
        <p:nvGrpSpPr>
          <p:cNvPr id="4" name="object 4"/>
          <p:cNvGrpSpPr/>
          <p:nvPr/>
        </p:nvGrpSpPr>
        <p:grpSpPr>
          <a:xfrm>
            <a:off x="0" y="1458975"/>
            <a:ext cx="4189729" cy="4540250"/>
            <a:chOff x="0" y="1458975"/>
            <a:chExt cx="4189729" cy="454025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458975"/>
              <a:ext cx="4189349" cy="454018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82840" y="2395813"/>
              <a:ext cx="2463165" cy="2472690"/>
            </a:xfrm>
            <a:custGeom>
              <a:avLst/>
              <a:gdLst/>
              <a:ahLst/>
              <a:cxnLst/>
              <a:rect l="l" t="t" r="r" b="b"/>
              <a:pathLst>
                <a:path w="2463165" h="2472690">
                  <a:moveTo>
                    <a:pt x="813361" y="0"/>
                  </a:moveTo>
                  <a:lnTo>
                    <a:pt x="788267" y="4683"/>
                  </a:lnTo>
                  <a:lnTo>
                    <a:pt x="766675" y="18732"/>
                  </a:lnTo>
                  <a:lnTo>
                    <a:pt x="489673" y="296592"/>
                  </a:lnTo>
                  <a:lnTo>
                    <a:pt x="439875" y="249762"/>
                  </a:lnTo>
                  <a:lnTo>
                    <a:pt x="418283" y="235713"/>
                  </a:lnTo>
                  <a:lnTo>
                    <a:pt x="393189" y="231029"/>
                  </a:lnTo>
                  <a:lnTo>
                    <a:pt x="368096" y="235713"/>
                  </a:lnTo>
                  <a:lnTo>
                    <a:pt x="346503" y="249762"/>
                  </a:lnTo>
                  <a:lnTo>
                    <a:pt x="250011" y="346544"/>
                  </a:lnTo>
                  <a:lnTo>
                    <a:pt x="236006" y="368204"/>
                  </a:lnTo>
                  <a:lnTo>
                    <a:pt x="231337" y="393375"/>
                  </a:lnTo>
                  <a:lnTo>
                    <a:pt x="236006" y="418546"/>
                  </a:lnTo>
                  <a:lnTo>
                    <a:pt x="250011" y="440205"/>
                  </a:lnTo>
                  <a:lnTo>
                    <a:pt x="296705" y="490158"/>
                  </a:lnTo>
                  <a:lnTo>
                    <a:pt x="206438" y="580697"/>
                  </a:lnTo>
                  <a:lnTo>
                    <a:pt x="181053" y="614063"/>
                  </a:lnTo>
                  <a:lnTo>
                    <a:pt x="4133" y="1077099"/>
                  </a:lnTo>
                  <a:lnTo>
                    <a:pt x="0" y="1094368"/>
                  </a:lnTo>
                  <a:lnTo>
                    <a:pt x="1410" y="1112222"/>
                  </a:lnTo>
                  <a:lnTo>
                    <a:pt x="34771" y="1154369"/>
                  </a:lnTo>
                  <a:lnTo>
                    <a:pt x="69590" y="1163735"/>
                  </a:lnTo>
                  <a:lnTo>
                    <a:pt x="88167" y="1161394"/>
                  </a:lnTo>
                  <a:lnTo>
                    <a:pt x="555033" y="1008414"/>
                  </a:lnTo>
                  <a:lnTo>
                    <a:pt x="595737" y="987780"/>
                  </a:lnTo>
                  <a:lnTo>
                    <a:pt x="685753" y="899143"/>
                  </a:lnTo>
                  <a:lnTo>
                    <a:pt x="2167247" y="2453917"/>
                  </a:lnTo>
                  <a:lnTo>
                    <a:pt x="2188839" y="2467966"/>
                  </a:lnTo>
                  <a:lnTo>
                    <a:pt x="2213933" y="2472649"/>
                  </a:lnTo>
                  <a:lnTo>
                    <a:pt x="2239027" y="2467966"/>
                  </a:lnTo>
                  <a:lnTo>
                    <a:pt x="2260619" y="2453917"/>
                  </a:lnTo>
                  <a:lnTo>
                    <a:pt x="2444249" y="2269713"/>
                  </a:lnTo>
                  <a:lnTo>
                    <a:pt x="2458255" y="2248054"/>
                  </a:lnTo>
                  <a:lnTo>
                    <a:pt x="2462924" y="2222883"/>
                  </a:lnTo>
                  <a:lnTo>
                    <a:pt x="2458255" y="2197712"/>
                  </a:lnTo>
                  <a:lnTo>
                    <a:pt x="2444249" y="2176053"/>
                  </a:lnTo>
                  <a:lnTo>
                    <a:pt x="894283" y="689968"/>
                  </a:lnTo>
                  <a:lnTo>
                    <a:pt x="1161948" y="418351"/>
                  </a:lnTo>
                  <a:lnTo>
                    <a:pt x="1175953" y="396692"/>
                  </a:lnTo>
                  <a:lnTo>
                    <a:pt x="1180622" y="371521"/>
                  </a:lnTo>
                  <a:lnTo>
                    <a:pt x="1175953" y="346349"/>
                  </a:lnTo>
                  <a:lnTo>
                    <a:pt x="1161948" y="324690"/>
                  </a:lnTo>
                  <a:lnTo>
                    <a:pt x="860047" y="18732"/>
                  </a:lnTo>
                  <a:lnTo>
                    <a:pt x="838454" y="4683"/>
                  </a:lnTo>
                  <a:lnTo>
                    <a:pt x="813361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82840" y="2395813"/>
              <a:ext cx="2463165" cy="2472690"/>
            </a:xfrm>
            <a:custGeom>
              <a:avLst/>
              <a:gdLst/>
              <a:ahLst/>
              <a:cxnLst/>
              <a:rect l="l" t="t" r="r" b="b"/>
              <a:pathLst>
                <a:path w="2463165" h="2472690">
                  <a:moveTo>
                    <a:pt x="4133" y="1077099"/>
                  </a:moveTo>
                  <a:lnTo>
                    <a:pt x="175314" y="627527"/>
                  </a:lnTo>
                  <a:lnTo>
                    <a:pt x="197198" y="590648"/>
                  </a:lnTo>
                  <a:lnTo>
                    <a:pt x="296705" y="490158"/>
                  </a:lnTo>
                  <a:lnTo>
                    <a:pt x="250011" y="440205"/>
                  </a:lnTo>
                  <a:lnTo>
                    <a:pt x="236006" y="418546"/>
                  </a:lnTo>
                  <a:lnTo>
                    <a:pt x="231337" y="393375"/>
                  </a:lnTo>
                  <a:lnTo>
                    <a:pt x="236006" y="368204"/>
                  </a:lnTo>
                  <a:lnTo>
                    <a:pt x="250011" y="346544"/>
                  </a:lnTo>
                  <a:lnTo>
                    <a:pt x="346503" y="249762"/>
                  </a:lnTo>
                  <a:lnTo>
                    <a:pt x="368096" y="235713"/>
                  </a:lnTo>
                  <a:lnTo>
                    <a:pt x="393189" y="231029"/>
                  </a:lnTo>
                  <a:lnTo>
                    <a:pt x="418283" y="235713"/>
                  </a:lnTo>
                  <a:lnTo>
                    <a:pt x="439875" y="249762"/>
                  </a:lnTo>
                  <a:lnTo>
                    <a:pt x="489673" y="296592"/>
                  </a:lnTo>
                  <a:lnTo>
                    <a:pt x="766675" y="18732"/>
                  </a:lnTo>
                  <a:lnTo>
                    <a:pt x="788267" y="4683"/>
                  </a:lnTo>
                  <a:lnTo>
                    <a:pt x="813361" y="0"/>
                  </a:lnTo>
                  <a:lnTo>
                    <a:pt x="838454" y="4683"/>
                  </a:lnTo>
                  <a:lnTo>
                    <a:pt x="860047" y="18732"/>
                  </a:lnTo>
                  <a:lnTo>
                    <a:pt x="1161948" y="324690"/>
                  </a:lnTo>
                  <a:lnTo>
                    <a:pt x="1175953" y="346349"/>
                  </a:lnTo>
                  <a:lnTo>
                    <a:pt x="1180622" y="371521"/>
                  </a:lnTo>
                  <a:lnTo>
                    <a:pt x="1175953" y="396692"/>
                  </a:lnTo>
                  <a:lnTo>
                    <a:pt x="1161948" y="418351"/>
                  </a:lnTo>
                  <a:lnTo>
                    <a:pt x="894283" y="689968"/>
                  </a:lnTo>
                  <a:lnTo>
                    <a:pt x="2444249" y="2176053"/>
                  </a:lnTo>
                  <a:lnTo>
                    <a:pt x="2458255" y="2197712"/>
                  </a:lnTo>
                  <a:lnTo>
                    <a:pt x="2462924" y="2222883"/>
                  </a:lnTo>
                  <a:lnTo>
                    <a:pt x="2458255" y="2248054"/>
                  </a:lnTo>
                  <a:lnTo>
                    <a:pt x="2444249" y="2269713"/>
                  </a:lnTo>
                  <a:lnTo>
                    <a:pt x="2260619" y="2453917"/>
                  </a:lnTo>
                  <a:lnTo>
                    <a:pt x="2239027" y="2467966"/>
                  </a:lnTo>
                  <a:lnTo>
                    <a:pt x="2213933" y="2472649"/>
                  </a:lnTo>
                  <a:lnTo>
                    <a:pt x="2188839" y="2467966"/>
                  </a:lnTo>
                  <a:lnTo>
                    <a:pt x="2167247" y="2453917"/>
                  </a:lnTo>
                  <a:lnTo>
                    <a:pt x="685753" y="899143"/>
                  </a:lnTo>
                  <a:lnTo>
                    <a:pt x="607944" y="977194"/>
                  </a:lnTo>
                  <a:lnTo>
                    <a:pt x="568990" y="1003097"/>
                  </a:lnTo>
                  <a:lnTo>
                    <a:pt x="88167" y="1161394"/>
                  </a:lnTo>
                  <a:lnTo>
                    <a:pt x="69590" y="1163735"/>
                  </a:lnTo>
                  <a:lnTo>
                    <a:pt x="51597" y="1161394"/>
                  </a:lnTo>
                  <a:lnTo>
                    <a:pt x="8072" y="1128905"/>
                  </a:lnTo>
                  <a:lnTo>
                    <a:pt x="0" y="1094368"/>
                  </a:lnTo>
                  <a:lnTo>
                    <a:pt x="4133" y="1077099"/>
                  </a:lnTo>
                  <a:close/>
                </a:path>
              </a:pathLst>
            </a:custGeom>
            <a:ln w="31171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906228" y="2315031"/>
              <a:ext cx="1316355" cy="1314450"/>
            </a:xfrm>
            <a:custGeom>
              <a:avLst/>
              <a:gdLst/>
              <a:ahLst/>
              <a:cxnLst/>
              <a:rect l="l" t="t" r="r" b="b"/>
              <a:pathLst>
                <a:path w="1316355" h="1314450">
                  <a:moveTo>
                    <a:pt x="355200" y="0"/>
                  </a:moveTo>
                  <a:lnTo>
                    <a:pt x="314350" y="18341"/>
                  </a:lnTo>
                  <a:lnTo>
                    <a:pt x="34236" y="296202"/>
                  </a:lnTo>
                  <a:lnTo>
                    <a:pt x="16729" y="335276"/>
                  </a:lnTo>
                  <a:lnTo>
                    <a:pt x="15561" y="349276"/>
                  </a:lnTo>
                  <a:lnTo>
                    <a:pt x="19063" y="362740"/>
                  </a:lnTo>
                  <a:lnTo>
                    <a:pt x="24899" y="375033"/>
                  </a:lnTo>
                  <a:lnTo>
                    <a:pt x="33069" y="386155"/>
                  </a:lnTo>
                  <a:lnTo>
                    <a:pt x="43573" y="396107"/>
                  </a:lnTo>
                  <a:lnTo>
                    <a:pt x="448183" y="664601"/>
                  </a:lnTo>
                  <a:lnTo>
                    <a:pt x="0" y="1092319"/>
                  </a:lnTo>
                  <a:lnTo>
                    <a:pt x="230316" y="1313983"/>
                  </a:lnTo>
                  <a:lnTo>
                    <a:pt x="653600" y="870655"/>
                  </a:lnTo>
                  <a:lnTo>
                    <a:pt x="915040" y="1264030"/>
                  </a:lnTo>
                  <a:lnTo>
                    <a:pt x="950930" y="1288616"/>
                  </a:lnTo>
                  <a:lnTo>
                    <a:pt x="979233" y="1292275"/>
                  </a:lnTo>
                  <a:lnTo>
                    <a:pt x="993628" y="1288616"/>
                  </a:lnTo>
                  <a:lnTo>
                    <a:pt x="1297863" y="995536"/>
                  </a:lnTo>
                  <a:lnTo>
                    <a:pt x="1316148" y="954559"/>
                  </a:lnTo>
                  <a:lnTo>
                    <a:pt x="1314057" y="931876"/>
                  </a:lnTo>
                  <a:lnTo>
                    <a:pt x="1304088" y="911241"/>
                  </a:lnTo>
                  <a:lnTo>
                    <a:pt x="983512" y="442937"/>
                  </a:lnTo>
                  <a:lnTo>
                    <a:pt x="983512" y="439815"/>
                  </a:lnTo>
                  <a:lnTo>
                    <a:pt x="880804" y="336788"/>
                  </a:lnTo>
                  <a:lnTo>
                    <a:pt x="880804" y="333666"/>
                  </a:lnTo>
                  <a:lnTo>
                    <a:pt x="877691" y="330544"/>
                  </a:lnTo>
                  <a:lnTo>
                    <a:pt x="874579" y="330544"/>
                  </a:lnTo>
                  <a:lnTo>
                    <a:pt x="398384" y="12097"/>
                  </a:lnTo>
                  <a:lnTo>
                    <a:pt x="377814" y="2097"/>
                  </a:lnTo>
                  <a:lnTo>
                    <a:pt x="3552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906228" y="2315031"/>
              <a:ext cx="1316355" cy="1314450"/>
            </a:xfrm>
            <a:custGeom>
              <a:avLst/>
              <a:gdLst/>
              <a:ahLst/>
              <a:cxnLst/>
              <a:rect l="l" t="t" r="r" b="b"/>
              <a:pathLst>
                <a:path w="1316355" h="1314450">
                  <a:moveTo>
                    <a:pt x="448183" y="664601"/>
                  </a:moveTo>
                  <a:lnTo>
                    <a:pt x="43573" y="396107"/>
                  </a:lnTo>
                  <a:lnTo>
                    <a:pt x="19063" y="362740"/>
                  </a:lnTo>
                  <a:lnTo>
                    <a:pt x="15561" y="349276"/>
                  </a:lnTo>
                  <a:lnTo>
                    <a:pt x="16729" y="335276"/>
                  </a:lnTo>
                  <a:lnTo>
                    <a:pt x="34236" y="296202"/>
                  </a:lnTo>
                  <a:lnTo>
                    <a:pt x="314350" y="18341"/>
                  </a:lnTo>
                  <a:lnTo>
                    <a:pt x="355200" y="0"/>
                  </a:lnTo>
                  <a:lnTo>
                    <a:pt x="377814" y="2097"/>
                  </a:lnTo>
                  <a:lnTo>
                    <a:pt x="398384" y="12097"/>
                  </a:lnTo>
                  <a:lnTo>
                    <a:pt x="874579" y="330544"/>
                  </a:lnTo>
                  <a:lnTo>
                    <a:pt x="877691" y="330544"/>
                  </a:lnTo>
                  <a:lnTo>
                    <a:pt x="880804" y="333666"/>
                  </a:lnTo>
                  <a:lnTo>
                    <a:pt x="880804" y="336788"/>
                  </a:lnTo>
                  <a:lnTo>
                    <a:pt x="883916" y="339910"/>
                  </a:lnTo>
                  <a:lnTo>
                    <a:pt x="974175" y="430449"/>
                  </a:lnTo>
                  <a:lnTo>
                    <a:pt x="980400" y="436693"/>
                  </a:lnTo>
                  <a:lnTo>
                    <a:pt x="983512" y="439815"/>
                  </a:lnTo>
                  <a:lnTo>
                    <a:pt x="983512" y="442937"/>
                  </a:lnTo>
                  <a:lnTo>
                    <a:pt x="1304088" y="911241"/>
                  </a:lnTo>
                  <a:lnTo>
                    <a:pt x="1314057" y="931876"/>
                  </a:lnTo>
                  <a:lnTo>
                    <a:pt x="1310653" y="976657"/>
                  </a:lnTo>
                  <a:lnTo>
                    <a:pt x="1017749" y="1273396"/>
                  </a:lnTo>
                  <a:lnTo>
                    <a:pt x="979233" y="1292275"/>
                  </a:lnTo>
                  <a:lnTo>
                    <a:pt x="964838" y="1292129"/>
                  </a:lnTo>
                  <a:lnTo>
                    <a:pt x="925447" y="1274567"/>
                  </a:lnTo>
                  <a:lnTo>
                    <a:pt x="653600" y="870655"/>
                  </a:lnTo>
                  <a:lnTo>
                    <a:pt x="230316" y="1313983"/>
                  </a:lnTo>
                  <a:lnTo>
                    <a:pt x="0" y="1092319"/>
                  </a:lnTo>
                  <a:lnTo>
                    <a:pt x="448183" y="664601"/>
                  </a:lnTo>
                  <a:close/>
                </a:path>
              </a:pathLst>
            </a:custGeom>
            <a:ln w="31172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73717" y="3816335"/>
              <a:ext cx="1045844" cy="1052195"/>
            </a:xfrm>
            <a:custGeom>
              <a:avLst/>
              <a:gdLst/>
              <a:ahLst/>
              <a:cxnLst/>
              <a:rect l="l" t="t" r="r" b="b"/>
              <a:pathLst>
                <a:path w="1045844" h="1052195">
                  <a:moveTo>
                    <a:pt x="806115" y="0"/>
                  </a:moveTo>
                  <a:lnTo>
                    <a:pt x="18674" y="752408"/>
                  </a:lnTo>
                  <a:lnTo>
                    <a:pt x="4668" y="774067"/>
                  </a:lnTo>
                  <a:lnTo>
                    <a:pt x="0" y="799238"/>
                  </a:lnTo>
                  <a:lnTo>
                    <a:pt x="4668" y="824410"/>
                  </a:lnTo>
                  <a:lnTo>
                    <a:pt x="18674" y="846069"/>
                  </a:lnTo>
                  <a:lnTo>
                    <a:pt x="205425" y="1033395"/>
                  </a:lnTo>
                  <a:lnTo>
                    <a:pt x="227017" y="1047444"/>
                  </a:lnTo>
                  <a:lnTo>
                    <a:pt x="252111" y="1052127"/>
                  </a:lnTo>
                  <a:lnTo>
                    <a:pt x="277204" y="1047444"/>
                  </a:lnTo>
                  <a:lnTo>
                    <a:pt x="298797" y="1033395"/>
                  </a:lnTo>
                  <a:lnTo>
                    <a:pt x="1045768" y="249762"/>
                  </a:lnTo>
                  <a:lnTo>
                    <a:pt x="806115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673717" y="3816335"/>
              <a:ext cx="1045844" cy="1052195"/>
            </a:xfrm>
            <a:custGeom>
              <a:avLst/>
              <a:gdLst/>
              <a:ahLst/>
              <a:cxnLst/>
              <a:rect l="l" t="t" r="r" b="b"/>
              <a:pathLst>
                <a:path w="1045844" h="1052195">
                  <a:moveTo>
                    <a:pt x="298797" y="1033395"/>
                  </a:moveTo>
                  <a:lnTo>
                    <a:pt x="277204" y="1047444"/>
                  </a:lnTo>
                  <a:lnTo>
                    <a:pt x="252111" y="1052127"/>
                  </a:lnTo>
                  <a:lnTo>
                    <a:pt x="227017" y="1047444"/>
                  </a:lnTo>
                  <a:lnTo>
                    <a:pt x="205425" y="1033395"/>
                  </a:lnTo>
                  <a:lnTo>
                    <a:pt x="18674" y="846069"/>
                  </a:lnTo>
                  <a:lnTo>
                    <a:pt x="4668" y="824410"/>
                  </a:lnTo>
                  <a:lnTo>
                    <a:pt x="0" y="799238"/>
                  </a:lnTo>
                  <a:lnTo>
                    <a:pt x="4668" y="774067"/>
                  </a:lnTo>
                  <a:lnTo>
                    <a:pt x="18674" y="752408"/>
                  </a:lnTo>
                  <a:lnTo>
                    <a:pt x="806115" y="0"/>
                  </a:lnTo>
                  <a:lnTo>
                    <a:pt x="1045768" y="249762"/>
                  </a:lnTo>
                  <a:lnTo>
                    <a:pt x="298797" y="1033395"/>
                  </a:lnTo>
                  <a:close/>
                </a:path>
              </a:pathLst>
            </a:custGeom>
            <a:ln w="31171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4654296" y="2944749"/>
            <a:ext cx="3639820" cy="25958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55600" marR="520065" indent="-343535">
              <a:lnSpc>
                <a:spcPct val="100000"/>
              </a:lnSpc>
              <a:spcBef>
                <a:spcPts val="130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Calibri" panose="020F0502020204030204"/>
                <a:cs typeface="Calibri" panose="020F0502020204030204"/>
              </a:rPr>
              <a:t>Max</a:t>
            </a:r>
            <a:r>
              <a:rPr sz="20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stress</a:t>
            </a:r>
            <a:r>
              <a:rPr sz="20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occurs</a:t>
            </a:r>
            <a:r>
              <a:rPr sz="20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at</a:t>
            </a:r>
            <a:r>
              <a:rPr sz="20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spline </a:t>
            </a:r>
            <a:r>
              <a:rPr sz="2000" dirty="0">
                <a:latin typeface="Calibri" panose="020F0502020204030204"/>
                <a:cs typeface="Calibri" panose="020F0502020204030204"/>
              </a:rPr>
              <a:t>region</a:t>
            </a:r>
            <a:r>
              <a:rPr sz="20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due</a:t>
            </a:r>
            <a:r>
              <a:rPr sz="20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to</a:t>
            </a:r>
            <a:r>
              <a:rPr sz="20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stress concentration.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55600" marR="81280" indent="-343535">
              <a:lnSpc>
                <a:spcPct val="100000"/>
              </a:lnSpc>
              <a:spcBef>
                <a:spcPts val="460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spc="-10" dirty="0">
                <a:latin typeface="Calibri" panose="020F0502020204030204"/>
                <a:cs typeface="Calibri" panose="020F0502020204030204"/>
              </a:rPr>
              <a:t>Deformation</a:t>
            </a:r>
            <a:r>
              <a:rPr sz="20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maximum</a:t>
            </a:r>
            <a:r>
              <a:rPr sz="20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at</a:t>
            </a:r>
            <a:r>
              <a:rPr sz="20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20" dirty="0">
                <a:latin typeface="Calibri" panose="020F0502020204030204"/>
                <a:cs typeface="Calibri" panose="020F0502020204030204"/>
              </a:rPr>
              <a:t>mid-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span.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55600" marR="5080" indent="-343535">
              <a:lnSpc>
                <a:spcPct val="100000"/>
              </a:lnSpc>
              <a:spcBef>
                <a:spcPts val="53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Calibri" panose="020F0502020204030204"/>
                <a:cs typeface="Calibri" panose="020F0502020204030204"/>
              </a:rPr>
              <a:t>Analytical</a:t>
            </a:r>
            <a:r>
              <a:rPr sz="20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and</a:t>
            </a:r>
            <a:r>
              <a:rPr sz="20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FEA</a:t>
            </a:r>
            <a:r>
              <a:rPr sz="2000" spc="-8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results consistent;</a:t>
            </a:r>
            <a:r>
              <a:rPr sz="20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redesign</a:t>
            </a:r>
            <a:r>
              <a:rPr sz="20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or</a:t>
            </a:r>
            <a:r>
              <a:rPr sz="20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stronger material</a:t>
            </a:r>
            <a:r>
              <a:rPr sz="20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suggested</a:t>
            </a:r>
            <a:r>
              <a:rPr sz="20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for</a:t>
            </a:r>
            <a:r>
              <a:rPr sz="20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safety.</a:t>
            </a:r>
            <a:endParaRPr sz="20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2"/>
            <a:ext cx="9144000" cy="6857365"/>
            <a:chOff x="0" y="-2"/>
            <a:chExt cx="9144000" cy="6857365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-2"/>
              <a:ext cx="4057649" cy="685731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62400" y="0"/>
              <a:ext cx="5181600" cy="253365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057650" y="0"/>
              <a:ext cx="5086350" cy="2286000"/>
            </a:xfrm>
            <a:custGeom>
              <a:avLst/>
              <a:gdLst/>
              <a:ahLst/>
              <a:cxnLst/>
              <a:rect l="l" t="t" r="r" b="b"/>
              <a:pathLst>
                <a:path w="5086350" h="2286000">
                  <a:moveTo>
                    <a:pt x="5086350" y="0"/>
                  </a:moveTo>
                  <a:lnTo>
                    <a:pt x="0" y="0"/>
                  </a:lnTo>
                  <a:lnTo>
                    <a:pt x="0" y="2286000"/>
                  </a:lnTo>
                  <a:lnTo>
                    <a:pt x="5086350" y="2286000"/>
                  </a:lnTo>
                  <a:lnTo>
                    <a:pt x="50863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0583" rIns="0" bIns="0" rtlCol="0">
            <a:spAutoFit/>
          </a:bodyPr>
          <a:lstStyle/>
          <a:p>
            <a:pPr marL="4708525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Conclusion</a:t>
            </a:r>
            <a:endParaRPr spc="-10" dirty="0"/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55600" marR="633730" indent="-343535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/>
              <a:t>Gearbox</a:t>
            </a:r>
            <a:r>
              <a:rPr spc="-80" dirty="0"/>
              <a:t> </a:t>
            </a:r>
            <a:r>
              <a:rPr dirty="0"/>
              <a:t>shaft</a:t>
            </a:r>
            <a:r>
              <a:rPr spc="-35" dirty="0"/>
              <a:t> </a:t>
            </a:r>
            <a:r>
              <a:rPr spc="-10" dirty="0"/>
              <a:t>successfully </a:t>
            </a:r>
            <a:r>
              <a:rPr dirty="0"/>
              <a:t>designed</a:t>
            </a:r>
            <a:r>
              <a:rPr spc="-3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analyzed.</a:t>
            </a:r>
            <a:endParaRPr spc="-10" dirty="0"/>
          </a:p>
          <a:p>
            <a:pPr marL="355600" marR="432435" indent="-343535">
              <a:lnSpc>
                <a:spcPct val="100000"/>
              </a:lnSpc>
              <a:spcBef>
                <a:spcPts val="46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/>
              <a:t>FEA</a:t>
            </a:r>
            <a:r>
              <a:rPr spc="-25" dirty="0"/>
              <a:t> </a:t>
            </a:r>
            <a:r>
              <a:rPr spc="-10" dirty="0"/>
              <a:t>results</a:t>
            </a:r>
            <a:r>
              <a:rPr spc="-90" dirty="0"/>
              <a:t> </a:t>
            </a:r>
            <a:r>
              <a:rPr dirty="0"/>
              <a:t>show</a:t>
            </a:r>
            <a:r>
              <a:rPr spc="-65" dirty="0"/>
              <a:t> </a:t>
            </a:r>
            <a:r>
              <a:rPr dirty="0"/>
              <a:t>stress</a:t>
            </a:r>
            <a:r>
              <a:rPr spc="-20" dirty="0"/>
              <a:t> near </a:t>
            </a:r>
            <a:r>
              <a:rPr dirty="0"/>
              <a:t>yield</a:t>
            </a:r>
            <a:r>
              <a:rPr spc="-30" dirty="0"/>
              <a:t> </a:t>
            </a:r>
            <a:r>
              <a:rPr spc="-10" dirty="0"/>
              <a:t>limit.</a:t>
            </a:r>
            <a:endParaRPr spc="-10" dirty="0"/>
          </a:p>
          <a:p>
            <a:pPr marL="355600" marR="5080" indent="-34353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/>
              <a:t>Confirms</a:t>
            </a:r>
            <a:r>
              <a:rPr spc="-50" dirty="0"/>
              <a:t> </a:t>
            </a:r>
            <a:r>
              <a:rPr spc="-10" dirty="0"/>
              <a:t>theoretical</a:t>
            </a:r>
            <a:r>
              <a:rPr spc="-85" dirty="0"/>
              <a:t> </a:t>
            </a:r>
            <a:r>
              <a:rPr dirty="0"/>
              <a:t>behavior</a:t>
            </a:r>
            <a:r>
              <a:rPr spc="-40" dirty="0"/>
              <a:t> </a:t>
            </a:r>
            <a:r>
              <a:rPr spc="-35" dirty="0"/>
              <a:t>of </a:t>
            </a:r>
            <a:r>
              <a:rPr dirty="0"/>
              <a:t>bending</a:t>
            </a:r>
            <a:r>
              <a:rPr spc="-50" dirty="0"/>
              <a:t> </a:t>
            </a:r>
            <a:r>
              <a:rPr dirty="0"/>
              <a:t>and</a:t>
            </a:r>
            <a:r>
              <a:rPr spc="-10" dirty="0"/>
              <a:t> torsion.</a:t>
            </a:r>
            <a:endParaRPr spc="-10" dirty="0"/>
          </a:p>
          <a:p>
            <a:pPr marL="355600" marR="217805" indent="-343535">
              <a:lnSpc>
                <a:spcPct val="100000"/>
              </a:lnSpc>
              <a:spcBef>
                <a:spcPts val="46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/>
              <a:t>Further</a:t>
            </a:r>
            <a:r>
              <a:rPr spc="-70" dirty="0"/>
              <a:t> </a:t>
            </a:r>
            <a:r>
              <a:rPr dirty="0"/>
              <a:t>material</a:t>
            </a:r>
            <a:r>
              <a:rPr spc="-50" dirty="0"/>
              <a:t> </a:t>
            </a:r>
            <a:r>
              <a:rPr dirty="0"/>
              <a:t>or</a:t>
            </a:r>
            <a:r>
              <a:rPr spc="-70" dirty="0"/>
              <a:t> </a:t>
            </a:r>
            <a:r>
              <a:rPr spc="-10" dirty="0"/>
              <a:t>design improvements</a:t>
            </a:r>
            <a:r>
              <a:rPr spc="-75" dirty="0"/>
              <a:t> </a:t>
            </a:r>
            <a:r>
              <a:rPr spc="-10" dirty="0"/>
              <a:t>recommended.</a:t>
            </a:r>
            <a:endParaRPr spc="-1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76250" y="609600"/>
            <a:ext cx="8429625" cy="5924550"/>
            <a:chOff x="476250" y="609600"/>
            <a:chExt cx="8429625" cy="5924550"/>
          </a:xfrm>
        </p:grpSpPr>
        <p:sp>
          <p:nvSpPr>
            <p:cNvPr id="3" name="object 3"/>
            <p:cNvSpPr/>
            <p:nvPr/>
          </p:nvSpPr>
          <p:spPr>
            <a:xfrm>
              <a:off x="6429375" y="3333750"/>
              <a:ext cx="2476500" cy="3200400"/>
            </a:xfrm>
            <a:custGeom>
              <a:avLst/>
              <a:gdLst/>
              <a:ahLst/>
              <a:cxnLst/>
              <a:rect l="l" t="t" r="r" b="b"/>
              <a:pathLst>
                <a:path w="2476500" h="3200400">
                  <a:moveTo>
                    <a:pt x="2476500" y="0"/>
                  </a:moveTo>
                  <a:lnTo>
                    <a:pt x="0" y="3200400"/>
                  </a:lnTo>
                  <a:lnTo>
                    <a:pt x="2476500" y="3200400"/>
                  </a:lnTo>
                  <a:lnTo>
                    <a:pt x="2476500" y="0"/>
                  </a:lnTo>
                  <a:close/>
                </a:path>
              </a:pathLst>
            </a:custGeom>
            <a:solidFill>
              <a:srgbClr val="8063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485775" y="619125"/>
              <a:ext cx="8172450" cy="5610225"/>
            </a:xfrm>
            <a:custGeom>
              <a:avLst/>
              <a:gdLst/>
              <a:ahLst/>
              <a:cxnLst/>
              <a:rect l="l" t="t" r="r" b="b"/>
              <a:pathLst>
                <a:path w="8172450" h="5610225">
                  <a:moveTo>
                    <a:pt x="0" y="5610225"/>
                  </a:moveTo>
                  <a:lnTo>
                    <a:pt x="8172450" y="5610225"/>
                  </a:lnTo>
                  <a:lnTo>
                    <a:pt x="8172450" y="0"/>
                  </a:lnTo>
                  <a:lnTo>
                    <a:pt x="0" y="0"/>
                  </a:lnTo>
                  <a:lnTo>
                    <a:pt x="0" y="5610225"/>
                  </a:lnTo>
                  <a:close/>
                </a:path>
              </a:pathLst>
            </a:custGeom>
            <a:ln w="1905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43622" y="2896235"/>
            <a:ext cx="5318125" cy="15481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0000" u="none" dirty="0"/>
              <a:t>Thank</a:t>
            </a:r>
            <a:r>
              <a:rPr sz="10000" u="none" spc="-175" dirty="0"/>
              <a:t> </a:t>
            </a:r>
            <a:r>
              <a:rPr sz="10000" u="none" spc="-825" dirty="0"/>
              <a:t>Y</a:t>
            </a:r>
            <a:r>
              <a:rPr sz="10000" u="none" spc="-80" dirty="0"/>
              <a:t>ou</a:t>
            </a:r>
            <a:endParaRPr sz="10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3920</Words>
  <Application>WPS Presentation</Application>
  <PresentationFormat>On-screen Show (4:3)</PresentationFormat>
  <Paragraphs>115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Arial</vt:lpstr>
      <vt:lpstr>SimSun</vt:lpstr>
      <vt:lpstr>Wingdings</vt:lpstr>
      <vt:lpstr>Calibri</vt:lpstr>
      <vt:lpstr>Arial MT</vt:lpstr>
      <vt:lpstr>Microsoft YaHei</vt:lpstr>
      <vt:lpstr>Arial Unicode MS</vt:lpstr>
      <vt:lpstr>Office Theme</vt:lpstr>
      <vt:lpstr>Design and Analysis of Gear Box Shaft</vt:lpstr>
      <vt:lpstr>Project focuses on structural and torsional behavior of a differential gearbox shaft.</vt:lpstr>
      <vt:lpstr>PowerPoint 演示文稿</vt:lpstr>
      <vt:lpstr>Problem Statement</vt:lpstr>
      <vt:lpstr>1. Model gearbox shaft accurately using Fusion 360.</vt:lpstr>
      <vt:lpstr>CAD Modeling</vt:lpstr>
      <vt:lpstr>PowerPoint 演示文稿</vt:lpstr>
      <vt:lpstr>PowerPoint 演示文稿</vt:lpstr>
      <vt:lpstr>ANALYSIS</vt:lpstr>
      <vt:lpstr>Material Selection</vt:lpstr>
      <vt:lpstr>Programming Support</vt:lpstr>
      <vt:lpstr>FEA Analysis Results</vt:lpstr>
      <vt:lpstr>Discussion</vt:lpstr>
      <vt:lpstr>Conclusion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and Analysis of Gear Box Shaft</dc:title>
  <dc:creator/>
  <cp:lastModifiedBy>Vinit Takate</cp:lastModifiedBy>
  <cp:revision>1</cp:revision>
  <dcterms:created xsi:type="dcterms:W3CDTF">2025-11-10T05:36:21Z</dcterms:created>
  <dcterms:modified xsi:type="dcterms:W3CDTF">2025-11-10T05:36:21Z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2025-11-09T05:30:00Z</vt:filetime>
  </property>
  <property fmtid="{D5CDD505-2E9C-101B-9397-08002B2CF9AE}" pid="3" name="LastSaved">
    <vt:filetime>2025-11-10T05:30:00Z</vt:filetime>
  </property>
  <property fmtid="{D5CDD505-2E9C-101B-9397-08002B2CF9AE}" pid="4" name="ICV">
    <vt:lpwstr>EFEA32D23D3B4932A78BAC4682EADF22_12</vt:lpwstr>
  </property>
  <property fmtid="{D5CDD505-2E9C-101B-9397-08002B2CF9AE}" pid="5" name="KSOProductBuildVer">
    <vt:lpwstr>1033-12.2.0.23155</vt:lpwstr>
  </property>
</Properties>
</file>